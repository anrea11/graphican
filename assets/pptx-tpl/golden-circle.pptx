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48E771-4885-43EE-99F1-27095F7FAD46}">
  <a:tblStyle styleId="{3E48E771-4885-43EE-99F1-27095F7FAD4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odoniModa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BodoniModa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BodoniModa-bold.fntdata"/><Relationship Id="rId18" Type="http://schemas.openxmlformats.org/officeDocument/2006/relationships/font" Target="fonts/BodoniMod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fair Dis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282690" y="4834934"/>
            <a:ext cx="205740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3390" y="364512"/>
            <a:ext cx="7886700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339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685133" y="4792247"/>
            <a:ext cx="22479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" name="Google Shape;65;p15"/>
          <p:cNvSpPr txBox="1"/>
          <p:nvPr/>
        </p:nvSpPr>
        <p:spPr>
          <a:xfrm rot="5400000">
            <a:off x="6672056" y="2262395"/>
            <a:ext cx="425094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mn-MN" sz="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Бүх эрх хуулиар хамгаалагдсан.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>
            <a:off x="8791577" y="0"/>
            <a:ext cx="0" cy="329755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15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53390" y="806648"/>
            <a:ext cx="7886700" cy="16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453390" y="364512"/>
            <a:ext cx="7886700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3390" y="4843590"/>
            <a:ext cx="20574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282690" y="4834934"/>
            <a:ext cx="205740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fair Dis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3390" y="4843590"/>
            <a:ext cx="20574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282690" y="4834934"/>
            <a:ext cx="205740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453390" y="364512"/>
            <a:ext cx="7886700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3390" y="4843590"/>
            <a:ext cx="20574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282690" y="4834934"/>
            <a:ext cx="205740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3390" y="4843590"/>
            <a:ext cx="20574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282690" y="4834934"/>
            <a:ext cx="205740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3390" y="4843590"/>
            <a:ext cx="20574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282690" y="4834934"/>
            <a:ext cx="205740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3390" y="364512"/>
            <a:ext cx="7886700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None/>
              <a:defRPr b="1" i="0" sz="24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339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685133" y="4792247"/>
            <a:ext cx="22479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image" Target="../media/image13.jpg"/><Relationship Id="rId6" Type="http://schemas.openxmlformats.org/officeDocument/2006/relationships/image" Target="../media/image11.png"/><Relationship Id="rIdGc1" Type="http://schemas.openxmlformats.org/officeDocument/2006/relationships/image" Target="../media/gclogo_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image" Target="../media/image12.jp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image" Target="../media/image33_c.jpg"/><Relationship Id="rId4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image" Target="../media/image15.jpg"/><Relationship Id="rId4" Type="http://schemas.openxmlformats.org/officeDocument/2006/relationships/image" Target="../media/image12.jpg"/><Relationship Id="rId5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image" Target="../media/image16.jp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image" Target="../media/image21.jp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8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image" Target="../media/image16.jpg"/><Relationship Id="rId4" Type="http://schemas.openxmlformats.org/officeDocument/2006/relationships/image" Target="../media/image2.png"/><Relationship Id="rId11" Type="http://schemas.openxmlformats.org/officeDocument/2006/relationships/image" Target="../media/image27.png"/><Relationship Id="rId10" Type="http://schemas.openxmlformats.org/officeDocument/2006/relationships/image" Target="../media/image24.png"/><Relationship Id="rId9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26.png"/><Relationship Id="rId8" Type="http://schemas.openxmlformats.org/officeDocument/2006/relationships/image" Target="../media/image22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image" Target="../media/image29.jp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23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jpg"/><Relationship Id="rId4" Type="http://schemas.openxmlformats.org/officeDocument/2006/relationships/image" Target="../media/image31.png"/><Relationship Id="rIdGc1" Type="http://schemas.openxmlformats.org/officeDocument/2006/relationships/image" Target="../media/gclogo_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hadow of a person in a building&#10;&#10;AI-generated content may be incorrect." id="104" name="Google Shape;104;p21"/>
          <p:cNvPicPr preferRelativeResize="0"/>
          <p:nvPr/>
        </p:nvPicPr>
        <p:blipFill rotWithShape="1">
          <a:blip r:embed="rId3">
            <a:alphaModFix amt="20000"/>
          </a:blip>
          <a:srcRect b="6387" l="18753" r="0" t="25142"/>
          <a:stretch/>
        </p:blipFill>
        <p:spPr>
          <a:xfrm>
            <a:off x="0" y="-9767"/>
            <a:ext cx="9161364" cy="515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 rotWithShape="1">
          <a:blip r:embed="rId4">
            <a:alphaModFix/>
          </a:blip>
          <a:srcRect b="17308" l="14649" r="3675" t="13664"/>
          <a:stretch/>
        </p:blipFill>
        <p:spPr>
          <a:xfrm flipH="1"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1136056" y="1245870"/>
            <a:ext cx="520108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mn-MN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Стратегийн хүрээ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mn-MN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Алтан тойрог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21"/>
          <p:cNvCxnSpPr/>
          <p:nvPr/>
        </p:nvCxnSpPr>
        <p:spPr>
          <a:xfrm>
            <a:off x="568028" y="833588"/>
            <a:ext cx="0" cy="175654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8" name="Google Shape;108;p21"/>
          <p:cNvGrpSpPr/>
          <p:nvPr/>
        </p:nvGrpSpPr>
        <p:grpSpPr>
          <a:xfrm>
            <a:off x="553389" y="2814986"/>
            <a:ext cx="42878" cy="681686"/>
            <a:chOff x="329633" y="5702607"/>
            <a:chExt cx="57170" cy="908915"/>
          </a:xfrm>
        </p:grpSpPr>
        <p:sp>
          <p:nvSpPr>
            <p:cNvPr id="109" name="Google Shape;109;p21"/>
            <p:cNvSpPr/>
            <p:nvPr/>
          </p:nvSpPr>
          <p:spPr>
            <a:xfrm>
              <a:off x="329633" y="5844565"/>
              <a:ext cx="57170" cy="5717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329633" y="5986523"/>
              <a:ext cx="57170" cy="5717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1" name="Google Shape;111;p21"/>
            <p:cNvSpPr/>
            <p:nvPr/>
          </p:nvSpPr>
          <p:spPr>
            <a:xfrm>
              <a:off x="329633" y="6128481"/>
              <a:ext cx="57170" cy="5717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" name="Google Shape;112;p21"/>
            <p:cNvSpPr/>
            <p:nvPr/>
          </p:nvSpPr>
          <p:spPr>
            <a:xfrm>
              <a:off x="329633" y="6270438"/>
              <a:ext cx="57170" cy="5717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3" name="Google Shape;113;p21"/>
            <p:cNvSpPr/>
            <p:nvPr/>
          </p:nvSpPr>
          <p:spPr>
            <a:xfrm>
              <a:off x="329633" y="6412395"/>
              <a:ext cx="57170" cy="5717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329633" y="6554352"/>
              <a:ext cx="57170" cy="5717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" name="Google Shape;115;p21"/>
            <p:cNvSpPr/>
            <p:nvPr/>
          </p:nvSpPr>
          <p:spPr>
            <a:xfrm>
              <a:off x="329633" y="5702607"/>
              <a:ext cx="57170" cy="5717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6" name="Google Shape;116;p21"/>
          <p:cNvGrpSpPr/>
          <p:nvPr/>
        </p:nvGrpSpPr>
        <p:grpSpPr>
          <a:xfrm>
            <a:off x="480177" y="361187"/>
            <a:ext cx="175701" cy="110493"/>
            <a:chOff x="630936" y="457200"/>
            <a:chExt cx="283464" cy="196088"/>
          </a:xfrm>
        </p:grpSpPr>
        <p:cxnSp>
          <p:nvCxnSpPr>
            <p:cNvPr id="117" name="Google Shape;117;p21"/>
            <p:cNvCxnSpPr/>
            <p:nvPr/>
          </p:nvCxnSpPr>
          <p:spPr>
            <a:xfrm>
              <a:off x="630936" y="457200"/>
              <a:ext cx="28346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21"/>
            <p:cNvCxnSpPr/>
            <p:nvPr/>
          </p:nvCxnSpPr>
          <p:spPr>
            <a:xfrm>
              <a:off x="630936" y="555244"/>
              <a:ext cx="28346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" name="Google Shape;119;p21"/>
            <p:cNvCxnSpPr/>
            <p:nvPr/>
          </p:nvCxnSpPr>
          <p:spPr>
            <a:xfrm>
              <a:off x="630936" y="653288"/>
              <a:ext cx="28346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0" name="Google Shape;120;p21"/>
          <p:cNvSpPr/>
          <p:nvPr/>
        </p:nvSpPr>
        <p:spPr>
          <a:xfrm>
            <a:off x="1136056" y="3777558"/>
            <a:ext cx="2655232" cy="1150374"/>
          </a:xfrm>
          <a:prstGeom prst="roundRect">
            <a:avLst>
              <a:gd fmla="val 10374" name="adj"/>
            </a:avLst>
          </a:prstGeom>
          <a:solidFill>
            <a:schemeClr val="dk1">
              <a:alpha val="65882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1" name="Google Shape;121;p21"/>
          <p:cNvGrpSpPr/>
          <p:nvPr/>
        </p:nvGrpSpPr>
        <p:grpSpPr>
          <a:xfrm>
            <a:off x="1486386" y="4202907"/>
            <a:ext cx="1943102" cy="323165"/>
            <a:chOff x="2423922" y="5594732"/>
            <a:chExt cx="2590803" cy="430887"/>
          </a:xfrm>
        </p:grpSpPr>
        <p:sp>
          <p:nvSpPr>
            <p:cNvPr id="122" name="Google Shape;122;p21"/>
            <p:cNvSpPr txBox="1"/>
            <p:nvPr/>
          </p:nvSpPr>
          <p:spPr>
            <a:xfrm>
              <a:off x="2728724" y="5594732"/>
              <a:ext cx="2286001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mn-MN" sz="2100" u="none" cap="none" strike="noStrik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Саймон Синек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1"/>
            <p:cNvSpPr txBox="1"/>
            <p:nvPr/>
          </p:nvSpPr>
          <p:spPr>
            <a:xfrm>
              <a:off x="2423922" y="5594732"/>
              <a:ext cx="304802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mn-MN" sz="1100" u="none" cap="none" strike="noStrike">
                  <a:solidFill>
                    <a:srgbClr val="F8C662"/>
                  </a:solidFill>
                  <a:latin typeface="Inter"/>
                  <a:ea typeface="Inter"/>
                  <a:cs typeface="Inter"/>
                  <a:sym typeface="Inter"/>
                </a:rPr>
                <a:t>—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0070" name="Graphican лого"/>
          <p:cNvPicPr/>
          <p:nvPr/>
        </p:nvPicPr>
        <p:blipFill>
          <a:blip r:embed="rIdGc1"/>
          <a:stretch>
            <a:fillRect/>
          </a:stretch>
        </p:blipFill>
        <p:spPr>
          <a:xfrm>
            <a:off x="1136956" y="338027"/>
            <a:ext cx="755853" cy="215217"/>
          </a:xfrm>
          <a:prstGeom prst="rect">
            <a:avLst/>
          </a:prstGeom>
        </p:spPr>
      </p:pic>
      <p:pic>
        <p:nvPicPr>
          <p:cNvPr id="127" name="Google Shape;127;p21"/>
          <p:cNvPicPr preferRelativeResize="0"/>
          <p:nvPr/>
        </p:nvPicPr>
        <p:blipFill rotWithShape="1">
          <a:blip r:embed="rId5">
            <a:alphaModFix/>
          </a:blip>
          <a:srcRect b="31246" l="2375" r="2368" t="35334"/>
          <a:stretch/>
        </p:blipFill>
        <p:spPr>
          <a:xfrm>
            <a:off x="3900282" y="3777558"/>
            <a:ext cx="4372001" cy="1150374"/>
          </a:xfrm>
          <a:custGeom>
            <a:rect b="b" l="l" r="r" t="t"/>
            <a:pathLst>
              <a:path extrusionOk="0" h="1533832" w="5829335">
                <a:moveTo>
                  <a:pt x="159120" y="0"/>
                </a:moveTo>
                <a:lnTo>
                  <a:pt x="5670215" y="0"/>
                </a:lnTo>
                <a:cubicBezTo>
                  <a:pt x="5758095" y="0"/>
                  <a:pt x="5829335" y="71240"/>
                  <a:pt x="5829335" y="159120"/>
                </a:cubicBezTo>
                <a:lnTo>
                  <a:pt x="5829335" y="1374712"/>
                </a:lnTo>
                <a:cubicBezTo>
                  <a:pt x="5829335" y="1462592"/>
                  <a:pt x="5758095" y="1533832"/>
                  <a:pt x="5670215" y="1533832"/>
                </a:cubicBezTo>
                <a:lnTo>
                  <a:pt x="159120" y="1533832"/>
                </a:lnTo>
                <a:cubicBezTo>
                  <a:pt x="71240" y="1533832"/>
                  <a:pt x="0" y="1462592"/>
                  <a:pt x="0" y="1374712"/>
                </a:cubicBezTo>
                <a:lnTo>
                  <a:pt x="0" y="159120"/>
                </a:lnTo>
                <a:cubicBezTo>
                  <a:pt x="0" y="71240"/>
                  <a:pt x="71240" y="0"/>
                  <a:pt x="159120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165100" rotWithShape="0" algn="t" dir="5400000" dist="38100">
              <a:srgbClr val="000000">
                <a:alpha val="34901"/>
              </a:srgbClr>
            </a:outerShdw>
          </a:effectLst>
        </p:spPr>
      </p:pic>
      <p:grpSp>
        <p:nvGrpSpPr>
          <p:cNvPr id="128" name="Google Shape;128;p21"/>
          <p:cNvGrpSpPr/>
          <p:nvPr/>
        </p:nvGrpSpPr>
        <p:grpSpPr>
          <a:xfrm rot="-8100000">
            <a:off x="3703560" y="4235582"/>
            <a:ext cx="276796" cy="276797"/>
            <a:chOff x="2003068" y="5123820"/>
            <a:chExt cx="369062" cy="369062"/>
          </a:xfrm>
        </p:grpSpPr>
        <p:sp>
          <p:nvSpPr>
            <p:cNvPr id="129" name="Google Shape;129;p21"/>
            <p:cNvSpPr/>
            <p:nvPr/>
          </p:nvSpPr>
          <p:spPr>
            <a:xfrm>
              <a:off x="2003068" y="5123820"/>
              <a:ext cx="369062" cy="369062"/>
            </a:xfrm>
            <a:prstGeom prst="ellipse">
              <a:avLst/>
            </a:prstGeom>
            <a:solidFill>
              <a:srgbClr val="F8C662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0" name="Google Shape;130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085115" y="5205867"/>
              <a:ext cx="204966" cy="2049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21"/>
          <p:cNvSpPr/>
          <p:nvPr/>
        </p:nvSpPr>
        <p:spPr>
          <a:xfrm>
            <a:off x="3626661" y="4158683"/>
            <a:ext cx="430595" cy="430595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/>
          <p:nvPr/>
        </p:nvSpPr>
        <p:spPr>
          <a:xfrm flipH="1">
            <a:off x="4480560" y="507076"/>
            <a:ext cx="4663440" cy="4636424"/>
          </a:xfrm>
          <a:prstGeom prst="round1Rect">
            <a:avLst>
              <a:gd fmla="val 6149" name="adj"/>
            </a:avLst>
          </a:prstGeom>
          <a:solidFill>
            <a:srgbClr val="D8D8D8">
              <a:alpha val="6509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3">
            <a:alphaModFix/>
          </a:blip>
          <a:srcRect b="14763" l="6737" r="4449" t="61992"/>
          <a:stretch/>
        </p:blipFill>
        <p:spPr>
          <a:xfrm>
            <a:off x="453388" y="3063650"/>
            <a:ext cx="8012431" cy="1572774"/>
          </a:xfrm>
          <a:custGeom>
            <a:rect b="b" l="l" r="r" t="t"/>
            <a:pathLst>
              <a:path extrusionOk="0" h="2097032" w="10683241">
                <a:moveTo>
                  <a:pt x="319042" y="0"/>
                </a:moveTo>
                <a:lnTo>
                  <a:pt x="10364199" y="0"/>
                </a:lnTo>
                <a:cubicBezTo>
                  <a:pt x="10540401" y="0"/>
                  <a:pt x="10683241" y="142840"/>
                  <a:pt x="10683241" y="319042"/>
                </a:cubicBezTo>
                <a:lnTo>
                  <a:pt x="10683241" y="1777990"/>
                </a:lnTo>
                <a:cubicBezTo>
                  <a:pt x="10683241" y="1954192"/>
                  <a:pt x="10540401" y="2097032"/>
                  <a:pt x="10364199" y="2097032"/>
                </a:cubicBezTo>
                <a:lnTo>
                  <a:pt x="319042" y="2097032"/>
                </a:lnTo>
                <a:cubicBezTo>
                  <a:pt x="142840" y="2097032"/>
                  <a:pt x="0" y="1954192"/>
                  <a:pt x="0" y="1777990"/>
                </a:cubicBezTo>
                <a:lnTo>
                  <a:pt x="0" y="319042"/>
                </a:lnTo>
                <a:cubicBezTo>
                  <a:pt x="0" y="142840"/>
                  <a:pt x="142840" y="0"/>
                  <a:pt x="319042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38" name="Google Shape;138;p22"/>
          <p:cNvSpPr txBox="1"/>
          <p:nvPr>
            <p:ph type="title"/>
          </p:nvPr>
        </p:nvSpPr>
        <p:spPr>
          <a:xfrm>
            <a:off x="453628" y="839196"/>
            <a:ext cx="2441209" cy="758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</a:pPr>
            <a:r>
              <a:rPr lang="mn-MN" sz="2700"/>
              <a:t>Алтан тойрог </a:t>
            </a:r>
            <a:br>
              <a:rPr lang="mn-MN" sz="2700"/>
            </a:br>
            <a:r>
              <a:rPr lang="mn-MN" sz="2700"/>
              <a:t>гэж юу вэ</a:t>
            </a:r>
            <a:endParaRPr/>
          </a:p>
        </p:txBody>
      </p:sp>
      <p:sp>
        <p:nvSpPr>
          <p:cNvPr id="139" name="Google Shape;139;p22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mn-MN"/>
              <a:t>Стратегийн хүрээ </a:t>
            </a:r>
            <a:r>
              <a:rPr lang="mn-MN"/>
              <a:t>· Алтан тойрог</a:t>
            </a:r>
            <a:endParaRPr/>
          </a:p>
        </p:txBody>
      </p:sp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8685133" y="4792247"/>
            <a:ext cx="22479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/>
              <a:t>0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1" name="Google Shape;141;p22"/>
          <p:cNvSpPr txBox="1"/>
          <p:nvPr>
            <p:ph idx="2" type="body"/>
          </p:nvPr>
        </p:nvSpPr>
        <p:spPr>
          <a:xfrm>
            <a:off x="499229" y="1785706"/>
            <a:ext cx="1558171" cy="305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mn-MN"/>
              <a:t>Гарчгийн дэлгэрэнгүй тайлбар</a:t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453389" y="3063650"/>
            <a:ext cx="8012431" cy="1572774"/>
          </a:xfrm>
          <a:prstGeom prst="roundRect">
            <a:avLst>
              <a:gd fmla="val 15214" name="adj"/>
            </a:avLst>
          </a:prstGeom>
          <a:gradFill>
            <a:gsLst>
              <a:gs pos="0">
                <a:srgbClr val="000000">
                  <a:alpha val="65098"/>
                </a:srgbClr>
              </a:gs>
              <a:gs pos="50000">
                <a:srgbClr val="000000">
                  <a:alpha val="47843"/>
                </a:srgbClr>
              </a:gs>
              <a:gs pos="100000">
                <a:srgbClr val="000000">
                  <a:alpha val="65098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53390" y="3927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6323135" y="1360157"/>
            <a:ext cx="1889760" cy="113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Тоо баримт, жишээ ашиглавал илүү үр дүнтэй.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Бид хэрэглэгчдэдээ үнэ цэн бүтээхийг зорьдог. Төслийн явц, үр дүнг энд харуулна.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6323135" y="1005433"/>
            <a:ext cx="188976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mn-MN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Гарчиг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2807513" y="919658"/>
            <a:ext cx="3304184" cy="330418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2957702" y="1021842"/>
            <a:ext cx="3003804" cy="3003804"/>
          </a:xfrm>
          <a:prstGeom prst="ellipse">
            <a:avLst/>
          </a:prstGeom>
          <a:gradFill>
            <a:gsLst>
              <a:gs pos="0">
                <a:srgbClr val="F8C662"/>
              </a:gs>
              <a:gs pos="100000">
                <a:srgbClr val="D4910A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3386057" y="1450197"/>
            <a:ext cx="2147094" cy="214709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3919699" y="1983839"/>
            <a:ext cx="1079811" cy="1079811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854886" y="3744110"/>
            <a:ext cx="18897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Багаараа хамтран шинэ шийдэл хэрэгжүүлнэ.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854886" y="3404626"/>
            <a:ext cx="188976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mn-MN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Гарчиг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6127926" y="3759350"/>
            <a:ext cx="18897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Зах зээлийн судалгаанд үндэслэн шийдвэр гаргана.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6127926" y="3404626"/>
            <a:ext cx="188976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mn-MN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Гарчиг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 rot="5400000">
            <a:off x="6672056" y="2262395"/>
            <a:ext cx="425094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mn-MN" sz="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Бүх эрх хуулиар хамгаалагдсан.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5" name="Google Shape;155;p22"/>
          <p:cNvCxnSpPr/>
          <p:nvPr/>
        </p:nvCxnSpPr>
        <p:spPr>
          <a:xfrm>
            <a:off x="8791577" y="0"/>
            <a:ext cx="0" cy="329755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2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7" name="Google Shape;157;p22"/>
          <p:cNvGrpSpPr/>
          <p:nvPr/>
        </p:nvGrpSpPr>
        <p:grpSpPr>
          <a:xfrm rot="5400000">
            <a:off x="838675" y="2881170"/>
            <a:ext cx="355864" cy="355864"/>
            <a:chOff x="4835548" y="5544910"/>
            <a:chExt cx="574127" cy="574127"/>
          </a:xfrm>
        </p:grpSpPr>
        <p:grpSp>
          <p:nvGrpSpPr>
            <p:cNvPr id="158" name="Google Shape;158;p22"/>
            <p:cNvGrpSpPr/>
            <p:nvPr/>
          </p:nvGrpSpPr>
          <p:grpSpPr>
            <a:xfrm rot="-8100000">
              <a:off x="4938080" y="5647442"/>
              <a:ext cx="369062" cy="369062"/>
              <a:chOff x="2003068" y="5123820"/>
              <a:chExt cx="369062" cy="369062"/>
            </a:xfrm>
          </p:grpSpPr>
          <p:sp>
            <p:nvSpPr>
              <p:cNvPr id="159" name="Google Shape;159;p22"/>
              <p:cNvSpPr/>
              <p:nvPr/>
            </p:nvSpPr>
            <p:spPr>
              <a:xfrm>
                <a:off x="2003068" y="5123820"/>
                <a:ext cx="369062" cy="369062"/>
              </a:xfrm>
              <a:prstGeom prst="ellipse">
                <a:avLst/>
              </a:prstGeom>
              <a:solidFill>
                <a:srgbClr val="F8C662"/>
              </a:solidFill>
              <a:ln>
                <a:noFill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60" name="Google Shape;160;p2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10800000">
                <a:off x="2085115" y="5205867"/>
                <a:ext cx="204966" cy="204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1" name="Google Shape;161;p22"/>
            <p:cNvSpPr/>
            <p:nvPr/>
          </p:nvSpPr>
          <p:spPr>
            <a:xfrm>
              <a:off x="4835548" y="5544910"/>
              <a:ext cx="574127" cy="574127"/>
            </a:xfrm>
            <a:prstGeom prst="ellipse">
              <a:avLst/>
            </a:prstGeom>
            <a:noFill/>
            <a:ln cap="flat" cmpd="sng" w="9525">
              <a:solidFill>
                <a:srgbClr val="F2F2F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2" name="Google Shape;162;p22"/>
          <p:cNvGrpSpPr/>
          <p:nvPr/>
        </p:nvGrpSpPr>
        <p:grpSpPr>
          <a:xfrm rot="5400000">
            <a:off x="7567756" y="2881170"/>
            <a:ext cx="355864" cy="355864"/>
            <a:chOff x="4835548" y="5544910"/>
            <a:chExt cx="574127" cy="574127"/>
          </a:xfrm>
        </p:grpSpPr>
        <p:grpSp>
          <p:nvGrpSpPr>
            <p:cNvPr id="163" name="Google Shape;163;p22"/>
            <p:cNvGrpSpPr/>
            <p:nvPr/>
          </p:nvGrpSpPr>
          <p:grpSpPr>
            <a:xfrm rot="-8100000">
              <a:off x="4938080" y="5647442"/>
              <a:ext cx="369062" cy="369062"/>
              <a:chOff x="2003068" y="5123820"/>
              <a:chExt cx="369062" cy="369062"/>
            </a:xfrm>
          </p:grpSpPr>
          <p:sp>
            <p:nvSpPr>
              <p:cNvPr id="164" name="Google Shape;164;p22"/>
              <p:cNvSpPr/>
              <p:nvPr/>
            </p:nvSpPr>
            <p:spPr>
              <a:xfrm>
                <a:off x="2003068" y="5123820"/>
                <a:ext cx="369062" cy="369062"/>
              </a:xfrm>
              <a:prstGeom prst="ellipse">
                <a:avLst/>
              </a:prstGeom>
              <a:solidFill>
                <a:srgbClr val="F8C662"/>
              </a:solidFill>
              <a:ln>
                <a:noFill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65" name="Google Shape;165;p2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10800000">
                <a:off x="2085115" y="5205867"/>
                <a:ext cx="204966" cy="204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6" name="Google Shape;166;p22"/>
            <p:cNvSpPr/>
            <p:nvPr/>
          </p:nvSpPr>
          <p:spPr>
            <a:xfrm>
              <a:off x="4835548" y="5544910"/>
              <a:ext cx="574127" cy="574127"/>
            </a:xfrm>
            <a:prstGeom prst="ellipse">
              <a:avLst/>
            </a:prstGeom>
            <a:noFill/>
            <a:ln cap="flat" cmpd="sng" w="9525">
              <a:solidFill>
                <a:srgbClr val="F2F2F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67" name="Google Shape;167;p22"/>
          <p:cNvSpPr txBox="1"/>
          <p:nvPr/>
        </p:nvSpPr>
        <p:spPr>
          <a:xfrm>
            <a:off x="3478970" y="1165654"/>
            <a:ext cx="18897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Юу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3478970" y="1654906"/>
            <a:ext cx="18897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Хэрхэн</a:t>
            </a:r>
            <a:endParaRPr b="0" i="0" sz="1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3478970" y="2399317"/>
            <a:ext cx="18897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Яагаад</a:t>
            </a:r>
            <a:endParaRPr b="0" i="0" sz="1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/>
          <p:nvPr/>
        </p:nvSpPr>
        <p:spPr>
          <a:xfrm>
            <a:off x="-2931" y="3546020"/>
            <a:ext cx="3251878" cy="1611454"/>
          </a:xfrm>
          <a:prstGeom prst="round1Rect">
            <a:avLst>
              <a:gd fmla="val 6149" name="adj"/>
            </a:avLst>
          </a:prstGeom>
          <a:solidFill>
            <a:srgbClr val="D8D8D8">
              <a:alpha val="6509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5" name="Google Shape;175;p23"/>
          <p:cNvPicPr preferRelativeResize="0"/>
          <p:nvPr/>
        </p:nvPicPr>
        <p:blipFill rotWithShape="1">
          <a:blip r:embed="rId3">
            <a:alphaModFix/>
          </a:blip>
          <a:srcRect b="7343" l="3136" r="1898" t="30355"/>
          <a:stretch/>
        </p:blipFill>
        <p:spPr>
          <a:xfrm>
            <a:off x="4139277" y="534925"/>
            <a:ext cx="4326543" cy="4257323"/>
          </a:xfrm>
          <a:custGeom>
            <a:rect b="b" l="l" r="r" t="t"/>
            <a:pathLst>
              <a:path extrusionOk="0" h="5676431" w="5768724">
                <a:moveTo>
                  <a:pt x="379186" y="0"/>
                </a:moveTo>
                <a:lnTo>
                  <a:pt x="5389538" y="0"/>
                </a:lnTo>
                <a:cubicBezTo>
                  <a:pt x="5598958" y="0"/>
                  <a:pt x="5768724" y="169767"/>
                  <a:pt x="5768724" y="379186"/>
                </a:cubicBezTo>
                <a:lnTo>
                  <a:pt x="5768724" y="5297245"/>
                </a:lnTo>
                <a:cubicBezTo>
                  <a:pt x="5768724" y="5506664"/>
                  <a:pt x="5598958" y="5676431"/>
                  <a:pt x="5389538" y="5676431"/>
                </a:cubicBezTo>
                <a:lnTo>
                  <a:pt x="379186" y="5676431"/>
                </a:lnTo>
                <a:cubicBezTo>
                  <a:pt x="169767" y="5676431"/>
                  <a:pt x="0" y="5506664"/>
                  <a:pt x="0" y="5297245"/>
                </a:cubicBezTo>
                <a:lnTo>
                  <a:pt x="0" y="379186"/>
                </a:lnTo>
                <a:cubicBezTo>
                  <a:pt x="0" y="169767"/>
                  <a:pt x="169767" y="0"/>
                  <a:pt x="37918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76" name="Google Shape;176;p23"/>
          <p:cNvSpPr/>
          <p:nvPr/>
        </p:nvSpPr>
        <p:spPr>
          <a:xfrm>
            <a:off x="4139277" y="534925"/>
            <a:ext cx="4326543" cy="4257323"/>
          </a:xfrm>
          <a:prstGeom prst="roundRect">
            <a:avLst>
              <a:gd fmla="val 6680" name="adj"/>
            </a:avLst>
          </a:prstGeom>
          <a:gradFill>
            <a:gsLst>
              <a:gs pos="0">
                <a:srgbClr val="000000">
                  <a:alpha val="36862"/>
                </a:srgbClr>
              </a:gs>
              <a:gs pos="100000">
                <a:srgbClr val="000000">
                  <a:alpha val="7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23"/>
          <p:cNvSpPr txBox="1"/>
          <p:nvPr>
            <p:ph type="title"/>
          </p:nvPr>
        </p:nvSpPr>
        <p:spPr>
          <a:xfrm>
            <a:off x="453628" y="839196"/>
            <a:ext cx="2441209" cy="758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</a:pPr>
            <a:r>
              <a:rPr lang="mn-MN" sz="2700"/>
              <a:t>Алтан тойргийн хүрээ</a:t>
            </a:r>
            <a:endParaRPr/>
          </a:p>
        </p:txBody>
      </p:sp>
      <p:sp>
        <p:nvSpPr>
          <p:cNvPr id="178" name="Google Shape;178;p23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mn-MN"/>
              <a:t>Стратегийн хүрээ </a:t>
            </a:r>
            <a:r>
              <a:rPr lang="mn-MN"/>
              <a:t>· Алтан тойрог</a:t>
            </a:r>
            <a:endParaRPr/>
          </a:p>
        </p:txBody>
      </p:sp>
      <p:sp>
        <p:nvSpPr>
          <p:cNvPr id="179" name="Google Shape;179;p23"/>
          <p:cNvSpPr txBox="1"/>
          <p:nvPr>
            <p:ph idx="12" type="sldNum"/>
          </p:nvPr>
        </p:nvSpPr>
        <p:spPr>
          <a:xfrm>
            <a:off x="8685133" y="4792247"/>
            <a:ext cx="22479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/>
              <a:t>0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3"/>
          <p:cNvSpPr txBox="1"/>
          <p:nvPr>
            <p:ph idx="2" type="body"/>
          </p:nvPr>
        </p:nvSpPr>
        <p:spPr>
          <a:xfrm>
            <a:off x="499229" y="4016945"/>
            <a:ext cx="927235" cy="334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mn-MN"/>
              <a:t>Гарчгийн дэлгэрэнгүй тайлбар</a:t>
            </a:r>
            <a:endParaRPr/>
          </a:p>
        </p:txBody>
      </p:sp>
      <p:pic>
        <p:nvPicPr>
          <p:cNvPr id="181" name="Google Shape;1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53390" y="392777"/>
            <a:ext cx="228600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23"/>
          <p:cNvGrpSpPr/>
          <p:nvPr/>
        </p:nvGrpSpPr>
        <p:grpSpPr>
          <a:xfrm>
            <a:off x="2188370" y="909347"/>
            <a:ext cx="3646275" cy="3646275"/>
            <a:chOff x="3743351" y="1226211"/>
            <a:chExt cx="4405579" cy="4405579"/>
          </a:xfrm>
        </p:grpSpPr>
        <p:sp>
          <p:nvSpPr>
            <p:cNvPr id="183" name="Google Shape;183;p23"/>
            <p:cNvSpPr/>
            <p:nvPr/>
          </p:nvSpPr>
          <p:spPr>
            <a:xfrm>
              <a:off x="3743351" y="1226211"/>
              <a:ext cx="4405579" cy="440557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28600" rotWithShape="0" algn="l" dist="266700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4" name="Google Shape;184;p23"/>
            <p:cNvSpPr/>
            <p:nvPr/>
          </p:nvSpPr>
          <p:spPr>
            <a:xfrm>
              <a:off x="3943603" y="1362456"/>
              <a:ext cx="4005072" cy="4005072"/>
            </a:xfrm>
            <a:prstGeom prst="ellipse">
              <a:avLst/>
            </a:prstGeom>
            <a:gradFill>
              <a:gsLst>
                <a:gs pos="0">
                  <a:srgbClr val="FFC000"/>
                </a:gs>
                <a:gs pos="3497">
                  <a:srgbClr val="FFC000"/>
                </a:gs>
                <a:gs pos="42000">
                  <a:srgbClr val="F8C662"/>
                </a:gs>
                <a:gs pos="100000">
                  <a:srgbClr val="D4910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5" name="Google Shape;185;p23"/>
            <p:cNvSpPr/>
            <p:nvPr/>
          </p:nvSpPr>
          <p:spPr>
            <a:xfrm>
              <a:off x="4514743" y="1933596"/>
              <a:ext cx="2862792" cy="2862792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6" name="Google Shape;186;p23"/>
            <p:cNvSpPr/>
            <p:nvPr/>
          </p:nvSpPr>
          <p:spPr>
            <a:xfrm>
              <a:off x="5226265" y="2645118"/>
              <a:ext cx="1439748" cy="1439748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7" name="Google Shape;187;p23"/>
          <p:cNvSpPr txBox="1"/>
          <p:nvPr/>
        </p:nvSpPr>
        <p:spPr>
          <a:xfrm rot="5400000">
            <a:off x="6672056" y="2262395"/>
            <a:ext cx="425094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mn-MN" sz="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Бүх эрх хуулиар хамгаалагдсан.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8" name="Google Shape;188;p23"/>
          <p:cNvCxnSpPr/>
          <p:nvPr/>
        </p:nvCxnSpPr>
        <p:spPr>
          <a:xfrm>
            <a:off x="8791577" y="0"/>
            <a:ext cx="0" cy="329755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23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6205352" y="1494814"/>
            <a:ext cx="1889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Үр дүнд суурилсан шийдлийг санал болгоно. Харилцагчидтайгаа урт хугацааны түншлэл тогтооно.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6205352" y="1181238"/>
            <a:ext cx="188976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mn-MN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ЮУ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6205352" y="2562265"/>
            <a:ext cx="1889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Технологийн шинэчлэлийг тасралтгүй нэвтрүүлнэ. Энд гол санаагаа бичнэ үү.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6205352" y="2248688"/>
            <a:ext cx="188976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mn-MN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ХЭРХЭН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6205352" y="3785259"/>
            <a:ext cx="1889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Товч бөгөөд ойлгомжтой тайлбар. Үзэгчдэд хэрэгтэй мэдээллийг өгнө.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6205352" y="3471682"/>
            <a:ext cx="188976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mn-MN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ЯАГААД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23"/>
          <p:cNvCxnSpPr/>
          <p:nvPr/>
        </p:nvCxnSpPr>
        <p:spPr>
          <a:xfrm>
            <a:off x="4445772" y="1296996"/>
            <a:ext cx="1658612" cy="0"/>
          </a:xfrm>
          <a:prstGeom prst="straightConnector1">
            <a:avLst/>
          </a:prstGeom>
          <a:noFill/>
          <a:ln cap="flat" cmpd="sng" w="19050">
            <a:solidFill>
              <a:srgbClr val="F2F2F2">
                <a:alpha val="54901"/>
              </a:srgbClr>
            </a:solidFill>
            <a:prstDash val="solid"/>
            <a:miter lim="800000"/>
            <a:headEnd len="sm" w="sm" type="none"/>
            <a:tailEnd len="med" w="med" type="oval"/>
          </a:ln>
        </p:spPr>
      </p:cxnSp>
      <p:cxnSp>
        <p:nvCxnSpPr>
          <p:cNvPr id="197" name="Google Shape;197;p23"/>
          <p:cNvCxnSpPr/>
          <p:nvPr/>
        </p:nvCxnSpPr>
        <p:spPr>
          <a:xfrm>
            <a:off x="4695698" y="2346269"/>
            <a:ext cx="1408686" cy="0"/>
          </a:xfrm>
          <a:prstGeom prst="straightConnector1">
            <a:avLst/>
          </a:prstGeom>
          <a:noFill/>
          <a:ln cap="flat" cmpd="sng" w="19050">
            <a:solidFill>
              <a:srgbClr val="F2F2F2">
                <a:alpha val="54901"/>
              </a:srgbClr>
            </a:solidFill>
            <a:prstDash val="solid"/>
            <a:miter lim="800000"/>
            <a:headEnd len="sm" w="sm" type="none"/>
            <a:tailEnd len="med" w="med" type="oval"/>
          </a:ln>
        </p:spPr>
      </p:cxnSp>
      <p:cxnSp>
        <p:nvCxnSpPr>
          <p:cNvPr id="198" name="Google Shape;198;p23"/>
          <p:cNvCxnSpPr/>
          <p:nvPr/>
        </p:nvCxnSpPr>
        <p:spPr>
          <a:xfrm>
            <a:off x="4045458" y="3587567"/>
            <a:ext cx="2058926" cy="0"/>
          </a:xfrm>
          <a:prstGeom prst="straightConnector1">
            <a:avLst/>
          </a:prstGeom>
          <a:noFill/>
          <a:ln cap="flat" cmpd="sng" w="19050">
            <a:solidFill>
              <a:srgbClr val="F2F2F2">
                <a:alpha val="54901"/>
              </a:srgbClr>
            </a:solidFill>
            <a:prstDash val="solid"/>
            <a:miter lim="800000"/>
            <a:headEnd len="sm" w="sm" type="none"/>
            <a:tailEnd len="med" w="med" type="oval"/>
          </a:ln>
        </p:spPr>
      </p:cxnSp>
      <p:cxnSp>
        <p:nvCxnSpPr>
          <p:cNvPr id="199" name="Google Shape;199;p23"/>
          <p:cNvCxnSpPr/>
          <p:nvPr/>
        </p:nvCxnSpPr>
        <p:spPr>
          <a:xfrm>
            <a:off x="4045458" y="2892101"/>
            <a:ext cx="0" cy="694997"/>
          </a:xfrm>
          <a:prstGeom prst="straightConnector1">
            <a:avLst/>
          </a:prstGeom>
          <a:noFill/>
          <a:ln cap="flat" cmpd="sng" w="19050">
            <a:solidFill>
              <a:srgbClr val="F2F2F2">
                <a:alpha val="5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0" name="Google Shape;200;p23"/>
          <p:cNvCxnSpPr/>
          <p:nvPr/>
        </p:nvCxnSpPr>
        <p:spPr>
          <a:xfrm>
            <a:off x="526541" y="3422103"/>
            <a:ext cx="0" cy="33092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23"/>
          <p:cNvSpPr txBox="1"/>
          <p:nvPr/>
        </p:nvSpPr>
        <p:spPr>
          <a:xfrm>
            <a:off x="3564185" y="1165654"/>
            <a:ext cx="881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Юу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3564185" y="1744747"/>
            <a:ext cx="881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Хэрхэн</a:t>
            </a:r>
            <a:endParaRPr b="0" i="0" sz="1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3564185" y="2530262"/>
            <a:ext cx="881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Яагаад</a:t>
            </a:r>
            <a:endParaRPr b="0" i="0" sz="1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04" name="Google Shape;204;p23"/>
          <p:cNvCxnSpPr/>
          <p:nvPr/>
        </p:nvCxnSpPr>
        <p:spPr>
          <a:xfrm>
            <a:off x="4695698" y="1899850"/>
            <a:ext cx="0" cy="446419"/>
          </a:xfrm>
          <a:prstGeom prst="straightConnector1">
            <a:avLst/>
          </a:prstGeom>
          <a:noFill/>
          <a:ln cap="flat" cmpd="sng" w="19050">
            <a:solidFill>
              <a:srgbClr val="F2F2F2">
                <a:alpha val="5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" name="Google Shape;205;p23"/>
          <p:cNvCxnSpPr/>
          <p:nvPr/>
        </p:nvCxnSpPr>
        <p:spPr>
          <a:xfrm>
            <a:off x="4365520" y="1899850"/>
            <a:ext cx="330178" cy="5565"/>
          </a:xfrm>
          <a:prstGeom prst="straightConnector1">
            <a:avLst/>
          </a:prstGeom>
          <a:noFill/>
          <a:ln cap="flat" cmpd="sng" w="19050">
            <a:solidFill>
              <a:srgbClr val="F2F2F2">
                <a:alpha val="5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4"/>
          <p:cNvPicPr preferRelativeResize="0"/>
          <p:nvPr/>
        </p:nvPicPr>
        <p:blipFill rotWithShape="1">
          <a:blip r:embed="rId3">
            <a:alphaModFix/>
          </a:blip>
          <a:srcRect b="12712" l="5741" r="3365" t="5895"/>
          <a:stretch/>
        </p:blipFill>
        <p:spPr>
          <a:xfrm>
            <a:off x="2410498" y="0"/>
            <a:ext cx="3821568" cy="5143500"/>
          </a:xfrm>
          <a:custGeom>
            <a:rect b="b" l="l" r="r" t="t"/>
            <a:pathLst>
              <a:path extrusionOk="0" h="6858000" w="5095424">
                <a:moveTo>
                  <a:pt x="0" y="0"/>
                </a:moveTo>
                <a:lnTo>
                  <a:pt x="4391158" y="0"/>
                </a:lnTo>
                <a:lnTo>
                  <a:pt x="4533702" y="361520"/>
                </a:lnTo>
                <a:cubicBezTo>
                  <a:pt x="4897100" y="1354006"/>
                  <a:pt x="5095424" y="2426064"/>
                  <a:pt x="5095424" y="3544442"/>
                </a:cubicBezTo>
                <a:cubicBezTo>
                  <a:pt x="5095424" y="4662821"/>
                  <a:pt x="4897100" y="5734878"/>
                  <a:pt x="4533702" y="6727364"/>
                </a:cubicBezTo>
                <a:lnTo>
                  <a:pt x="4482194" y="6858000"/>
                </a:lnTo>
                <a:lnTo>
                  <a:pt x="186775" y="6858000"/>
                </a:lnTo>
                <a:lnTo>
                  <a:pt x="219833" y="6815934"/>
                </a:lnTo>
                <a:cubicBezTo>
                  <a:pt x="902076" y="5903666"/>
                  <a:pt x="1306097" y="4771236"/>
                  <a:pt x="1306097" y="3544442"/>
                </a:cubicBezTo>
                <a:cubicBezTo>
                  <a:pt x="1306097" y="2223279"/>
                  <a:pt x="837529" y="1011557"/>
                  <a:pt x="57510" y="66393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11" name="Google Shape;211;p24"/>
          <p:cNvSpPr/>
          <p:nvPr/>
        </p:nvSpPr>
        <p:spPr>
          <a:xfrm>
            <a:off x="2410468" y="0"/>
            <a:ext cx="3821568" cy="5143500"/>
          </a:xfrm>
          <a:custGeom>
            <a:rect b="b" l="l" r="r" t="t"/>
            <a:pathLst>
              <a:path extrusionOk="0" h="6858000" w="5095424">
                <a:moveTo>
                  <a:pt x="0" y="0"/>
                </a:moveTo>
                <a:lnTo>
                  <a:pt x="4391159" y="0"/>
                </a:lnTo>
                <a:lnTo>
                  <a:pt x="4533702" y="361520"/>
                </a:lnTo>
                <a:cubicBezTo>
                  <a:pt x="4897100" y="1354006"/>
                  <a:pt x="5095424" y="2426064"/>
                  <a:pt x="5095424" y="3544442"/>
                </a:cubicBezTo>
                <a:cubicBezTo>
                  <a:pt x="5095424" y="4662821"/>
                  <a:pt x="4897100" y="5734878"/>
                  <a:pt x="4533702" y="6727364"/>
                </a:cubicBezTo>
                <a:lnTo>
                  <a:pt x="4482194" y="6858000"/>
                </a:lnTo>
                <a:lnTo>
                  <a:pt x="186775" y="6858000"/>
                </a:lnTo>
                <a:lnTo>
                  <a:pt x="219833" y="6815934"/>
                </a:lnTo>
                <a:cubicBezTo>
                  <a:pt x="902076" y="5903666"/>
                  <a:pt x="1306097" y="4771236"/>
                  <a:pt x="1306097" y="3544442"/>
                </a:cubicBezTo>
                <a:cubicBezTo>
                  <a:pt x="1306097" y="2223279"/>
                  <a:pt x="837529" y="1011557"/>
                  <a:pt x="57510" y="66393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41960"/>
                </a:srgbClr>
              </a:gs>
              <a:gs pos="59400">
                <a:srgbClr val="000000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2" name="Google Shape;212;p24"/>
          <p:cNvPicPr preferRelativeResize="0"/>
          <p:nvPr/>
        </p:nvPicPr>
        <p:blipFill rotWithShape="1">
          <a:blip r:embed="rId4">
            <a:alphaModFix/>
          </a:blip>
          <a:srcRect b="6642" l="12249" r="38753" t="5429"/>
          <a:stretch/>
        </p:blipFill>
        <p:spPr>
          <a:xfrm>
            <a:off x="5179211" y="0"/>
            <a:ext cx="3821568" cy="5143500"/>
          </a:xfrm>
          <a:custGeom>
            <a:rect b="b" l="l" r="r" t="t"/>
            <a:pathLst>
              <a:path extrusionOk="0" h="6858000" w="5095424">
                <a:moveTo>
                  <a:pt x="0" y="0"/>
                </a:moveTo>
                <a:lnTo>
                  <a:pt x="4391160" y="0"/>
                </a:lnTo>
                <a:lnTo>
                  <a:pt x="4533702" y="361520"/>
                </a:lnTo>
                <a:cubicBezTo>
                  <a:pt x="4897100" y="1354006"/>
                  <a:pt x="5095424" y="2426064"/>
                  <a:pt x="5095424" y="3544442"/>
                </a:cubicBezTo>
                <a:cubicBezTo>
                  <a:pt x="5095424" y="4662821"/>
                  <a:pt x="4897100" y="5734878"/>
                  <a:pt x="4533702" y="6727364"/>
                </a:cubicBezTo>
                <a:lnTo>
                  <a:pt x="4482194" y="6858000"/>
                </a:lnTo>
                <a:lnTo>
                  <a:pt x="186775" y="6858000"/>
                </a:lnTo>
                <a:lnTo>
                  <a:pt x="219833" y="6815934"/>
                </a:lnTo>
                <a:cubicBezTo>
                  <a:pt x="902076" y="5903666"/>
                  <a:pt x="1306097" y="4771236"/>
                  <a:pt x="1306097" y="3544442"/>
                </a:cubicBezTo>
                <a:cubicBezTo>
                  <a:pt x="1306097" y="2223279"/>
                  <a:pt x="837529" y="1011557"/>
                  <a:pt x="57510" y="6639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</p:pic>
      <p:sp>
        <p:nvSpPr>
          <p:cNvPr id="213" name="Google Shape;213;p24"/>
          <p:cNvSpPr/>
          <p:nvPr/>
        </p:nvSpPr>
        <p:spPr>
          <a:xfrm>
            <a:off x="5179211" y="0"/>
            <a:ext cx="3821568" cy="5143500"/>
          </a:xfrm>
          <a:custGeom>
            <a:rect b="b" l="l" r="r" t="t"/>
            <a:pathLst>
              <a:path extrusionOk="0" h="6858000" w="5095424">
                <a:moveTo>
                  <a:pt x="0" y="0"/>
                </a:moveTo>
                <a:lnTo>
                  <a:pt x="4391159" y="0"/>
                </a:lnTo>
                <a:lnTo>
                  <a:pt x="4533702" y="361520"/>
                </a:lnTo>
                <a:cubicBezTo>
                  <a:pt x="4897100" y="1354006"/>
                  <a:pt x="5095424" y="2426064"/>
                  <a:pt x="5095424" y="3544442"/>
                </a:cubicBezTo>
                <a:cubicBezTo>
                  <a:pt x="5095424" y="4662821"/>
                  <a:pt x="4897100" y="5734878"/>
                  <a:pt x="4533702" y="6727364"/>
                </a:cubicBezTo>
                <a:lnTo>
                  <a:pt x="4482194" y="6858000"/>
                </a:lnTo>
                <a:lnTo>
                  <a:pt x="186775" y="6858000"/>
                </a:lnTo>
                <a:lnTo>
                  <a:pt x="219833" y="6815934"/>
                </a:lnTo>
                <a:cubicBezTo>
                  <a:pt x="902076" y="5903666"/>
                  <a:pt x="1306097" y="4771236"/>
                  <a:pt x="1306097" y="3544442"/>
                </a:cubicBezTo>
                <a:cubicBezTo>
                  <a:pt x="1306097" y="2223279"/>
                  <a:pt x="837529" y="1011557"/>
                  <a:pt x="57510" y="66393"/>
                </a:cubicBezTo>
                <a:close/>
              </a:path>
            </a:pathLst>
          </a:custGeom>
          <a:gradFill>
            <a:gsLst>
              <a:gs pos="0">
                <a:srgbClr val="F8C662">
                  <a:alpha val="34117"/>
                </a:srgbClr>
              </a:gs>
              <a:gs pos="49700">
                <a:srgbClr val="E6AC36"/>
              </a:gs>
              <a:gs pos="100000">
                <a:srgbClr val="D4910A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24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mn-MN"/>
              <a:t>Стратегийн хүрээ </a:t>
            </a:r>
            <a:r>
              <a:rPr lang="mn-MN"/>
              <a:t>· Алтан тойрог</a:t>
            </a:r>
            <a:endParaRPr/>
          </a:p>
        </p:txBody>
      </p:sp>
      <p:sp>
        <p:nvSpPr>
          <p:cNvPr id="215" name="Google Shape;215;p24"/>
          <p:cNvSpPr txBox="1"/>
          <p:nvPr>
            <p:ph idx="12" type="sldNum"/>
          </p:nvPr>
        </p:nvSpPr>
        <p:spPr>
          <a:xfrm>
            <a:off x="8685133" y="4792247"/>
            <a:ext cx="22479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" name="Google Shape;216;p24"/>
          <p:cNvSpPr txBox="1"/>
          <p:nvPr>
            <p:ph type="title"/>
          </p:nvPr>
        </p:nvSpPr>
        <p:spPr>
          <a:xfrm>
            <a:off x="453628" y="839196"/>
            <a:ext cx="3177031" cy="758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</a:pPr>
            <a:r>
              <a:rPr lang="mn-MN" sz="2700"/>
              <a:t>Үнэ </a:t>
            </a:r>
            <a:br>
              <a:rPr lang="mn-MN" sz="2700"/>
            </a:br>
            <a:r>
              <a:rPr lang="mn-MN" sz="2700"/>
              <a:t>цэнэ</a:t>
            </a:r>
            <a:endParaRPr/>
          </a:p>
        </p:txBody>
      </p:sp>
      <p:pic>
        <p:nvPicPr>
          <p:cNvPr id="217" name="Google Shape;21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10800000">
            <a:off x="453390" y="3927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 txBox="1"/>
          <p:nvPr/>
        </p:nvSpPr>
        <p:spPr>
          <a:xfrm rot="5400000">
            <a:off x="6672056" y="2262395"/>
            <a:ext cx="425094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mn-MN" sz="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Бүх эрх хуулиар хамгаалагдсан.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9" name="Google Shape;219;p24"/>
          <p:cNvCxnSpPr/>
          <p:nvPr/>
        </p:nvCxnSpPr>
        <p:spPr>
          <a:xfrm>
            <a:off x="8791577" y="0"/>
            <a:ext cx="0" cy="329755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24"/>
          <p:cNvSpPr/>
          <p:nvPr/>
        </p:nvSpPr>
        <p:spPr>
          <a:xfrm>
            <a:off x="663278" y="1684464"/>
            <a:ext cx="2356454" cy="2356454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6545857" y="2814935"/>
            <a:ext cx="1889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Дараагийн алхмуудаа тодорхой төлөвлөнө. Өсөлтийг тогтмол хэмжиж, сайжруулна.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7452733" y="2365688"/>
            <a:ext cx="817609" cy="295341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Үр дүн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818460" y="2814935"/>
            <a:ext cx="1889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Энэ хэсэгт өөрийн текстээ оруулна уу. Гол үзүүлэлтүүдээ товч дурдана.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4743376" y="2365688"/>
            <a:ext cx="817609" cy="295341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Үйл явц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916710" y="2846769"/>
            <a:ext cx="1889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Хэрэглэгчийн хэрэгцээг нарийн судална. Чанар, хурд, найдвартай байдлыг эрхэмлэнэ.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1829035" y="2343670"/>
            <a:ext cx="817609" cy="295341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Зорилго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 txBox="1"/>
          <p:nvPr>
            <p:ph idx="2" type="body"/>
          </p:nvPr>
        </p:nvSpPr>
        <p:spPr>
          <a:xfrm>
            <a:off x="499229" y="4107451"/>
            <a:ext cx="927235" cy="334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mn-MN"/>
              <a:t>Гарчгийн дэлгэрэнгүй тайлбар</a:t>
            </a:r>
            <a:endParaRPr/>
          </a:p>
        </p:txBody>
      </p:sp>
      <p:cxnSp>
        <p:nvCxnSpPr>
          <p:cNvPr id="228" name="Google Shape;228;p24"/>
          <p:cNvCxnSpPr/>
          <p:nvPr/>
        </p:nvCxnSpPr>
        <p:spPr>
          <a:xfrm>
            <a:off x="526541" y="3735353"/>
            <a:ext cx="0" cy="20547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9" name="Google Shape;229;p24"/>
          <p:cNvSpPr txBox="1"/>
          <p:nvPr/>
        </p:nvSpPr>
        <p:spPr>
          <a:xfrm>
            <a:off x="6484348" y="2374858"/>
            <a:ext cx="10667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mn-MN" sz="2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Юу</a:t>
            </a:r>
            <a:endParaRPr b="0" i="0" sz="1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3765596" y="2374858"/>
            <a:ext cx="10667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mn-MN" sz="2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Хэрхэн</a:t>
            </a:r>
            <a:endParaRPr b="0" i="0" sz="16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873658" y="2343670"/>
            <a:ext cx="10667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mn-MN" sz="2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Яагаад</a:t>
            </a:r>
            <a:endParaRPr b="0" i="0" sz="16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5"/>
          <p:cNvPicPr preferRelativeResize="0"/>
          <p:nvPr/>
        </p:nvPicPr>
        <p:blipFill rotWithShape="1">
          <a:blip r:embed="rId3">
            <a:alphaModFix/>
          </a:blip>
          <a:srcRect b="15516" l="12213" r="48282" t="3368"/>
          <a:stretch/>
        </p:blipFill>
        <p:spPr>
          <a:xfrm>
            <a:off x="5711669" y="0"/>
            <a:ext cx="2441209" cy="3759323"/>
          </a:xfrm>
          <a:custGeom>
            <a:rect b="b" l="l" r="r" t="t"/>
            <a:pathLst>
              <a:path extrusionOk="0" h="5012430" w="3254945">
                <a:moveTo>
                  <a:pt x="0" y="0"/>
                </a:moveTo>
                <a:lnTo>
                  <a:pt x="3254945" y="0"/>
                </a:lnTo>
                <a:lnTo>
                  <a:pt x="3254945" y="5012430"/>
                </a:lnTo>
                <a:lnTo>
                  <a:pt x="0" y="501243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37" name="Google Shape;237;p25"/>
          <p:cNvSpPr/>
          <p:nvPr/>
        </p:nvSpPr>
        <p:spPr>
          <a:xfrm>
            <a:off x="5706617" y="0"/>
            <a:ext cx="2441209" cy="3759323"/>
          </a:xfrm>
          <a:prstGeom prst="rect">
            <a:avLst/>
          </a:prstGeom>
          <a:gradFill>
            <a:gsLst>
              <a:gs pos="0">
                <a:srgbClr val="000000">
                  <a:alpha val="41960"/>
                </a:srgbClr>
              </a:gs>
              <a:gs pos="59400">
                <a:srgbClr val="000000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5"/>
          <p:cNvSpPr txBox="1"/>
          <p:nvPr>
            <p:ph type="title"/>
          </p:nvPr>
        </p:nvSpPr>
        <p:spPr>
          <a:xfrm>
            <a:off x="453628" y="839196"/>
            <a:ext cx="2441209" cy="758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</a:pPr>
            <a:r>
              <a:rPr lang="mn-MN" sz="2700"/>
              <a:t>Юу </a:t>
            </a:r>
            <a:br>
              <a:rPr lang="mn-MN" sz="2700"/>
            </a:br>
            <a:r>
              <a:rPr lang="mn-MN" sz="2700"/>
              <a:t>хийх вэ </a:t>
            </a:r>
            <a:endParaRPr/>
          </a:p>
        </p:txBody>
      </p:sp>
      <p:sp>
        <p:nvSpPr>
          <p:cNvPr id="239" name="Google Shape;239;p25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mn-MN"/>
              <a:t>Стратегийн хүрээ </a:t>
            </a:r>
            <a:r>
              <a:rPr lang="mn-MN"/>
              <a:t>· Алтан тойрог</a:t>
            </a:r>
            <a:endParaRPr/>
          </a:p>
        </p:txBody>
      </p:sp>
      <p:sp>
        <p:nvSpPr>
          <p:cNvPr id="240" name="Google Shape;240;p25"/>
          <p:cNvSpPr txBox="1"/>
          <p:nvPr>
            <p:ph idx="12" type="sldNum"/>
          </p:nvPr>
        </p:nvSpPr>
        <p:spPr>
          <a:xfrm>
            <a:off x="8685133" y="4792247"/>
            <a:ext cx="22479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/>
              <a:t>0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1" name="Google Shape;241;p25"/>
          <p:cNvSpPr txBox="1"/>
          <p:nvPr>
            <p:ph idx="2" type="body"/>
          </p:nvPr>
        </p:nvSpPr>
        <p:spPr>
          <a:xfrm>
            <a:off x="499229" y="1785706"/>
            <a:ext cx="1558171" cy="334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mn-MN"/>
              <a:t>Гарчгийн дэлгэрэнгүй тайлбар</a:t>
            </a:r>
            <a:endParaRPr/>
          </a:p>
        </p:txBody>
      </p:sp>
      <p:pic>
        <p:nvPicPr>
          <p:cNvPr id="242" name="Google Shape;2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53390" y="3927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 rot="5400000">
            <a:off x="6672056" y="2262395"/>
            <a:ext cx="425094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mn-MN" sz="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Бүх эрх хуулиар хамгаалагдсан.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4" name="Google Shape;244;p25"/>
          <p:cNvCxnSpPr/>
          <p:nvPr/>
        </p:nvCxnSpPr>
        <p:spPr>
          <a:xfrm>
            <a:off x="8791577" y="0"/>
            <a:ext cx="0" cy="329755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5" name="Google Shape;245;p25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6" name="Google Shape;246;p25"/>
          <p:cNvGrpSpPr/>
          <p:nvPr/>
        </p:nvGrpSpPr>
        <p:grpSpPr>
          <a:xfrm>
            <a:off x="2864358" y="589342"/>
            <a:ext cx="1974342" cy="4017659"/>
            <a:chOff x="3859784" y="836589"/>
            <a:chExt cx="2632456" cy="5356878"/>
          </a:xfrm>
        </p:grpSpPr>
        <p:grpSp>
          <p:nvGrpSpPr>
            <p:cNvPr id="247" name="Google Shape;247;p25"/>
            <p:cNvGrpSpPr/>
            <p:nvPr/>
          </p:nvGrpSpPr>
          <p:grpSpPr>
            <a:xfrm>
              <a:off x="3859784" y="836589"/>
              <a:ext cx="2632456" cy="1181021"/>
              <a:chOff x="3859784" y="1005840"/>
              <a:chExt cx="2632456" cy="1181021"/>
            </a:xfrm>
          </p:grpSpPr>
          <p:sp>
            <p:nvSpPr>
              <p:cNvPr id="248" name="Google Shape;248;p25"/>
              <p:cNvSpPr txBox="1"/>
              <p:nvPr/>
            </p:nvSpPr>
            <p:spPr>
              <a:xfrm>
                <a:off x="4430295" y="1263531"/>
                <a:ext cx="2061945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mn-MN" sz="900" u="none" cap="none" strike="noStrike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Энд гол санаагаа бичнэ үү. Товч бөгөөд ойлгомжтой тайлбар. Үзэгчдэд хэрэгтэй мэдээллийг өгнө. 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9" name="Google Shape;249;p25"/>
              <p:cNvCxnSpPr/>
              <p:nvPr/>
            </p:nvCxnSpPr>
            <p:spPr>
              <a:xfrm>
                <a:off x="3859784" y="1005840"/>
                <a:ext cx="2632456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0" name="Google Shape;250;p25"/>
              <p:cNvCxnSpPr/>
              <p:nvPr/>
            </p:nvCxnSpPr>
            <p:spPr>
              <a:xfrm>
                <a:off x="3859784" y="1005840"/>
                <a:ext cx="427736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D4910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51" name="Google Shape;251;p25"/>
            <p:cNvGrpSpPr/>
            <p:nvPr/>
          </p:nvGrpSpPr>
          <p:grpSpPr>
            <a:xfrm>
              <a:off x="3859784" y="2228541"/>
              <a:ext cx="2632456" cy="1181021"/>
              <a:chOff x="3859784" y="1005840"/>
              <a:chExt cx="2632456" cy="1181021"/>
            </a:xfrm>
          </p:grpSpPr>
          <p:sp>
            <p:nvSpPr>
              <p:cNvPr id="252" name="Google Shape;252;p25"/>
              <p:cNvSpPr txBox="1"/>
              <p:nvPr/>
            </p:nvSpPr>
            <p:spPr>
              <a:xfrm>
                <a:off x="4430295" y="1263531"/>
                <a:ext cx="2061945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mn-MN" sz="900" u="none" cap="none" strike="noStrike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Тоо баримт, жишээ ашиглавал илүү үр дүнтэй. Бид хэрэглэгчдэдээ үнэ цэн бүтээхийг зорьдог. 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3" name="Google Shape;253;p25"/>
              <p:cNvCxnSpPr/>
              <p:nvPr/>
            </p:nvCxnSpPr>
            <p:spPr>
              <a:xfrm>
                <a:off x="3859784" y="1005840"/>
                <a:ext cx="2632456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4" name="Google Shape;254;p25"/>
              <p:cNvCxnSpPr/>
              <p:nvPr/>
            </p:nvCxnSpPr>
            <p:spPr>
              <a:xfrm>
                <a:off x="3859784" y="1005840"/>
                <a:ext cx="427736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D4910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55" name="Google Shape;255;p25"/>
            <p:cNvGrpSpPr/>
            <p:nvPr/>
          </p:nvGrpSpPr>
          <p:grpSpPr>
            <a:xfrm>
              <a:off x="3859784" y="3620493"/>
              <a:ext cx="2632456" cy="1181021"/>
              <a:chOff x="3859784" y="1005840"/>
              <a:chExt cx="2632456" cy="1181021"/>
            </a:xfrm>
          </p:grpSpPr>
          <p:sp>
            <p:nvSpPr>
              <p:cNvPr id="256" name="Google Shape;256;p25"/>
              <p:cNvSpPr txBox="1"/>
              <p:nvPr/>
            </p:nvSpPr>
            <p:spPr>
              <a:xfrm>
                <a:off x="4430295" y="1263531"/>
                <a:ext cx="2061945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mn-MN" sz="900" u="none" cap="none" strike="noStrike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Төслийн явц, үр дүнг энд харуулна. Багаараа хамтран шинэ шийдэл хэрэгжүүлнэ. 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7" name="Google Shape;257;p25"/>
              <p:cNvCxnSpPr/>
              <p:nvPr/>
            </p:nvCxnSpPr>
            <p:spPr>
              <a:xfrm>
                <a:off x="3859784" y="1005840"/>
                <a:ext cx="2632456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25"/>
              <p:cNvCxnSpPr/>
              <p:nvPr/>
            </p:nvCxnSpPr>
            <p:spPr>
              <a:xfrm>
                <a:off x="3859784" y="1005840"/>
                <a:ext cx="427736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D4910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59" name="Google Shape;259;p25"/>
            <p:cNvGrpSpPr/>
            <p:nvPr/>
          </p:nvGrpSpPr>
          <p:grpSpPr>
            <a:xfrm>
              <a:off x="3859784" y="5012446"/>
              <a:ext cx="2632456" cy="1181021"/>
              <a:chOff x="3859784" y="1005840"/>
              <a:chExt cx="2632456" cy="1181021"/>
            </a:xfrm>
          </p:grpSpPr>
          <p:sp>
            <p:nvSpPr>
              <p:cNvPr id="260" name="Google Shape;260;p25"/>
              <p:cNvSpPr txBox="1"/>
              <p:nvPr/>
            </p:nvSpPr>
            <p:spPr>
              <a:xfrm>
                <a:off x="4430295" y="1263531"/>
                <a:ext cx="2061945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mn-MN" sz="900" u="none" cap="none" strike="noStrike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Зах зээлийн судалгаанд үндэслэн шийдвэр гаргана. Дараагийн алхмуудаа тодорхой төлөвлөнө. 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1" name="Google Shape;261;p25"/>
              <p:cNvCxnSpPr/>
              <p:nvPr/>
            </p:nvCxnSpPr>
            <p:spPr>
              <a:xfrm>
                <a:off x="3859784" y="1005840"/>
                <a:ext cx="2632456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2" name="Google Shape;262;p25"/>
              <p:cNvCxnSpPr/>
              <p:nvPr/>
            </p:nvCxnSpPr>
            <p:spPr>
              <a:xfrm>
                <a:off x="3859784" y="1005840"/>
                <a:ext cx="427736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D4910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63" name="Google Shape;263;p25"/>
          <p:cNvSpPr txBox="1"/>
          <p:nvPr/>
        </p:nvSpPr>
        <p:spPr>
          <a:xfrm>
            <a:off x="499229" y="3317605"/>
            <a:ext cx="1558171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Өсөлтийг тогтмол хэмжиж, сайжруулна. Энэ хэсэгт өөрийн текстээ оруулна уу.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499229" y="2788562"/>
            <a:ext cx="312301" cy="312301"/>
          </a:xfrm>
          <a:prstGeom prst="roundRect">
            <a:avLst>
              <a:gd fmla="val 16667" name="adj"/>
            </a:avLst>
          </a:prstGeom>
          <a:solidFill>
            <a:srgbClr val="D4910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5" name="Google Shape;26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082" y="2850414"/>
            <a:ext cx="188595" cy="1885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25"/>
          <p:cNvGrpSpPr/>
          <p:nvPr/>
        </p:nvGrpSpPr>
        <p:grpSpPr>
          <a:xfrm>
            <a:off x="5278734" y="1415223"/>
            <a:ext cx="3304184" cy="3304184"/>
            <a:chOff x="3659531" y="1226211"/>
            <a:chExt cx="4405579" cy="4405579"/>
          </a:xfrm>
        </p:grpSpPr>
        <p:sp>
          <p:nvSpPr>
            <p:cNvPr id="267" name="Google Shape;267;p25"/>
            <p:cNvSpPr/>
            <p:nvPr/>
          </p:nvSpPr>
          <p:spPr>
            <a:xfrm>
              <a:off x="3659531" y="1226211"/>
              <a:ext cx="4405579" cy="440557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sx="91000" rotWithShape="0" algn="t" dir="5400000" dist="508000" sy="91000">
                <a:srgbClr val="000000">
                  <a:alpha val="34117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3859783" y="1362456"/>
              <a:ext cx="4005072" cy="4005072"/>
            </a:xfrm>
            <a:prstGeom prst="ellipse">
              <a:avLst/>
            </a:prstGeom>
            <a:gradFill>
              <a:gsLst>
                <a:gs pos="0">
                  <a:srgbClr val="F8C662"/>
                </a:gs>
                <a:gs pos="100000">
                  <a:srgbClr val="D4910A"/>
                </a:gs>
              </a:gsLst>
              <a:lin ang="5400000" scaled="0"/>
            </a:gradFill>
            <a:ln>
              <a:noFill/>
            </a:ln>
            <a:effectLst>
              <a:outerShdw blurRad="177800" sx="91000" rotWithShape="0" algn="t" dir="5400000" dist="508000" sy="91000">
                <a:srgbClr val="000000">
                  <a:alpha val="34117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4430923" y="1933596"/>
              <a:ext cx="2862792" cy="2862792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177800" sx="71000" rotWithShape="0" algn="t" dir="5400000" dist="254000" sy="71000">
                <a:srgbClr val="000000">
                  <a:alpha val="34117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5142445" y="2645118"/>
              <a:ext cx="1439748" cy="1439748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  <a:effectLst>
              <a:outerShdw blurRad="177800" sx="91000" rotWithShape="0" algn="t" dir="5400000" dist="508000" sy="91000">
                <a:srgbClr val="000000">
                  <a:alpha val="34117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71" name="Google Shape;27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19215" y="790555"/>
            <a:ext cx="207454" cy="2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14707" y="1854039"/>
            <a:ext cx="207454" cy="20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94838" y="2860327"/>
            <a:ext cx="228200" cy="2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14640" y="3926884"/>
            <a:ext cx="188595" cy="18859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6467699" y="1633292"/>
            <a:ext cx="881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Юу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6467699" y="2119662"/>
            <a:ext cx="881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Хэрхэн</a:t>
            </a:r>
            <a:endParaRPr b="0" i="0" sz="1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6467699" y="2905177"/>
            <a:ext cx="881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Яагаад</a:t>
            </a:r>
            <a:endParaRPr b="0" i="0" sz="1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6"/>
          <p:cNvPicPr preferRelativeResize="0"/>
          <p:nvPr/>
        </p:nvPicPr>
        <p:blipFill rotWithShape="1">
          <a:blip r:embed="rId3">
            <a:alphaModFix/>
          </a:blip>
          <a:srcRect b="30922" l="2773" r="6044" t="19811"/>
          <a:stretch/>
        </p:blipFill>
        <p:spPr>
          <a:xfrm>
            <a:off x="4174006" y="753191"/>
            <a:ext cx="4978808" cy="2017528"/>
          </a:xfrm>
          <a:custGeom>
            <a:rect b="b" l="l" r="r" t="t"/>
            <a:pathLst>
              <a:path extrusionOk="0" h="3254945" w="6638410">
                <a:moveTo>
                  <a:pt x="0" y="0"/>
                </a:moveTo>
                <a:lnTo>
                  <a:pt x="6638410" y="0"/>
                </a:lnTo>
                <a:lnTo>
                  <a:pt x="6638410" y="3254945"/>
                </a:lnTo>
                <a:lnTo>
                  <a:pt x="0" y="32549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83" name="Google Shape;283;p26"/>
          <p:cNvSpPr txBox="1"/>
          <p:nvPr>
            <p:ph type="title"/>
          </p:nvPr>
        </p:nvSpPr>
        <p:spPr>
          <a:xfrm>
            <a:off x="453628" y="839196"/>
            <a:ext cx="2441209" cy="758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</a:pPr>
            <a:r>
              <a:rPr lang="mn-MN" sz="2700"/>
              <a:t>Хэрхэн </a:t>
            </a:r>
            <a:br>
              <a:rPr lang="mn-MN" sz="2700"/>
            </a:br>
            <a:r>
              <a:rPr lang="mn-MN" sz="2700"/>
              <a:t>хийх вэ </a:t>
            </a:r>
            <a:endParaRPr/>
          </a:p>
        </p:txBody>
      </p:sp>
      <p:sp>
        <p:nvSpPr>
          <p:cNvPr id="284" name="Google Shape;284;p26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mn-MN"/>
              <a:t>Стратегийн хүрээ </a:t>
            </a:r>
            <a:r>
              <a:rPr lang="mn-MN"/>
              <a:t>· Алтан тойрог</a:t>
            </a:r>
            <a:endParaRPr/>
          </a:p>
        </p:txBody>
      </p:sp>
      <p:sp>
        <p:nvSpPr>
          <p:cNvPr id="285" name="Google Shape;285;p26"/>
          <p:cNvSpPr txBox="1"/>
          <p:nvPr>
            <p:ph idx="12" type="sldNum"/>
          </p:nvPr>
        </p:nvSpPr>
        <p:spPr>
          <a:xfrm>
            <a:off x="8685133" y="4792247"/>
            <a:ext cx="22479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/>
              <a:t>0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6" name="Google Shape;286;p26"/>
          <p:cNvSpPr txBox="1"/>
          <p:nvPr>
            <p:ph idx="2" type="body"/>
          </p:nvPr>
        </p:nvSpPr>
        <p:spPr>
          <a:xfrm>
            <a:off x="499229" y="1785706"/>
            <a:ext cx="1558171" cy="334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mn-MN"/>
              <a:t>Гарчгийн дэлгэрэнгүй тайлбар</a:t>
            </a:r>
            <a:endParaRPr/>
          </a:p>
        </p:txBody>
      </p:sp>
      <p:pic>
        <p:nvPicPr>
          <p:cNvPr id="287" name="Google Shape;2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53390" y="3927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/>
          <p:nvPr/>
        </p:nvSpPr>
        <p:spPr>
          <a:xfrm rot="5400000">
            <a:off x="6672056" y="2262395"/>
            <a:ext cx="425094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mn-MN" sz="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Бүх эрх хуулиар хамгаалагдсан.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89" name="Google Shape;289;p26"/>
          <p:cNvCxnSpPr/>
          <p:nvPr/>
        </p:nvCxnSpPr>
        <p:spPr>
          <a:xfrm>
            <a:off x="8791577" y="541351"/>
            <a:ext cx="0" cy="244120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0" name="Google Shape;290;p26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Google Shape;291;p26"/>
          <p:cNvSpPr/>
          <p:nvPr/>
        </p:nvSpPr>
        <p:spPr>
          <a:xfrm rot="5400000">
            <a:off x="5650239" y="-731855"/>
            <a:ext cx="2017528" cy="4987619"/>
          </a:xfrm>
          <a:prstGeom prst="rect">
            <a:avLst/>
          </a:prstGeom>
          <a:gradFill>
            <a:gsLst>
              <a:gs pos="0">
                <a:srgbClr val="000000">
                  <a:alpha val="65098"/>
                </a:srgbClr>
              </a:gs>
              <a:gs pos="50000">
                <a:srgbClr val="000000">
                  <a:alpha val="47843"/>
                </a:srgbClr>
              </a:gs>
              <a:gs pos="100000">
                <a:srgbClr val="000000">
                  <a:alpha val="65098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2349887" y="389095"/>
            <a:ext cx="2723084" cy="2723084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76200" rotWithShape="0" algn="l" dist="304800">
              <a:srgbClr val="000000">
                <a:alpha val="23137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2473663" y="519028"/>
            <a:ext cx="2475530" cy="2475530"/>
          </a:xfrm>
          <a:prstGeom prst="ellipse">
            <a:avLst/>
          </a:prstGeom>
          <a:gradFill>
            <a:gsLst>
              <a:gs pos="0">
                <a:srgbClr val="F8C662"/>
              </a:gs>
              <a:gs pos="100000">
                <a:srgbClr val="D4910A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2826684" y="872049"/>
            <a:ext cx="1769489" cy="176948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3266475" y="1311839"/>
            <a:ext cx="889907" cy="889906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96" name="Google Shape;296;p26"/>
          <p:cNvGrpSpPr/>
          <p:nvPr/>
        </p:nvGrpSpPr>
        <p:grpSpPr>
          <a:xfrm>
            <a:off x="5645036" y="1003795"/>
            <a:ext cx="346558" cy="346558"/>
            <a:chOff x="665639" y="3718082"/>
            <a:chExt cx="416401" cy="416401"/>
          </a:xfrm>
        </p:grpSpPr>
        <p:sp>
          <p:nvSpPr>
            <p:cNvPr id="297" name="Google Shape;297;p26"/>
            <p:cNvSpPr/>
            <p:nvPr/>
          </p:nvSpPr>
          <p:spPr>
            <a:xfrm>
              <a:off x="665639" y="3718082"/>
              <a:ext cx="416401" cy="416401"/>
            </a:xfrm>
            <a:prstGeom prst="roundRect">
              <a:avLst>
                <a:gd fmla="val 16667" name="adj"/>
              </a:avLst>
            </a:prstGeom>
            <a:solidFill>
              <a:srgbClr val="D4910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98" name="Google Shape;298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8109" y="3800552"/>
              <a:ext cx="251460" cy="2514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26"/>
          <p:cNvSpPr txBox="1"/>
          <p:nvPr/>
        </p:nvSpPr>
        <p:spPr>
          <a:xfrm>
            <a:off x="5645036" y="1640255"/>
            <a:ext cx="2441210" cy="667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Төслийн явц, үр дүнг энд харуулна. Багаараа хамтран шинэ шийдэл хэрэгжүүлнэ.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6"/>
          <p:cNvSpPr txBox="1"/>
          <p:nvPr/>
        </p:nvSpPr>
        <p:spPr>
          <a:xfrm>
            <a:off x="499229" y="3881622"/>
            <a:ext cx="178454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Зах зээлийн судалгаанд үндэслэн шийдвэр гаргана. Дараагийн алхмуудаа тодорхой төлөвлөнө.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26"/>
          <p:cNvCxnSpPr/>
          <p:nvPr/>
        </p:nvCxnSpPr>
        <p:spPr>
          <a:xfrm>
            <a:off x="499321" y="3688354"/>
            <a:ext cx="1784451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2" name="Google Shape;302;p26"/>
          <p:cNvCxnSpPr/>
          <p:nvPr/>
        </p:nvCxnSpPr>
        <p:spPr>
          <a:xfrm>
            <a:off x="499321" y="3688354"/>
            <a:ext cx="289948" cy="0"/>
          </a:xfrm>
          <a:prstGeom prst="straightConnector1">
            <a:avLst/>
          </a:prstGeom>
          <a:noFill/>
          <a:ln cap="flat" cmpd="sng" w="38100">
            <a:solidFill>
              <a:srgbClr val="D4910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3" name="Google Shape;303;p26"/>
          <p:cNvSpPr txBox="1"/>
          <p:nvPr/>
        </p:nvSpPr>
        <p:spPr>
          <a:xfrm>
            <a:off x="2526892" y="3881622"/>
            <a:ext cx="178454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Өсөлтийг тогтмол хэмжиж, сайжруулна. Энэ хэсэгт өөрийн текстээ оруулна уу.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26"/>
          <p:cNvCxnSpPr/>
          <p:nvPr/>
        </p:nvCxnSpPr>
        <p:spPr>
          <a:xfrm>
            <a:off x="2526983" y="3688354"/>
            <a:ext cx="1784451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5" name="Google Shape;305;p26"/>
          <p:cNvCxnSpPr/>
          <p:nvPr/>
        </p:nvCxnSpPr>
        <p:spPr>
          <a:xfrm>
            <a:off x="2526983" y="3688354"/>
            <a:ext cx="289948" cy="0"/>
          </a:xfrm>
          <a:prstGeom prst="straightConnector1">
            <a:avLst/>
          </a:prstGeom>
          <a:noFill/>
          <a:ln cap="flat" cmpd="sng" w="38100">
            <a:solidFill>
              <a:srgbClr val="D4910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6" name="Google Shape;306;p26"/>
          <p:cNvSpPr txBox="1"/>
          <p:nvPr/>
        </p:nvSpPr>
        <p:spPr>
          <a:xfrm>
            <a:off x="4554554" y="3881622"/>
            <a:ext cx="178454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Гол үзүүлэлтүүдээ товч дурдана. Хэрэглэгчийн хэрэгцээг нарийн судална.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26"/>
          <p:cNvCxnSpPr/>
          <p:nvPr/>
        </p:nvCxnSpPr>
        <p:spPr>
          <a:xfrm>
            <a:off x="4554646" y="3688354"/>
            <a:ext cx="1784451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8" name="Google Shape;308;p26"/>
          <p:cNvCxnSpPr/>
          <p:nvPr/>
        </p:nvCxnSpPr>
        <p:spPr>
          <a:xfrm>
            <a:off x="4554646" y="3688354"/>
            <a:ext cx="289948" cy="0"/>
          </a:xfrm>
          <a:prstGeom prst="straightConnector1">
            <a:avLst/>
          </a:prstGeom>
          <a:noFill/>
          <a:ln cap="flat" cmpd="sng" w="38100">
            <a:solidFill>
              <a:srgbClr val="D4910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9" name="Google Shape;309;p26"/>
          <p:cNvSpPr txBox="1"/>
          <p:nvPr/>
        </p:nvSpPr>
        <p:spPr>
          <a:xfrm>
            <a:off x="6582217" y="3881622"/>
            <a:ext cx="178454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Чанар, хурд, найдвартай байдлыг эрхэмлэнэ. Шинэ боломжийг цаг алдалгүй ашиглана.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26"/>
          <p:cNvCxnSpPr/>
          <p:nvPr/>
        </p:nvCxnSpPr>
        <p:spPr>
          <a:xfrm>
            <a:off x="6582309" y="3688354"/>
            <a:ext cx="1784451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1" name="Google Shape;311;p26"/>
          <p:cNvCxnSpPr/>
          <p:nvPr/>
        </p:nvCxnSpPr>
        <p:spPr>
          <a:xfrm>
            <a:off x="6582309" y="3688354"/>
            <a:ext cx="289948" cy="0"/>
          </a:xfrm>
          <a:prstGeom prst="straightConnector1">
            <a:avLst/>
          </a:prstGeom>
          <a:noFill/>
          <a:ln cap="flat" cmpd="sng" w="38100">
            <a:solidFill>
              <a:srgbClr val="D4910A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12" name="Google Shape;31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259" y="3261042"/>
            <a:ext cx="276122" cy="276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26892" y="3261042"/>
            <a:ext cx="276122" cy="276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49716" y="3261042"/>
            <a:ext cx="276122" cy="276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5164" y="3261042"/>
            <a:ext cx="276122" cy="2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 txBox="1"/>
          <p:nvPr/>
        </p:nvSpPr>
        <p:spPr>
          <a:xfrm>
            <a:off x="3249287" y="615624"/>
            <a:ext cx="88158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mn-MN" sz="1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Юу</a:t>
            </a:r>
            <a:endParaRPr b="0" i="0" sz="12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3249287" y="1023594"/>
            <a:ext cx="88158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mn-MN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Хэрхэн</a:t>
            </a:r>
            <a:endParaRPr b="0" i="0" sz="12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3249287" y="1647405"/>
            <a:ext cx="88158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mn-MN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Яагаад</a:t>
            </a:r>
            <a:endParaRPr b="0" i="0" sz="12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7"/>
          <p:cNvPicPr preferRelativeResize="0"/>
          <p:nvPr/>
        </p:nvPicPr>
        <p:blipFill rotWithShape="1">
          <a:blip r:embed="rId3">
            <a:alphaModFix/>
          </a:blip>
          <a:srcRect b="15516" l="12213" r="48282" t="3368"/>
          <a:stretch/>
        </p:blipFill>
        <p:spPr>
          <a:xfrm>
            <a:off x="4134013" y="0"/>
            <a:ext cx="2441209" cy="3759323"/>
          </a:xfrm>
          <a:custGeom>
            <a:rect b="b" l="l" r="r" t="t"/>
            <a:pathLst>
              <a:path extrusionOk="0" h="5012430" w="3254945">
                <a:moveTo>
                  <a:pt x="0" y="0"/>
                </a:moveTo>
                <a:lnTo>
                  <a:pt x="3254945" y="0"/>
                </a:lnTo>
                <a:lnTo>
                  <a:pt x="3254945" y="5012430"/>
                </a:lnTo>
                <a:lnTo>
                  <a:pt x="0" y="501243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24" name="Google Shape;324;p27"/>
          <p:cNvSpPr/>
          <p:nvPr/>
        </p:nvSpPr>
        <p:spPr>
          <a:xfrm>
            <a:off x="4134014" y="0"/>
            <a:ext cx="2441209" cy="3759323"/>
          </a:xfrm>
          <a:prstGeom prst="rect">
            <a:avLst/>
          </a:prstGeom>
          <a:gradFill>
            <a:gsLst>
              <a:gs pos="0">
                <a:srgbClr val="000000">
                  <a:alpha val="41960"/>
                </a:srgbClr>
              </a:gs>
              <a:gs pos="59400">
                <a:srgbClr val="000000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5" name="Google Shape;325;p27"/>
          <p:cNvGrpSpPr/>
          <p:nvPr/>
        </p:nvGrpSpPr>
        <p:grpSpPr>
          <a:xfrm>
            <a:off x="3702526" y="1179221"/>
            <a:ext cx="3304184" cy="3304184"/>
            <a:chOff x="3659531" y="1226211"/>
            <a:chExt cx="4405579" cy="4405579"/>
          </a:xfrm>
        </p:grpSpPr>
        <p:sp>
          <p:nvSpPr>
            <p:cNvPr id="326" name="Google Shape;326;p27"/>
            <p:cNvSpPr/>
            <p:nvPr/>
          </p:nvSpPr>
          <p:spPr>
            <a:xfrm>
              <a:off x="3659531" y="1226211"/>
              <a:ext cx="4405579" cy="440557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sx="91000" rotWithShape="0" algn="t" dir="5400000" dist="508000" sy="91000">
                <a:srgbClr val="000000">
                  <a:alpha val="9019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3859783" y="1362456"/>
              <a:ext cx="4005072" cy="4005072"/>
            </a:xfrm>
            <a:prstGeom prst="ellipse">
              <a:avLst/>
            </a:prstGeom>
            <a:gradFill>
              <a:gsLst>
                <a:gs pos="0">
                  <a:srgbClr val="F8C662"/>
                </a:gs>
                <a:gs pos="100000">
                  <a:srgbClr val="D4910A"/>
                </a:gs>
              </a:gsLst>
              <a:lin ang="5400000" scaled="0"/>
            </a:gradFill>
            <a:ln>
              <a:noFill/>
            </a:ln>
            <a:effectLst>
              <a:outerShdw blurRad="177800" sx="91000" rotWithShape="0" algn="t" dir="5400000" dist="508000" sy="91000">
                <a:srgbClr val="000000">
                  <a:alpha val="9019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8" name="Google Shape;328;p27"/>
            <p:cNvSpPr/>
            <p:nvPr/>
          </p:nvSpPr>
          <p:spPr>
            <a:xfrm>
              <a:off x="4430923" y="1933596"/>
              <a:ext cx="2862792" cy="2862792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177800" sx="91000" rotWithShape="0" algn="t" dir="5400000" dist="508000" sy="91000">
                <a:srgbClr val="000000">
                  <a:alpha val="9019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5142445" y="2645118"/>
              <a:ext cx="1439748" cy="1439748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  <a:effectLst>
              <a:outerShdw blurRad="177800" sx="91000" rotWithShape="0" algn="t" dir="5400000" dist="508000" sy="91000">
                <a:srgbClr val="000000">
                  <a:alpha val="9019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30" name="Google Shape;330;p27"/>
          <p:cNvSpPr txBox="1"/>
          <p:nvPr>
            <p:ph type="title"/>
          </p:nvPr>
        </p:nvSpPr>
        <p:spPr>
          <a:xfrm>
            <a:off x="453629" y="839196"/>
            <a:ext cx="1809205" cy="758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</a:pPr>
            <a:r>
              <a:rPr lang="mn-MN" sz="2700"/>
              <a:t>Яагаад </a:t>
            </a:r>
            <a:br>
              <a:rPr lang="mn-MN" sz="2700"/>
            </a:br>
            <a:r>
              <a:rPr lang="mn-MN" sz="2700"/>
              <a:t>хийх вэ</a:t>
            </a:r>
            <a:endParaRPr/>
          </a:p>
        </p:txBody>
      </p:sp>
      <p:sp>
        <p:nvSpPr>
          <p:cNvPr id="331" name="Google Shape;331;p27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mn-MN"/>
              <a:t>Стратегийн хүрээ </a:t>
            </a:r>
            <a:r>
              <a:rPr lang="mn-MN"/>
              <a:t>· Алтан тойрог</a:t>
            </a:r>
            <a:endParaRPr/>
          </a:p>
        </p:txBody>
      </p:sp>
      <p:sp>
        <p:nvSpPr>
          <p:cNvPr id="332" name="Google Shape;332;p27"/>
          <p:cNvSpPr txBox="1"/>
          <p:nvPr>
            <p:ph idx="12" type="sldNum"/>
          </p:nvPr>
        </p:nvSpPr>
        <p:spPr>
          <a:xfrm>
            <a:off x="8685133" y="4792247"/>
            <a:ext cx="22479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/>
              <a:t>0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3" name="Google Shape;333;p27"/>
          <p:cNvSpPr txBox="1"/>
          <p:nvPr>
            <p:ph idx="2" type="body"/>
          </p:nvPr>
        </p:nvSpPr>
        <p:spPr>
          <a:xfrm>
            <a:off x="499229" y="1785706"/>
            <a:ext cx="1558171" cy="334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mn-MN"/>
              <a:t>Гарчгийн дэлгэрэнгүй тайлбар</a:t>
            </a:r>
            <a:endParaRPr/>
          </a:p>
        </p:txBody>
      </p:sp>
      <p:pic>
        <p:nvPicPr>
          <p:cNvPr id="334" name="Google Shape;33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53390" y="3927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 txBox="1"/>
          <p:nvPr/>
        </p:nvSpPr>
        <p:spPr>
          <a:xfrm rot="5400000">
            <a:off x="6672056" y="2262395"/>
            <a:ext cx="425094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mn-MN" sz="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Бүх эрх хуулиар хамгаалагдсан.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36" name="Google Shape;336;p27"/>
          <p:cNvCxnSpPr/>
          <p:nvPr/>
        </p:nvCxnSpPr>
        <p:spPr>
          <a:xfrm>
            <a:off x="8791577" y="0"/>
            <a:ext cx="0" cy="329755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27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499229" y="3317605"/>
            <a:ext cx="1359412" cy="1017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mn-MN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Гол үзүүлэлтүүдээ товч дурдана. Хэрэглэгчийн хэрэгцээг нарийн судална.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499229" y="2788562"/>
            <a:ext cx="312301" cy="312301"/>
          </a:xfrm>
          <a:prstGeom prst="roundRect">
            <a:avLst>
              <a:gd fmla="val 16667" name="adj"/>
            </a:avLst>
          </a:prstGeom>
          <a:solidFill>
            <a:srgbClr val="D4910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0" name="Google Shape;34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082" y="2850414"/>
            <a:ext cx="188595" cy="1885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1" name="Google Shape;341;p27"/>
          <p:cNvCxnSpPr/>
          <p:nvPr/>
        </p:nvCxnSpPr>
        <p:spPr>
          <a:xfrm>
            <a:off x="2147687" y="1357647"/>
            <a:ext cx="1536300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2" name="Google Shape;342;p27"/>
          <p:cNvCxnSpPr/>
          <p:nvPr/>
        </p:nvCxnSpPr>
        <p:spPr>
          <a:xfrm>
            <a:off x="3363185" y="1357647"/>
            <a:ext cx="320802" cy="0"/>
          </a:xfrm>
          <a:prstGeom prst="straightConnector1">
            <a:avLst/>
          </a:prstGeom>
          <a:noFill/>
          <a:ln cap="flat" cmpd="sng" w="38100">
            <a:solidFill>
              <a:srgbClr val="D4910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3" name="Google Shape;343;p27"/>
          <p:cNvSpPr txBox="1"/>
          <p:nvPr/>
        </p:nvSpPr>
        <p:spPr>
          <a:xfrm>
            <a:off x="2147066" y="1550915"/>
            <a:ext cx="1223800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Чанар, хурд, найдвартай байдлыг эрхэмлэнэ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44" name="Google Shape;344;p27"/>
          <p:cNvCxnSpPr/>
          <p:nvPr/>
        </p:nvCxnSpPr>
        <p:spPr>
          <a:xfrm>
            <a:off x="2147687" y="2501425"/>
            <a:ext cx="1536300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5" name="Google Shape;345;p27"/>
          <p:cNvCxnSpPr/>
          <p:nvPr/>
        </p:nvCxnSpPr>
        <p:spPr>
          <a:xfrm>
            <a:off x="3363185" y="2501425"/>
            <a:ext cx="320802" cy="0"/>
          </a:xfrm>
          <a:prstGeom prst="straightConnector1">
            <a:avLst/>
          </a:prstGeom>
          <a:noFill/>
          <a:ln cap="flat" cmpd="sng" w="38100">
            <a:solidFill>
              <a:srgbClr val="D4910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6" name="Google Shape;346;p27"/>
          <p:cNvSpPr txBox="1"/>
          <p:nvPr/>
        </p:nvSpPr>
        <p:spPr>
          <a:xfrm>
            <a:off x="2147066" y="2694693"/>
            <a:ext cx="1223800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Шинэ боломжийг цаг алдалгүй ашиглана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47" name="Google Shape;347;p27"/>
          <p:cNvCxnSpPr/>
          <p:nvPr/>
        </p:nvCxnSpPr>
        <p:spPr>
          <a:xfrm>
            <a:off x="2147687" y="3645202"/>
            <a:ext cx="1536300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8" name="Google Shape;348;p27"/>
          <p:cNvCxnSpPr/>
          <p:nvPr/>
        </p:nvCxnSpPr>
        <p:spPr>
          <a:xfrm>
            <a:off x="3363185" y="3645202"/>
            <a:ext cx="320802" cy="0"/>
          </a:xfrm>
          <a:prstGeom prst="straightConnector1">
            <a:avLst/>
          </a:prstGeom>
          <a:noFill/>
          <a:ln cap="flat" cmpd="sng" w="38100">
            <a:solidFill>
              <a:srgbClr val="D4910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9" name="Google Shape;349;p27"/>
          <p:cNvSpPr txBox="1"/>
          <p:nvPr/>
        </p:nvSpPr>
        <p:spPr>
          <a:xfrm>
            <a:off x="2147066" y="3838471"/>
            <a:ext cx="1223800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Үр дүнд суурилсан шийдлийг санал болгоно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50" name="Google Shape;350;p27"/>
          <p:cNvCxnSpPr/>
          <p:nvPr/>
        </p:nvCxnSpPr>
        <p:spPr>
          <a:xfrm>
            <a:off x="7025869" y="1357647"/>
            <a:ext cx="1536300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27"/>
          <p:cNvCxnSpPr/>
          <p:nvPr/>
        </p:nvCxnSpPr>
        <p:spPr>
          <a:xfrm>
            <a:off x="7025248" y="1357647"/>
            <a:ext cx="320802" cy="0"/>
          </a:xfrm>
          <a:prstGeom prst="straightConnector1">
            <a:avLst/>
          </a:prstGeom>
          <a:noFill/>
          <a:ln cap="flat" cmpd="sng" w="38100">
            <a:solidFill>
              <a:srgbClr val="D4910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2" name="Google Shape;352;p27"/>
          <p:cNvSpPr txBox="1"/>
          <p:nvPr/>
        </p:nvSpPr>
        <p:spPr>
          <a:xfrm>
            <a:off x="7338369" y="1550915"/>
            <a:ext cx="1223801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Харилцагчидтайгаа урт хугацааны түншлэл тогтооно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53" name="Google Shape;353;p27"/>
          <p:cNvCxnSpPr/>
          <p:nvPr/>
        </p:nvCxnSpPr>
        <p:spPr>
          <a:xfrm>
            <a:off x="7025869" y="2501425"/>
            <a:ext cx="1536300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27"/>
          <p:cNvCxnSpPr/>
          <p:nvPr/>
        </p:nvCxnSpPr>
        <p:spPr>
          <a:xfrm>
            <a:off x="7025248" y="2501425"/>
            <a:ext cx="320802" cy="0"/>
          </a:xfrm>
          <a:prstGeom prst="straightConnector1">
            <a:avLst/>
          </a:prstGeom>
          <a:noFill/>
          <a:ln cap="flat" cmpd="sng" w="38100">
            <a:solidFill>
              <a:srgbClr val="D4910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5" name="Google Shape;355;p27"/>
          <p:cNvSpPr txBox="1"/>
          <p:nvPr/>
        </p:nvSpPr>
        <p:spPr>
          <a:xfrm>
            <a:off x="7338369" y="2694693"/>
            <a:ext cx="1223801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Технологийн шинэчлэлийг тасралтгүй нэвтрүүлнэ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56" name="Google Shape;356;p27"/>
          <p:cNvCxnSpPr/>
          <p:nvPr/>
        </p:nvCxnSpPr>
        <p:spPr>
          <a:xfrm>
            <a:off x="7025869" y="3645202"/>
            <a:ext cx="1536300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27"/>
          <p:cNvCxnSpPr/>
          <p:nvPr/>
        </p:nvCxnSpPr>
        <p:spPr>
          <a:xfrm>
            <a:off x="7025248" y="3645202"/>
            <a:ext cx="320802" cy="0"/>
          </a:xfrm>
          <a:prstGeom prst="straightConnector1">
            <a:avLst/>
          </a:prstGeom>
          <a:noFill/>
          <a:ln cap="flat" cmpd="sng" w="38100">
            <a:solidFill>
              <a:srgbClr val="D4910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8" name="Google Shape;358;p27"/>
          <p:cNvSpPr txBox="1"/>
          <p:nvPr/>
        </p:nvSpPr>
        <p:spPr>
          <a:xfrm>
            <a:off x="7338369" y="3838471"/>
            <a:ext cx="1223801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mn-M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Энд гол санаагаа бичнэ үү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9" name="Google Shape;35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5249" y="3846416"/>
            <a:ext cx="207454" cy="20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43251" y="155091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43251" y="269469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12537" y="269469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12537" y="383847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512537" y="155091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7"/>
          <p:cNvSpPr txBox="1"/>
          <p:nvPr/>
        </p:nvSpPr>
        <p:spPr>
          <a:xfrm>
            <a:off x="4884644" y="1411208"/>
            <a:ext cx="881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Юу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66" name="Google Shape;366;p27"/>
          <p:cNvSpPr txBox="1"/>
          <p:nvPr/>
        </p:nvSpPr>
        <p:spPr>
          <a:xfrm>
            <a:off x="4884644" y="1915310"/>
            <a:ext cx="881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Хэрхэн</a:t>
            </a:r>
            <a:endParaRPr b="0" i="0" sz="1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67" name="Google Shape;367;p27"/>
          <p:cNvSpPr txBox="1"/>
          <p:nvPr/>
        </p:nvSpPr>
        <p:spPr>
          <a:xfrm>
            <a:off x="4884644" y="2650062"/>
            <a:ext cx="881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mn-MN" sz="18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Яагаад</a:t>
            </a:r>
            <a:endParaRPr b="0" i="0" sz="1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8"/>
          <p:cNvPicPr preferRelativeResize="0"/>
          <p:nvPr/>
        </p:nvPicPr>
        <p:blipFill rotWithShape="1">
          <a:blip r:embed="rId3">
            <a:alphaModFix/>
          </a:blip>
          <a:srcRect b="0" l="25150" r="21774" t="13924"/>
          <a:stretch/>
        </p:blipFill>
        <p:spPr>
          <a:xfrm>
            <a:off x="5048449" y="716216"/>
            <a:ext cx="4095551" cy="4427285"/>
          </a:xfrm>
          <a:custGeom>
            <a:rect b="b" l="l" r="r" t="t"/>
            <a:pathLst>
              <a:path extrusionOk="0" h="5903047" w="5460734">
                <a:moveTo>
                  <a:pt x="910141" y="0"/>
                </a:moveTo>
                <a:lnTo>
                  <a:pt x="5460734" y="0"/>
                </a:lnTo>
                <a:lnTo>
                  <a:pt x="5460734" y="5903047"/>
                </a:lnTo>
                <a:lnTo>
                  <a:pt x="0" y="5903047"/>
                </a:lnTo>
                <a:lnTo>
                  <a:pt x="0" y="910141"/>
                </a:lnTo>
                <a:cubicBezTo>
                  <a:pt x="0" y="407484"/>
                  <a:pt x="407484" y="0"/>
                  <a:pt x="91014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74" name="Google Shape;374;p28"/>
          <p:cNvSpPr/>
          <p:nvPr/>
        </p:nvSpPr>
        <p:spPr>
          <a:xfrm flipH="1">
            <a:off x="5048449" y="716215"/>
            <a:ext cx="4095551" cy="4427285"/>
          </a:xfrm>
          <a:prstGeom prst="round1Rect">
            <a:avLst>
              <a:gd fmla="val 16667" name="adj"/>
            </a:avLst>
          </a:prstGeom>
          <a:gradFill>
            <a:gsLst>
              <a:gs pos="0">
                <a:srgbClr val="000000">
                  <a:alpha val="74117"/>
                </a:srgbClr>
              </a:gs>
              <a:gs pos="47000">
                <a:srgbClr val="000000">
                  <a:alpha val="74117"/>
                </a:srgbClr>
              </a:gs>
              <a:gs pos="100000">
                <a:schemeClr val="dk1"/>
              </a:gs>
            </a:gsLst>
            <a:lin ang="81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28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mn-MN"/>
              <a:t>Стратегийн хүрээ </a:t>
            </a:r>
            <a:r>
              <a:rPr lang="mn-MN"/>
              <a:t>· Алтан тойрог</a:t>
            </a:r>
            <a:endParaRPr/>
          </a:p>
        </p:txBody>
      </p:sp>
      <p:sp>
        <p:nvSpPr>
          <p:cNvPr id="376" name="Google Shape;376;p28"/>
          <p:cNvSpPr txBox="1"/>
          <p:nvPr>
            <p:ph idx="12" type="sldNum"/>
          </p:nvPr>
        </p:nvSpPr>
        <p:spPr>
          <a:xfrm>
            <a:off x="8685133" y="4792247"/>
            <a:ext cx="22479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>
                <a:solidFill>
                  <a:schemeClr val="lt1"/>
                </a:solidFill>
              </a:rPr>
              <a:t>0</a:t>
            </a: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77" name="Google Shape;377;p28"/>
          <p:cNvSpPr txBox="1"/>
          <p:nvPr/>
        </p:nvSpPr>
        <p:spPr>
          <a:xfrm rot="5400000">
            <a:off x="6672056" y="2262395"/>
            <a:ext cx="425094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mn-MN" sz="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Бүх эрх хуулиар хамгаалагдсан.</a:t>
            </a:r>
            <a:endParaRPr b="0" i="0" sz="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8" name="Google Shape;378;p28"/>
          <p:cNvCxnSpPr/>
          <p:nvPr/>
        </p:nvCxnSpPr>
        <p:spPr>
          <a:xfrm>
            <a:off x="8791577" y="0"/>
            <a:ext cx="0" cy="329755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9" name="Google Shape;379;p28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453390" y="716215"/>
            <a:ext cx="7886700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None/>
            </a:pPr>
            <a:r>
              <a:rPr b="1" i="0" lang="mn-MN" sz="24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Хэрхэн хэрэгжүүлэх вэ</a:t>
            </a:r>
            <a:endParaRPr b="1" i="0" sz="24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453390" y="1158351"/>
            <a:ext cx="7886700" cy="16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Гарчгийн дэлгэрэнгүй тайлбар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53390" y="3927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8"/>
          <p:cNvSpPr/>
          <p:nvPr/>
        </p:nvSpPr>
        <p:spPr>
          <a:xfrm>
            <a:off x="3394276" y="1533499"/>
            <a:ext cx="1432368" cy="341632"/>
          </a:xfrm>
          <a:prstGeom prst="roundRect">
            <a:avLst>
              <a:gd fmla="val 50000" name="adj"/>
            </a:avLst>
          </a:prstGeom>
          <a:solidFill>
            <a:srgbClr val="3A3A3A">
              <a:alpha val="83921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453389" y="1533499"/>
            <a:ext cx="1432368" cy="341632"/>
          </a:xfrm>
          <a:prstGeom prst="roundRect">
            <a:avLst>
              <a:gd fmla="val 50000" name="adj"/>
            </a:avLst>
          </a:prstGeom>
          <a:solidFill>
            <a:srgbClr val="D4910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1923832" y="1533499"/>
            <a:ext cx="1432368" cy="341632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386" name="Google Shape;386;p28"/>
          <p:cNvGraphicFramePr/>
          <p:nvPr/>
        </p:nvGraphicFramePr>
        <p:xfrm>
          <a:off x="453389" y="1501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{3E48E771-4885-43EE-99F1-27095F7FAD46}</a:tableStyleId>
              </a:tblPr>
              <a:tblGrid>
                <a:gridCol w="1457750"/>
                <a:gridCol w="1457750"/>
                <a:gridCol w="1457750"/>
              </a:tblGrid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Inter"/>
                        <a:buNone/>
                      </a:pPr>
                      <a:r>
                        <a:rPr b="1" lang="mn-MN" sz="1100" u="none" cap="none" strike="noStrike">
                          <a:solidFill>
                            <a:schemeClr val="dk1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Юу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</a:txBody>
                  <a:tcPr marT="81000" marB="81000" marR="81000" marL="81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Inter"/>
                        <a:buNone/>
                      </a:pPr>
                      <a:r>
                        <a:rPr b="1" lang="mn-MN" sz="1100" u="none" cap="none" strike="noStrike">
                          <a:solidFill>
                            <a:schemeClr val="lt1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Хэрхэн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</a:txBody>
                  <a:tcPr marT="81000" marB="81000" marR="81000" marL="81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Inter"/>
                        <a:buNone/>
                      </a:pPr>
                      <a:r>
                        <a:rPr b="1" lang="mn-MN" sz="1100" u="none" cap="none" strike="noStrike">
                          <a:solidFill>
                            <a:schemeClr val="lt1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Яагаад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Playfair Display"/>
                        <a:ea typeface="Playfair Display"/>
                        <a:cs typeface="Playfair Display"/>
                        <a:sym typeface="Playfair Display"/>
                      </a:endParaRPr>
                    </a:p>
                  </a:txBody>
                  <a:tcPr marT="81000" marB="81000" marR="81000" marL="81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1725"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Агуулга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Тайлбар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Зорилт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Санаа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Үр дүн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Гарчиг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Агуулга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Тайлбар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Зорилт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1725"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Санаа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Үр дүн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Гарчиг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Агуулга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Тайлбар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Зорилт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Санаа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Үр дүн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Гарчиг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81725"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Агуулга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Тайлбар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Зорилт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Санаа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Үр дүн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Гарчиг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Агуулга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Тайлбар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Зорилт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1725"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Санаа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Үр дүн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Гарчиг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Агуулга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Тайлбар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Зорилт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Санаа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Үр дүн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114300" lvl="0" marL="11430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mn-MN" sz="9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Гарчиг</a:t>
                      </a:r>
                      <a:endParaRPr sz="9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108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7" name="Google Shape;387;p28"/>
          <p:cNvSpPr txBox="1"/>
          <p:nvPr/>
        </p:nvSpPr>
        <p:spPr>
          <a:xfrm>
            <a:off x="5948837" y="1501815"/>
            <a:ext cx="239125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</a:pPr>
            <a:r>
              <a:rPr b="0" i="0" lang="mn-MN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Товч бөгөөд ойлгомжтой тайлбар. Үзэгчдэд хэрэгтэй мэдээллийг өгнө.</a:t>
            </a:r>
            <a:endParaRPr b="0"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28"/>
          <p:cNvSpPr txBox="1"/>
          <p:nvPr/>
        </p:nvSpPr>
        <p:spPr>
          <a:xfrm>
            <a:off x="5948837" y="2687009"/>
            <a:ext cx="239125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</a:pPr>
            <a:r>
              <a:rPr b="0" i="0" lang="mn-MN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Тоо баримт, жишээ ашиглавал илүү үр дүнтэй.</a:t>
            </a:r>
            <a:endParaRPr b="0"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" name="Google Shape;389;p28"/>
          <p:cNvSpPr txBox="1"/>
          <p:nvPr/>
        </p:nvSpPr>
        <p:spPr>
          <a:xfrm>
            <a:off x="5948837" y="3872203"/>
            <a:ext cx="239125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</a:pPr>
            <a:r>
              <a:rPr b="0" i="0" lang="mn-MN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Бид хэрэглэгчдэдээ үнэ цэн бүтээхийг зорьдог.</a:t>
            </a:r>
            <a:endParaRPr b="0"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0" name="Google Shape;390;p28"/>
          <p:cNvCxnSpPr/>
          <p:nvPr/>
        </p:nvCxnSpPr>
        <p:spPr>
          <a:xfrm>
            <a:off x="5948837" y="2371411"/>
            <a:ext cx="2391254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1" name="Google Shape;391;p28"/>
          <p:cNvCxnSpPr/>
          <p:nvPr/>
        </p:nvCxnSpPr>
        <p:spPr>
          <a:xfrm>
            <a:off x="5948837" y="3556604"/>
            <a:ext cx="2391254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92" name="Google Shape;392;p28"/>
          <p:cNvGrpSpPr/>
          <p:nvPr/>
        </p:nvGrpSpPr>
        <p:grpSpPr>
          <a:xfrm rot="-8100000">
            <a:off x="4934070" y="2944723"/>
            <a:ext cx="228758" cy="228758"/>
            <a:chOff x="2003068" y="5123820"/>
            <a:chExt cx="369062" cy="369062"/>
          </a:xfrm>
        </p:grpSpPr>
        <p:sp>
          <p:nvSpPr>
            <p:cNvPr id="393" name="Google Shape;393;p28"/>
            <p:cNvSpPr/>
            <p:nvPr/>
          </p:nvSpPr>
          <p:spPr>
            <a:xfrm>
              <a:off x="2003068" y="5123820"/>
              <a:ext cx="369062" cy="369062"/>
            </a:xfrm>
            <a:prstGeom prst="ellipse">
              <a:avLst/>
            </a:prstGeom>
            <a:solidFill>
              <a:srgbClr val="F8C662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94" name="Google Shape;394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085115" y="5205867"/>
              <a:ext cx="204966" cy="2049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5" name="Google Shape;395;p28"/>
          <p:cNvSpPr/>
          <p:nvPr/>
        </p:nvSpPr>
        <p:spPr>
          <a:xfrm>
            <a:off x="4870517" y="2881170"/>
            <a:ext cx="355864" cy="355864"/>
          </a:xfrm>
          <a:prstGeom prst="ellipse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96" name="Google Shape;396;p28"/>
          <p:cNvGrpSpPr/>
          <p:nvPr/>
        </p:nvGrpSpPr>
        <p:grpSpPr>
          <a:xfrm>
            <a:off x="5432714" y="1501815"/>
            <a:ext cx="355864" cy="355864"/>
            <a:chOff x="7243619" y="2002420"/>
            <a:chExt cx="474485" cy="474485"/>
          </a:xfrm>
        </p:grpSpPr>
        <p:sp>
          <p:nvSpPr>
            <p:cNvPr id="397" name="Google Shape;397;p28"/>
            <p:cNvSpPr/>
            <p:nvPr/>
          </p:nvSpPr>
          <p:spPr>
            <a:xfrm>
              <a:off x="7328356" y="2087157"/>
              <a:ext cx="305010" cy="305010"/>
            </a:xfrm>
            <a:prstGeom prst="ellipse">
              <a:avLst/>
            </a:prstGeom>
            <a:solidFill>
              <a:srgbClr val="D4910A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7243619" y="2002420"/>
              <a:ext cx="474485" cy="474485"/>
            </a:xfrm>
            <a:prstGeom prst="ellipse">
              <a:avLst/>
            </a:prstGeom>
            <a:noFill/>
            <a:ln cap="flat" cmpd="sng" w="9525">
              <a:solidFill>
                <a:srgbClr val="F2F2F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99" name="Google Shape;399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93932" y="2152733"/>
              <a:ext cx="173858" cy="1738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28"/>
          <p:cNvGrpSpPr/>
          <p:nvPr/>
        </p:nvGrpSpPr>
        <p:grpSpPr>
          <a:xfrm>
            <a:off x="5432714" y="2687009"/>
            <a:ext cx="355864" cy="355864"/>
            <a:chOff x="7243619" y="3582678"/>
            <a:chExt cx="474485" cy="474485"/>
          </a:xfrm>
        </p:grpSpPr>
        <p:sp>
          <p:nvSpPr>
            <p:cNvPr id="401" name="Google Shape;401;p28"/>
            <p:cNvSpPr/>
            <p:nvPr/>
          </p:nvSpPr>
          <p:spPr>
            <a:xfrm>
              <a:off x="7328356" y="3667415"/>
              <a:ext cx="305010" cy="30501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7243619" y="3582678"/>
              <a:ext cx="474485" cy="474485"/>
            </a:xfrm>
            <a:prstGeom prst="ellipse">
              <a:avLst/>
            </a:prstGeom>
            <a:noFill/>
            <a:ln cap="flat" cmpd="sng" w="9525">
              <a:solidFill>
                <a:srgbClr val="F2F2F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03" name="Google Shape;403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93932" y="3732991"/>
              <a:ext cx="173858" cy="1738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4" name="Google Shape;404;p28"/>
          <p:cNvGrpSpPr/>
          <p:nvPr/>
        </p:nvGrpSpPr>
        <p:grpSpPr>
          <a:xfrm>
            <a:off x="5432714" y="3872203"/>
            <a:ext cx="355864" cy="355864"/>
            <a:chOff x="7243619" y="5162938"/>
            <a:chExt cx="474485" cy="474485"/>
          </a:xfrm>
        </p:grpSpPr>
        <p:sp>
          <p:nvSpPr>
            <p:cNvPr id="405" name="Google Shape;405;p28"/>
            <p:cNvSpPr/>
            <p:nvPr/>
          </p:nvSpPr>
          <p:spPr>
            <a:xfrm>
              <a:off x="7328356" y="5247675"/>
              <a:ext cx="305010" cy="30501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7243619" y="5162938"/>
              <a:ext cx="474485" cy="474485"/>
            </a:xfrm>
            <a:prstGeom prst="ellipse">
              <a:avLst/>
            </a:prstGeom>
            <a:noFill/>
            <a:ln cap="flat" cmpd="sng" w="9525">
              <a:solidFill>
                <a:srgbClr val="F2F2F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07" name="Google Shape;407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93932" y="5313251"/>
              <a:ext cx="173858" cy="17385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29"/>
          <p:cNvPicPr preferRelativeResize="0"/>
          <p:nvPr/>
        </p:nvPicPr>
        <p:blipFill rotWithShape="1">
          <a:blip r:embed="rId3">
            <a:alphaModFix/>
          </a:blip>
          <a:srcRect b="405" l="2820" r="77157" t="19150"/>
          <a:stretch/>
        </p:blipFill>
        <p:spPr>
          <a:xfrm flipH="1">
            <a:off x="9052" y="0"/>
            <a:ext cx="19235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9"/>
          <p:cNvSpPr txBox="1"/>
          <p:nvPr>
            <p:ph idx="11" type="ftr"/>
          </p:nvPr>
        </p:nvSpPr>
        <p:spPr>
          <a:xfrm>
            <a:off x="453390" y="4843590"/>
            <a:ext cx="3086100" cy="1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mn-MN"/>
              <a:t>Стратегийн хүрээ </a:t>
            </a:r>
            <a:r>
              <a:rPr lang="mn-MN"/>
              <a:t>· Алтан тойрог</a:t>
            </a:r>
            <a:endParaRPr/>
          </a:p>
        </p:txBody>
      </p:sp>
      <p:sp>
        <p:nvSpPr>
          <p:cNvPr id="415" name="Google Shape;415;p29"/>
          <p:cNvSpPr txBox="1"/>
          <p:nvPr>
            <p:ph idx="12" type="sldNum"/>
          </p:nvPr>
        </p:nvSpPr>
        <p:spPr>
          <a:xfrm>
            <a:off x="8685133" y="4792247"/>
            <a:ext cx="224790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>
                <a:solidFill>
                  <a:schemeClr val="lt1"/>
                </a:solidFill>
              </a:rPr>
              <a:t>0</a:t>
            </a: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16" name="Google Shape;416;p29"/>
          <p:cNvSpPr txBox="1"/>
          <p:nvPr/>
        </p:nvSpPr>
        <p:spPr>
          <a:xfrm rot="5400000">
            <a:off x="6672056" y="2262395"/>
            <a:ext cx="425094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mn-MN" sz="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Бүх эрх хуулиар хамгаалагдсан.</a:t>
            </a:r>
            <a:endParaRPr b="0" i="0" sz="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7" name="Google Shape;417;p29"/>
          <p:cNvCxnSpPr/>
          <p:nvPr/>
        </p:nvCxnSpPr>
        <p:spPr>
          <a:xfrm>
            <a:off x="8791577" y="0"/>
            <a:ext cx="0" cy="329755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8" name="Google Shape;418;p29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29"/>
          <p:cNvSpPr txBox="1"/>
          <p:nvPr/>
        </p:nvSpPr>
        <p:spPr>
          <a:xfrm>
            <a:off x="2063620" y="565781"/>
            <a:ext cx="2075506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None/>
            </a:pPr>
            <a:r>
              <a:rPr b="1" i="0" lang="mn-MN" sz="24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Тойргийн диаграм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9"/>
          <p:cNvSpPr txBox="1"/>
          <p:nvPr/>
        </p:nvSpPr>
        <p:spPr>
          <a:xfrm>
            <a:off x="2120443" y="1354543"/>
            <a:ext cx="1508519" cy="334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Гарчгийн дэлгэрэнгүй тайлбар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2063619" y="242342"/>
            <a:ext cx="228600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29"/>
          <p:cNvGrpSpPr/>
          <p:nvPr/>
        </p:nvGrpSpPr>
        <p:grpSpPr>
          <a:xfrm>
            <a:off x="2080622" y="3669457"/>
            <a:ext cx="1958314" cy="855331"/>
            <a:chOff x="2774163" y="4892610"/>
            <a:chExt cx="2611085" cy="1140441"/>
          </a:xfrm>
        </p:grpSpPr>
        <p:sp>
          <p:nvSpPr>
            <p:cNvPr id="423" name="Google Shape;423;p29"/>
            <p:cNvSpPr/>
            <p:nvPr/>
          </p:nvSpPr>
          <p:spPr>
            <a:xfrm>
              <a:off x="2774163" y="5425647"/>
              <a:ext cx="2611085" cy="607404"/>
            </a:xfrm>
            <a:prstGeom prst="ellipse">
              <a:avLst/>
            </a:prstGeom>
            <a:solidFill>
              <a:srgbClr val="3A3A3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2774163" y="4892610"/>
              <a:ext cx="2611085" cy="832158"/>
            </a:xfrm>
            <a:prstGeom prst="rect">
              <a:avLst/>
            </a:prstGeom>
            <a:solidFill>
              <a:srgbClr val="3A3A3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25" name="Google Shape;425;p29"/>
          <p:cNvSpPr/>
          <p:nvPr/>
        </p:nvSpPr>
        <p:spPr>
          <a:xfrm>
            <a:off x="2080622" y="3441681"/>
            <a:ext cx="1958314" cy="455553"/>
          </a:xfrm>
          <a:prstGeom prst="ellipse">
            <a:avLst/>
          </a:prstGeom>
          <a:solidFill>
            <a:srgbClr val="4B4B4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6" name="Google Shape;426;p29"/>
          <p:cNvSpPr/>
          <p:nvPr/>
        </p:nvSpPr>
        <p:spPr>
          <a:xfrm>
            <a:off x="2203468" y="3506153"/>
            <a:ext cx="1712622" cy="326608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7" name="Google Shape;427;p29"/>
          <p:cNvSpPr/>
          <p:nvPr/>
        </p:nvSpPr>
        <p:spPr>
          <a:xfrm>
            <a:off x="4275039" y="4069235"/>
            <a:ext cx="1958314" cy="455553"/>
          </a:xfrm>
          <a:prstGeom prst="ellipse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29"/>
          <p:cNvSpPr/>
          <p:nvPr/>
        </p:nvSpPr>
        <p:spPr>
          <a:xfrm>
            <a:off x="4275039" y="3441681"/>
            <a:ext cx="1958314" cy="851895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29"/>
          <p:cNvSpPr/>
          <p:nvPr/>
        </p:nvSpPr>
        <p:spPr>
          <a:xfrm>
            <a:off x="4275039" y="3213905"/>
            <a:ext cx="1958314" cy="455553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29"/>
          <p:cNvSpPr/>
          <p:nvPr/>
        </p:nvSpPr>
        <p:spPr>
          <a:xfrm>
            <a:off x="4397885" y="3278377"/>
            <a:ext cx="1712622" cy="326608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29"/>
          <p:cNvSpPr txBox="1"/>
          <p:nvPr/>
        </p:nvSpPr>
        <p:spPr>
          <a:xfrm>
            <a:off x="2080622" y="2693570"/>
            <a:ext cx="188976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Шинэ боломжийг цаг алдалгүй ашиглана.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9"/>
          <p:cNvSpPr txBox="1"/>
          <p:nvPr/>
        </p:nvSpPr>
        <p:spPr>
          <a:xfrm>
            <a:off x="2080622" y="2399759"/>
            <a:ext cx="188976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mn-MN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Гарчиг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9"/>
          <p:cNvSpPr txBox="1"/>
          <p:nvPr/>
        </p:nvSpPr>
        <p:spPr>
          <a:xfrm>
            <a:off x="4275039" y="2451700"/>
            <a:ext cx="188976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Үр дүнд суурилсан шийдлийг санал болгоно.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9"/>
          <p:cNvSpPr txBox="1"/>
          <p:nvPr/>
        </p:nvSpPr>
        <p:spPr>
          <a:xfrm>
            <a:off x="4275039" y="2157888"/>
            <a:ext cx="188976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mn-MN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Гарчиг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9"/>
          <p:cNvSpPr txBox="1"/>
          <p:nvPr/>
        </p:nvSpPr>
        <p:spPr>
          <a:xfrm>
            <a:off x="6469455" y="2140220"/>
            <a:ext cx="1785189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Харилцагчидтайгаа урт хугацааны түншлэл тогтооно.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9"/>
          <p:cNvSpPr txBox="1"/>
          <p:nvPr/>
        </p:nvSpPr>
        <p:spPr>
          <a:xfrm>
            <a:off x="6469455" y="1846409"/>
            <a:ext cx="1785189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mn-MN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Гарчиг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9"/>
          <p:cNvSpPr/>
          <p:nvPr/>
        </p:nvSpPr>
        <p:spPr>
          <a:xfrm>
            <a:off x="6469455" y="3196531"/>
            <a:ext cx="1958314" cy="1328258"/>
          </a:xfrm>
          <a:custGeom>
            <a:rect b="b" l="l" r="r" t="t"/>
            <a:pathLst>
              <a:path extrusionOk="0" h="1328258" w="1958314">
                <a:moveTo>
                  <a:pt x="0" y="0"/>
                </a:moveTo>
                <a:lnTo>
                  <a:pt x="1958314" y="0"/>
                </a:lnTo>
                <a:lnTo>
                  <a:pt x="1958314" y="1097045"/>
                </a:lnTo>
                <a:lnTo>
                  <a:pt x="1956825" y="1097045"/>
                </a:lnTo>
                <a:lnTo>
                  <a:pt x="1958314" y="1100481"/>
                </a:lnTo>
                <a:cubicBezTo>
                  <a:pt x="1958314" y="1226279"/>
                  <a:pt x="1519930" y="1328258"/>
                  <a:pt x="979157" y="1328258"/>
                </a:cubicBezTo>
                <a:cubicBezTo>
                  <a:pt x="438384" y="1328258"/>
                  <a:pt x="0" y="1226279"/>
                  <a:pt x="0" y="1100481"/>
                </a:cubicBezTo>
                <a:lnTo>
                  <a:pt x="1489" y="1097045"/>
                </a:lnTo>
                <a:lnTo>
                  <a:pt x="0" y="1097045"/>
                </a:lnTo>
                <a:close/>
              </a:path>
            </a:pathLst>
          </a:custGeom>
          <a:gradFill>
            <a:gsLst>
              <a:gs pos="0">
                <a:srgbClr val="F8C662"/>
              </a:gs>
              <a:gs pos="84000">
                <a:srgbClr val="D4910A"/>
              </a:gs>
              <a:gs pos="100000">
                <a:srgbClr val="D4910A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6469455" y="2982693"/>
            <a:ext cx="1958314" cy="455553"/>
          </a:xfrm>
          <a:prstGeom prst="ellipse">
            <a:avLst/>
          </a:prstGeom>
          <a:solidFill>
            <a:srgbClr val="D9981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6592301" y="3047165"/>
            <a:ext cx="1712622" cy="326608"/>
          </a:xfrm>
          <a:prstGeom prst="ellipse">
            <a:avLst/>
          </a:prstGeom>
          <a:solidFill>
            <a:srgbClr val="EEB74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0" name="Google Shape;440;p29"/>
          <p:cNvCxnSpPr/>
          <p:nvPr/>
        </p:nvCxnSpPr>
        <p:spPr>
          <a:xfrm>
            <a:off x="6351404" y="1618115"/>
            <a:ext cx="0" cy="2906674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1" name="Google Shape;441;p29"/>
          <p:cNvCxnSpPr/>
          <p:nvPr/>
        </p:nvCxnSpPr>
        <p:spPr>
          <a:xfrm>
            <a:off x="4156988" y="1929595"/>
            <a:ext cx="0" cy="2595194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2" name="Google Shape;442;p29"/>
          <p:cNvSpPr txBox="1"/>
          <p:nvPr/>
        </p:nvSpPr>
        <p:spPr>
          <a:xfrm>
            <a:off x="6940532" y="3730977"/>
            <a:ext cx="10667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mn-MN" sz="24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Юу</a:t>
            </a:r>
            <a:endParaRPr b="0" i="0" sz="18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4749690" y="3884866"/>
            <a:ext cx="10667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mn-MN" sz="2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Хэрхэн</a:t>
            </a:r>
            <a:endParaRPr b="0" i="0" sz="18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2490583" y="4030057"/>
            <a:ext cx="10667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mn-MN" sz="2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Яагаад</a:t>
            </a:r>
            <a:endParaRPr b="0" i="0" sz="18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hadow of a person in a building&#10;&#10;AI-generated content may be incorrect." id="449" name="Google Shape;449;p30"/>
          <p:cNvPicPr preferRelativeResize="0"/>
          <p:nvPr/>
        </p:nvPicPr>
        <p:blipFill rotWithShape="1">
          <a:blip r:embed="rId3">
            <a:alphaModFix amt="20000"/>
          </a:blip>
          <a:srcRect b="26662" l="6659" r="10743" t="3730"/>
          <a:stretch/>
        </p:blipFill>
        <p:spPr>
          <a:xfrm rot="10800000">
            <a:off x="0" y="-9767"/>
            <a:ext cx="9161364" cy="515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0"/>
          <p:cNvPicPr preferRelativeResize="0"/>
          <p:nvPr/>
        </p:nvPicPr>
        <p:blipFill rotWithShape="1">
          <a:blip r:embed="rId4">
            <a:alphaModFix/>
          </a:blip>
          <a:srcRect b="16301" l="36139" r="6621" t="7212"/>
          <a:stretch/>
        </p:blipFill>
        <p:spPr>
          <a:xfrm>
            <a:off x="0" y="434340"/>
            <a:ext cx="5286375" cy="470916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0"/>
          <p:cNvSpPr txBox="1"/>
          <p:nvPr/>
        </p:nvSpPr>
        <p:spPr>
          <a:xfrm>
            <a:off x="4341593" y="2008470"/>
            <a:ext cx="4368067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mn-MN" sz="41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Баярлалаа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672" name="Graphican лого"/>
          <p:cNvPicPr/>
          <p:nvPr/>
        </p:nvPicPr>
        <p:blipFill>
          <a:blip r:embed="rIdGc1"/>
          <a:stretch>
            <a:fillRect/>
          </a:stretch>
        </p:blipFill>
        <p:spPr>
          <a:xfrm>
            <a:off x="4342493" y="1335307"/>
            <a:ext cx="755853" cy="215217"/>
          </a:xfrm>
          <a:prstGeom prst="rect">
            <a:avLst/>
          </a:prstGeom>
        </p:spPr>
      </p:pic>
      <p:cxnSp>
        <p:nvCxnSpPr>
          <p:cNvPr id="455" name="Google Shape;455;p30"/>
          <p:cNvCxnSpPr/>
          <p:nvPr/>
        </p:nvCxnSpPr>
        <p:spPr>
          <a:xfrm>
            <a:off x="4711395" y="2895600"/>
            <a:ext cx="4005885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6" name="Google Shape;456;p30"/>
          <p:cNvCxnSpPr/>
          <p:nvPr/>
        </p:nvCxnSpPr>
        <p:spPr>
          <a:xfrm>
            <a:off x="4342587" y="2895600"/>
            <a:ext cx="368808" cy="0"/>
          </a:xfrm>
          <a:prstGeom prst="straightConnector1">
            <a:avLst/>
          </a:prstGeom>
          <a:noFill/>
          <a:ln cap="flat" cmpd="sng" w="25400">
            <a:solidFill>
              <a:srgbClr val="D4910A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