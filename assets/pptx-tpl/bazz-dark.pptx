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57" r:id="rId3"/>
    <p:sldId id="466" r:id="rId4"/>
    <p:sldId id="482" r:id="rId5"/>
    <p:sldId id="493" r:id="rId6"/>
    <p:sldId id="521" r:id="rId7"/>
    <p:sldId id="609" r:id="rId8"/>
    <p:sldId id="630" r:id="rId9"/>
    <p:sldId id="635" r:id="rId10"/>
    <p:sldId id="643" r:id="rId11"/>
    <p:sldId id="65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tzorig" initials="B" lastIdx="1" clrIdx="0">
    <p:extLst>
      <p:ext uri="{19B8F6BF-5375-455C-9EA6-DF929625EA0E}">
        <p15:presenceInfo xmlns:p15="http://schemas.microsoft.com/office/powerpoint/2012/main" userId="Batzori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4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D728C-49AD-4D69-BB5D-3B31897CD2A8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E9193-B337-4E1F-A788-4C0EEA4B4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26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CF385-4583-448F-8705-34129DF5B2C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B2A13-6495-4AD3-9924-78B841E5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8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1" y="1253007"/>
            <a:ext cx="4571999" cy="10234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400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89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6">
            <a:extLst>
              <a:ext uri="{FF2B5EF4-FFF2-40B4-BE49-F238E27FC236}">
                <a16:creationId xmlns:a16="http://schemas.microsoft.com/office/drawing/2014/main" id="{150E8732-62C3-4981-B8BF-A5B6D454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1253007"/>
            <a:ext cx="3047999" cy="10234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0668001" y="765175"/>
            <a:ext cx="1523999" cy="6092825"/>
          </a:xfrm>
          <a:prstGeom prst="rect">
            <a:avLst/>
          </a:pr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20000"/>
                </a:schemeClr>
              </a:gs>
            </a:gsLst>
            <a:lin ang="5400000" scaled="1"/>
          </a:gra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A93843-353A-4FE9-A5A0-A4C555E96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1253008"/>
            <a:ext cx="3058950" cy="7487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B1AD8-AC37-45CE-889C-05ACF1A6ABFF}"/>
              </a:ext>
            </a:extLst>
          </p:cNvPr>
          <p:cNvSpPr/>
          <p:nvPr userDrawn="1"/>
        </p:nvSpPr>
        <p:spPr>
          <a:xfrm>
            <a:off x="1523722" y="5734447"/>
            <a:ext cx="1523999" cy="1123553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385AB3-E907-45F8-8E84-0E334B160B4C}"/>
              </a:ext>
            </a:extLst>
          </p:cNvPr>
          <p:cNvSpPr/>
          <p:nvPr userDrawn="1"/>
        </p:nvSpPr>
        <p:spPr>
          <a:xfrm>
            <a:off x="3052006" y="5215207"/>
            <a:ext cx="1523999" cy="1642793"/>
          </a:xfrm>
          <a:prstGeom prst="rect">
            <a:avLst/>
          </a:prstGeom>
          <a:solidFill>
            <a:schemeClr val="bg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FBBAAC-CAEF-421C-BB77-97426169AFC3}"/>
              </a:ext>
            </a:extLst>
          </p:cNvPr>
          <p:cNvSpPr/>
          <p:nvPr userDrawn="1"/>
        </p:nvSpPr>
        <p:spPr>
          <a:xfrm>
            <a:off x="4582951" y="4777155"/>
            <a:ext cx="1523999" cy="2080845"/>
          </a:xfrm>
          <a:prstGeom prst="rect">
            <a:avLst/>
          </a:prstGeom>
          <a:solidFill>
            <a:schemeClr val="bg1">
              <a:lumMod val="90000"/>
              <a:lumOff val="1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8B0D70-599E-4D44-8182-C40E62EA3C6E}"/>
              </a:ext>
            </a:extLst>
          </p:cNvPr>
          <p:cNvSpPr/>
          <p:nvPr userDrawn="1"/>
        </p:nvSpPr>
        <p:spPr>
          <a:xfrm>
            <a:off x="6102188" y="3937521"/>
            <a:ext cx="1523999" cy="2920480"/>
          </a:xfrm>
          <a:prstGeom prst="rect">
            <a:avLst/>
          </a:prstGeom>
          <a:solidFill>
            <a:schemeClr val="bg1">
              <a:lumMod val="90000"/>
              <a:lumOff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D758A-37BB-4B09-967F-6B4979DB088A}"/>
              </a:ext>
            </a:extLst>
          </p:cNvPr>
          <p:cNvSpPr/>
          <p:nvPr userDrawn="1"/>
        </p:nvSpPr>
        <p:spPr>
          <a:xfrm>
            <a:off x="7625476" y="3347087"/>
            <a:ext cx="1523999" cy="3510914"/>
          </a:xfrm>
          <a:prstGeom prst="rect">
            <a:avLst/>
          </a:prstGeom>
          <a:solidFill>
            <a:schemeClr val="bg1">
              <a:lumMod val="90000"/>
              <a:lumOff val="1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7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mph" presetSubtype="0" accel="50000" decel="50000" autoRev="1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02000" y="10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1" y="1253007"/>
            <a:ext cx="4571999" cy="10234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B5728D37-BA34-4F8E-9427-294CB47C7D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73" y="2276475"/>
            <a:ext cx="1522227" cy="4581525"/>
          </a:xfrm>
          <a:prstGeom prst="rect">
            <a:avLst/>
          </a:pr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20000"/>
                </a:schemeClr>
              </a:gs>
            </a:gsLst>
            <a:lin ang="5400000" scaled="1"/>
          </a:gra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6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1" y="1253007"/>
            <a:ext cx="4571999" cy="10234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40DF16-E805-412E-B853-48F79994E4C8}"/>
              </a:ext>
            </a:extLst>
          </p:cNvPr>
          <p:cNvSpPr/>
          <p:nvPr userDrawn="1"/>
        </p:nvSpPr>
        <p:spPr>
          <a:xfrm>
            <a:off x="0" y="5346701"/>
            <a:ext cx="1522227" cy="151129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F7AC47A-2E84-4947-9B39-1E8EBB243A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668001" y="765175"/>
            <a:ext cx="1518833" cy="1511299"/>
          </a:xfrm>
          <a:prstGeom prst="rect">
            <a:avLst/>
          </a:pr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20000"/>
                </a:schemeClr>
              </a:gs>
            </a:gsLst>
            <a:lin ang="5400000" scaled="1"/>
          </a:gra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80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accel="50000" decel="5000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6" grpId="1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1" y="1253007"/>
            <a:ext cx="4571999" cy="10234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F7AC47A-2E84-4947-9B39-1E8EBB243A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668001" y="1"/>
            <a:ext cx="1518833" cy="2276474"/>
          </a:xfrm>
          <a:prstGeom prst="rect">
            <a:avLst/>
          </a:pr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20000"/>
                </a:schemeClr>
              </a:gs>
            </a:gsLst>
            <a:lin ang="5400000" scaled="1"/>
          </a:gra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70D5ED-447C-41B7-BFDB-4E9C3BBE4499}"/>
              </a:ext>
            </a:extLst>
          </p:cNvPr>
          <p:cNvSpPr/>
          <p:nvPr userDrawn="1"/>
        </p:nvSpPr>
        <p:spPr>
          <a:xfrm>
            <a:off x="9145772" y="0"/>
            <a:ext cx="1522227" cy="1253007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D0DBFEBF-BFBA-4283-91ED-9DB7AD92D2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3" y="2276474"/>
            <a:ext cx="3051978" cy="4581526"/>
          </a:xfrm>
          <a:prstGeom prst="rect">
            <a:avLst/>
          </a:pr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20000"/>
                </a:schemeClr>
              </a:gs>
            </a:gsLst>
            <a:lin ang="5400000" scaled="1"/>
          </a:gra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3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accel="50000" decel="50000" autoRev="1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4" grpId="0" animBg="1"/>
      <p:bldP spid="5" grpId="0" animBg="1"/>
      <p:bldP spid="5" grpId="1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E6E78783-8050-407C-AA00-63A18620E7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000" y="2895940"/>
            <a:ext cx="3047998" cy="1485220"/>
          </a:xfrm>
          <a:prstGeom prst="rect">
            <a:avLst/>
          </a:pr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20000"/>
                </a:schemeClr>
              </a:gs>
            </a:gsLst>
            <a:lin ang="5400000" scaled="1"/>
          </a:gra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C0F5B1AB-5F6F-4F80-A493-A4C6FD59BA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1998" y="2895940"/>
            <a:ext cx="3047998" cy="1485220"/>
          </a:xfrm>
          <a:prstGeom prst="rect">
            <a:avLst/>
          </a:pr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20000"/>
                </a:schemeClr>
              </a:gs>
            </a:gsLst>
            <a:lin ang="5400000" scaled="1"/>
          </a:gra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E19B8A20-3BEF-43BA-AFF1-6AD052E36F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19996" y="2895940"/>
            <a:ext cx="3047998" cy="1485220"/>
          </a:xfrm>
          <a:prstGeom prst="rect">
            <a:avLst/>
          </a:prstGeom>
          <a:gradFill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20000"/>
                </a:schemeClr>
              </a:gs>
            </a:gsLst>
            <a:lin ang="5400000" scaled="1"/>
          </a:gra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150E8732-62C3-4981-B8BF-A5B6D454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1253007"/>
            <a:ext cx="3047999" cy="10234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386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autoRev="1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mph" presetSubtype="0" accel="50000" decel="50000" autoRev="1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1" y="1253008"/>
            <a:ext cx="9144000" cy="74878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524847" y="0"/>
            <a:ext cx="0" cy="6858001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3049694" y="0"/>
            <a:ext cx="0" cy="6858001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4574541" y="0"/>
            <a:ext cx="0" cy="6858001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6099388" y="0"/>
            <a:ext cx="0" cy="6858001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7624235" y="0"/>
            <a:ext cx="0" cy="6858001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9149082" y="0"/>
            <a:ext cx="0" cy="6858001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10673929" y="0"/>
            <a:ext cx="0" cy="6858001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2"/>
          <p:cNvSpPr>
            <a:spLocks noGrp="1"/>
          </p:cNvSpPr>
          <p:nvPr>
            <p:ph type="body" idx="1"/>
          </p:nvPr>
        </p:nvSpPr>
        <p:spPr>
          <a:xfrm>
            <a:off x="1524000" y="2276475"/>
            <a:ext cx="9144000" cy="39004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209C1-2ECB-49BA-8B78-BADD3A612CA3}"/>
              </a:ext>
            </a:extLst>
          </p:cNvPr>
          <p:cNvSpPr/>
          <p:nvPr userDrawn="1"/>
        </p:nvSpPr>
        <p:spPr>
          <a:xfrm>
            <a:off x="-6772" y="-7514"/>
            <a:ext cx="1524842" cy="6865513"/>
          </a:xfrm>
          <a:prstGeom prst="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B016A3-76A8-49A7-ACFC-A0300DCAC3C6}"/>
              </a:ext>
            </a:extLst>
          </p:cNvPr>
          <p:cNvSpPr/>
          <p:nvPr userDrawn="1"/>
        </p:nvSpPr>
        <p:spPr>
          <a:xfrm>
            <a:off x="1531624" y="-7514"/>
            <a:ext cx="1516793" cy="6865513"/>
          </a:xfrm>
          <a:prstGeom prst="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88287C-59EF-4E95-A26D-2D075D7DF1AF}"/>
              </a:ext>
            </a:extLst>
          </p:cNvPr>
          <p:cNvSpPr/>
          <p:nvPr userDrawn="1"/>
        </p:nvSpPr>
        <p:spPr>
          <a:xfrm>
            <a:off x="3049690" y="-7514"/>
            <a:ext cx="1524848" cy="6865513"/>
          </a:xfrm>
          <a:prstGeom prst="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287BFD-F41A-4A12-993B-1AF857A9E38A}"/>
              </a:ext>
            </a:extLst>
          </p:cNvPr>
          <p:cNvSpPr/>
          <p:nvPr userDrawn="1"/>
        </p:nvSpPr>
        <p:spPr>
          <a:xfrm>
            <a:off x="4574537" y="-7514"/>
            <a:ext cx="1524843" cy="6865513"/>
          </a:xfrm>
          <a:prstGeom prst="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3A1F0F-F354-4D81-87E2-043CA1600586}"/>
              </a:ext>
            </a:extLst>
          </p:cNvPr>
          <p:cNvSpPr/>
          <p:nvPr userDrawn="1"/>
        </p:nvSpPr>
        <p:spPr>
          <a:xfrm>
            <a:off x="6099388" y="-7514"/>
            <a:ext cx="1518918" cy="6865513"/>
          </a:xfrm>
          <a:prstGeom prst="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547D20-75F3-4C2D-9CEE-9961D5A0EB59}"/>
              </a:ext>
            </a:extLst>
          </p:cNvPr>
          <p:cNvSpPr/>
          <p:nvPr userDrawn="1"/>
        </p:nvSpPr>
        <p:spPr>
          <a:xfrm>
            <a:off x="7633129" y="-7514"/>
            <a:ext cx="1510020" cy="6865513"/>
          </a:xfrm>
          <a:prstGeom prst="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8882F7-70A9-4A12-917D-4936A5249137}"/>
              </a:ext>
            </a:extLst>
          </p:cNvPr>
          <p:cNvSpPr/>
          <p:nvPr userDrawn="1"/>
        </p:nvSpPr>
        <p:spPr>
          <a:xfrm>
            <a:off x="9157981" y="-7514"/>
            <a:ext cx="1510020" cy="6865513"/>
          </a:xfrm>
          <a:prstGeom prst="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BCD274-8E1B-4BC2-B885-21988564FD12}"/>
              </a:ext>
            </a:extLst>
          </p:cNvPr>
          <p:cNvSpPr/>
          <p:nvPr userDrawn="1"/>
        </p:nvSpPr>
        <p:spPr>
          <a:xfrm>
            <a:off x="10667152" y="-7514"/>
            <a:ext cx="1524847" cy="6865513"/>
          </a:xfrm>
          <a:prstGeom prst="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99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86" r:id="rId2"/>
    <p:sldLayoutId id="2147483739" r:id="rId3"/>
    <p:sldLayoutId id="2147483741" r:id="rId4"/>
    <p:sldLayoutId id="2147483757" r:id="rId5"/>
    <p:sldLayoutId id="2147483759" r:id="rId6"/>
    <p:sldLayoutId id="2147483766" r:id="rId7"/>
    <p:sldLayoutId id="2147483778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xit" presetSubtype="4" ac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xit" presetSubtype="4" ac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xit" presetSubtype="4" ac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xit" presetSubtype="4" ac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1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xit" presetSubtype="4" ac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xit" presetSubtype="4" accel="100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xit" presetSubtype="4" accel="10000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xit" presetSubtype="4" accel="10000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mph" presetSubtype="2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mph" presetSubtype="2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3" grpId="1" animBg="1"/>
      <p:bldP spid="12" grpId="0" animBg="1"/>
      <p:bldP spid="12" grpId="1" animBg="1"/>
      <p:bldP spid="14" grpId="0" animBg="1"/>
      <p:bldP spid="14" grpId="1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</p:bldLst>
  </p:timing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None/>
        <a:defRPr sz="1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None/>
        <a:defRPr sz="1000" kern="1200">
          <a:solidFill>
            <a:schemeClr val="tx1">
              <a:alpha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960" userDrawn="1">
          <p15:clr>
            <a:srgbClr val="F26B43"/>
          </p15:clr>
        </p15:guide>
        <p15:guide id="3" orient="horz" pos="482" userDrawn="1">
          <p15:clr>
            <a:srgbClr val="F26B43"/>
          </p15:clr>
        </p15:guide>
        <p15:guide id="4" orient="horz" pos="1434" userDrawn="1">
          <p15:clr>
            <a:srgbClr val="F26B43"/>
          </p15:clr>
        </p15:guide>
        <p15:guide id="5" pos="6720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5768" userDrawn="1">
          <p15:clr>
            <a:srgbClr val="F26B43"/>
          </p15:clr>
        </p15:guide>
      </p15:sldGuideLst>
    </p:ext>
  </p:extLst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0A018-8BB3-421E-8D80-78E6C0FA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Бидний баг ба </a:t>
            </a:r>
            <a:r>
              <a:rPr lang="mn-MN" dirty="0">
                <a:solidFill>
                  <a:schemeClr val="accent1"/>
                </a:solidFill>
              </a:rPr>
              <a:t>хэрэгслүүд.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014A72-6F1E-4ED0-B9B6-E1C2EB812FF6}"/>
              </a:ext>
            </a:extLst>
          </p:cNvPr>
          <p:cNvGrpSpPr/>
          <p:nvPr/>
        </p:nvGrpSpPr>
        <p:grpSpPr>
          <a:xfrm>
            <a:off x="1523999" y="765175"/>
            <a:ext cx="526943" cy="294190"/>
            <a:chOff x="1523999" y="765175"/>
            <a:chExt cx="526943" cy="2941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FB0094-17FC-4A68-9D4F-996ACE6F1CB7}"/>
                </a:ext>
              </a:extLst>
            </p:cNvPr>
            <p:cNvSpPr/>
            <p:nvPr/>
          </p:nvSpPr>
          <p:spPr>
            <a:xfrm>
              <a:off x="1523999" y="765175"/>
              <a:ext cx="526943" cy="2220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900" b="0" dirty="0">
                  <a:solidFill>
                    <a:srgbClr val="FFFFFF"/>
                  </a:solidFill>
                  <a:latin typeface="Open Sans" panose="020B0706030804020204" pitchFamily="34" charset="0"/>
                  <a:ea typeface="Open Sans" panose="020B0706030804020204" pitchFamily="34" charset="0"/>
                  <a:cs typeface="Open Sans" panose="020B0706030804020204" pitchFamily="34" charset="0"/>
                </a:rPr>
                <a:t>Тухай</a:t>
              </a:r>
            </a:p>
          </p:txBody>
        </p:sp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7E47DE92-FA07-49C9-AA4F-1843299E31C4}"/>
                </a:ext>
              </a:extLst>
            </p:cNvPr>
            <p:cNvSpPr/>
            <p:nvPr/>
          </p:nvSpPr>
          <p:spPr>
            <a:xfrm flipV="1">
              <a:off x="1524000" y="987188"/>
              <a:ext cx="72580" cy="7217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FC7C445-7DC1-42C6-8ED2-4BC647790F47}"/>
              </a:ext>
            </a:extLst>
          </p:cNvPr>
          <p:cNvSpPr txBox="1"/>
          <p:nvPr/>
        </p:nvSpPr>
        <p:spPr>
          <a:xfrm>
            <a:off x="1524001" y="4756661"/>
            <a:ext cx="2841355" cy="10674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200" dirty="0" err="1">
                <a:latin typeface="+mj-lt"/>
              </a:rPr>
              <a:t>Бат-Эрдэнэ</a:t>
            </a:r>
            <a:endParaRPr lang="en-US" sz="1200" dirty="0">
              <a:latin typeface="+mj-lt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Таны анх уулзах хүмүүс бол бизнес, UX, технологийн мэргэжилтнүүд. 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000" dirty="0">
                <a:solidFill>
                  <a:schemeClr val="accent1">
                    <a:alpha val="70000"/>
                  </a:schemeClr>
                </a:solidFill>
              </a:rPr>
              <a:t>#Блокчэйн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552E7E4-354D-412B-BF70-3BD9862DEB35}"/>
              </a:ext>
            </a:extLst>
          </p:cNvPr>
          <p:cNvCxnSpPr/>
          <p:nvPr/>
        </p:nvCxnSpPr>
        <p:spPr>
          <a:xfrm>
            <a:off x="1524000" y="4358485"/>
            <a:ext cx="793212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E96EE17-DB9D-424B-82B6-873F28E3A0FF}"/>
              </a:ext>
            </a:extLst>
          </p:cNvPr>
          <p:cNvSpPr txBox="1"/>
          <p:nvPr/>
        </p:nvSpPr>
        <p:spPr>
          <a:xfrm>
            <a:off x="4571999" y="4756661"/>
            <a:ext cx="2841355" cy="10674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200" dirty="0" err="1">
                <a:latin typeface="+mj-lt"/>
              </a:rPr>
              <a:t>Сарнай</a:t>
            </a:r>
            <a:endParaRPr lang="en-US" sz="1200" dirty="0">
              <a:latin typeface="+mj-lt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Тэд таны бизнесийг судалж, асуудлын хүрээг ярилцан зөвлөнө.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000" dirty="0">
                <a:solidFill>
                  <a:schemeClr val="accent1">
                    <a:alpha val="70000"/>
                  </a:schemeClr>
                </a:solidFill>
              </a:rPr>
              <a:t>#Крипто түрийвч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EC17195-BDD3-4EC7-8FB3-52F618E6217A}"/>
              </a:ext>
            </a:extLst>
          </p:cNvPr>
          <p:cNvCxnSpPr/>
          <p:nvPr/>
        </p:nvCxnSpPr>
        <p:spPr>
          <a:xfrm>
            <a:off x="4571998" y="4358485"/>
            <a:ext cx="793212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B818D2D-19F3-4B8B-9B14-25BA8369F47F}"/>
              </a:ext>
            </a:extLst>
          </p:cNvPr>
          <p:cNvSpPr txBox="1"/>
          <p:nvPr/>
        </p:nvSpPr>
        <p:spPr>
          <a:xfrm>
            <a:off x="7619997" y="4756661"/>
            <a:ext cx="2841355" cy="12520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200" dirty="0" err="1">
                <a:latin typeface="+mj-lt"/>
              </a:rPr>
              <a:t>Тэмүүлэн</a:t>
            </a:r>
            <a:endParaRPr lang="en-US" sz="1200" dirty="0">
              <a:latin typeface="+mj-lt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Алсын одыг ажиглах нь сэтгэлийг ариун хөгжим, сайхан зураг мэт сэргээж, бодлыг тунгалаг болгодог.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000" dirty="0">
                <a:solidFill>
                  <a:schemeClr val="accent1"/>
                </a:solidFill>
              </a:rPr>
              <a:t>#Системийн </a:t>
            </a:r>
            <a:r>
              <a:rPr lang="mn-MN" sz="1000" dirty="0" err="1">
                <a:solidFill>
                  <a:schemeClr val="accent1"/>
                </a:solidFill>
              </a:rPr>
              <a:t>инженерчлэл</a:t>
            </a:r>
            <a:endParaRPr lang="en-US" sz="1000" dirty="0">
              <a:solidFill>
                <a:schemeClr val="accent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935B766-CDC8-427D-9A87-68E8B3333D08}"/>
              </a:ext>
            </a:extLst>
          </p:cNvPr>
          <p:cNvCxnSpPr>
            <a:cxnSpLocks/>
          </p:cNvCxnSpPr>
          <p:nvPr/>
        </p:nvCxnSpPr>
        <p:spPr>
          <a:xfrm>
            <a:off x="7619996" y="4358538"/>
            <a:ext cx="3047998" cy="22622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08492C-D0F0-4745-81A8-828453CD15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FE03587-710C-42FC-AE40-D278FFCFE8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5212778-DEE8-40AE-A64C-70A5F0AFC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58624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000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56" grpId="0" build="p"/>
      <p:bldP spid="6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5FA4-64F9-4001-BBD2-E2C2DDD1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Хөгжүүлэлтийн </a:t>
            </a:r>
            <a:r>
              <a:rPr lang="mn-MN" dirty="0">
                <a:solidFill>
                  <a:schemeClr val="accent1"/>
                </a:solidFill>
              </a:rPr>
              <a:t>хуваарь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CA6E6F-B6B7-48C9-8F6A-74DF2FA679B4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2534589"/>
          <a:ext cx="9153465" cy="3070404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587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734"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1400" b="1" i="0" dirty="0">
                          <a:solidFill>
                            <a:schemeClr val="accent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Үйл ажиллагааны орлого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  <a:ea typeface="Roboto" charset="0"/>
                        <a:cs typeface="Roboto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  <a:ea typeface="Roboto" charset="0"/>
                        <a:cs typeface="Roboto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  <a:ea typeface="Roboto" charset="0"/>
                        <a:cs typeface="Roboto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544375"/>
                  </a:ext>
                </a:extLst>
              </a:tr>
              <a:tr h="5117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1200" b="0" i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Онлайн дэлгүүр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$19,800.00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$22,100.00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$100,000.00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7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1200" b="0" i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Маркетингийн кампанит ажил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$13,500.00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$26,050.00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$68,600.00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7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1200" b="0" i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Онлайн дэлгүүр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$19,800.00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$22,100.00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$100,000.00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584113"/>
                  </a:ext>
                </a:extLst>
              </a:tr>
              <a:tr h="5117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1200" b="0" i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Маркетингийн кампанит ажил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$13,500.00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$26,050.00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$68,600.00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7947"/>
                  </a:ext>
                </a:extLst>
              </a:tr>
              <a:tr h="5117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1200" b="0" i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Онлайн дэлгүүр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$19,800.00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$22,100.00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ea typeface="Roboto" charset="0"/>
                          <a:cs typeface="Roboto" charset="0"/>
                        </a:rPr>
                        <a:t>$100,000.00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24150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52D1A2A8-9467-46AA-9C36-9185694F7582}"/>
              </a:ext>
            </a:extLst>
          </p:cNvPr>
          <p:cNvGrpSpPr/>
          <p:nvPr/>
        </p:nvGrpSpPr>
        <p:grpSpPr>
          <a:xfrm>
            <a:off x="1523999" y="765175"/>
            <a:ext cx="1002507" cy="294190"/>
            <a:chOff x="1523999" y="765175"/>
            <a:chExt cx="1002507" cy="29419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F80302-7DDF-41DB-9A4B-3EB046CEA28B}"/>
                </a:ext>
              </a:extLst>
            </p:cNvPr>
            <p:cNvSpPr/>
            <p:nvPr/>
          </p:nvSpPr>
          <p:spPr>
            <a:xfrm>
              <a:off x="1523999" y="765175"/>
              <a:ext cx="1002507" cy="2220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900" b="0" dirty="0">
                  <a:solidFill>
                    <a:srgbClr val="FFFFFF"/>
                  </a:solidFill>
                  <a:latin typeface="Open Sans" panose="020B0706030804020204" pitchFamily="34" charset="0"/>
                  <a:ea typeface="Open Sans" panose="020B0706030804020204" pitchFamily="34" charset="0"/>
                  <a:cs typeface="Open Sans" panose="020B0706030804020204" pitchFamily="34" charset="0"/>
                </a:rPr>
                <a:t>Төлөвлөгөө</a:t>
              </a: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FBF83771-E409-4588-964C-ED6E08D41A66}"/>
                </a:ext>
              </a:extLst>
            </p:cNvPr>
            <p:cNvSpPr/>
            <p:nvPr/>
          </p:nvSpPr>
          <p:spPr>
            <a:xfrm flipV="1">
              <a:off x="1524000" y="987188"/>
              <a:ext cx="72580" cy="7217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277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43E8-CBCF-4D7A-8373-56C3584A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Төслийн </a:t>
            </a:r>
            <a:r>
              <a:rPr lang="mn-MN" dirty="0">
                <a:solidFill>
                  <a:schemeClr val="accent1"/>
                </a:solidFill>
              </a:rPr>
              <a:t>хуваарь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4DAC54F0-F936-46F1-BC55-23EC7386FAEA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2542292"/>
          <a:ext cx="9144000" cy="495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3050562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6263367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9761433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413811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35051917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04795788"/>
                    </a:ext>
                  </a:extLst>
                </a:gridCol>
              </a:tblGrid>
              <a:tr h="495656">
                <a:tc>
                  <a:txBody>
                    <a:bodyPr/>
                    <a:lstStyle/>
                    <a:p>
                      <a:r>
                        <a:rPr lang="mn-MN" sz="1200" dirty="0">
                          <a:solidFill>
                            <a:schemeClr val="tx1"/>
                          </a:solidFill>
                        </a:rPr>
                        <a:t>1-р долоо хоног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1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n-M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</a:rPr>
                        <a:t>2-р долоо хоног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1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n-M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</a:rPr>
                        <a:t>3-р долоо хоног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1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n-M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</a:rPr>
                        <a:t>4-р долоо хоног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1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n-M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</a:rPr>
                        <a:t>5-р долоо хоног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1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n-M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</a:rPr>
                        <a:t>6-р долоо хоног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585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1DD273F-31FB-43BD-BF24-99A7B4F14C8D}"/>
              </a:ext>
            </a:extLst>
          </p:cNvPr>
          <p:cNvSpPr/>
          <p:nvPr/>
        </p:nvSpPr>
        <p:spPr>
          <a:xfrm>
            <a:off x="1531143" y="3262764"/>
            <a:ext cx="3048477" cy="316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r>
              <a:rPr lang="mn-MN" sz="1000" b="1" dirty="0">
                <a:solidFill>
                  <a:srgbClr val="FFFFFF"/>
                </a:solidFill>
              </a:rPr>
              <a:t>Веб дизайн </a:t>
            </a:r>
            <a:r>
              <a:rPr lang="mn-MN" sz="1000" dirty="0">
                <a:solidFill>
                  <a:srgbClr val="FFFFFF"/>
                </a:solidFill>
              </a:rPr>
              <a:t>– UI/UX, </a:t>
            </a:r>
            <a:r>
              <a:rPr lang="mn-MN" sz="1000" dirty="0" err="1">
                <a:solidFill>
                  <a:srgbClr val="FFFFFF"/>
                </a:solidFill>
              </a:rPr>
              <a:t>Figma,</a:t>
            </a:r>
            <a:r>
              <a:rPr lang="mn-MN" sz="1000" dirty="0">
                <a:solidFill>
                  <a:srgbClr val="FFFFFF"/>
                </a:solidFill>
              </a:rPr>
              <a:t> прототип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3C5C7-5AA6-4968-9306-B38C674D38D7}"/>
              </a:ext>
            </a:extLst>
          </p:cNvPr>
          <p:cNvSpPr/>
          <p:nvPr/>
        </p:nvSpPr>
        <p:spPr>
          <a:xfrm>
            <a:off x="3703320" y="3754686"/>
            <a:ext cx="3931920" cy="316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r>
              <a:rPr lang="mn-MN" sz="1000" b="1" dirty="0">
                <a:solidFill>
                  <a:srgbClr val="FFFFFF"/>
                </a:solidFill>
              </a:rPr>
              <a:t>Веб хөгжүүлэлт – </a:t>
            </a:r>
            <a:r>
              <a:rPr lang="mn-MN" sz="1000" dirty="0">
                <a:solidFill>
                  <a:srgbClr val="FFFFFF"/>
                </a:solidFill>
              </a:rPr>
              <a:t>JavaScript, </a:t>
            </a:r>
            <a:r>
              <a:rPr lang="mn-MN" sz="1000" dirty="0" err="1">
                <a:solidFill>
                  <a:srgbClr val="FFFFFF"/>
                </a:solidFill>
              </a:rPr>
              <a:t>Python, </a:t>
            </a:r>
            <a:r>
              <a:rPr lang="mn-MN" sz="1000" dirty="0">
                <a:solidFill>
                  <a:srgbClr val="FFFFFF"/>
                </a:solidFill>
              </a:rPr>
              <a:t>Django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0FB452-EB70-4539-8FF8-0B1ADEFA408A}"/>
              </a:ext>
            </a:extLst>
          </p:cNvPr>
          <p:cNvSpPr/>
          <p:nvPr/>
        </p:nvSpPr>
        <p:spPr>
          <a:xfrm>
            <a:off x="1531143" y="4246608"/>
            <a:ext cx="4842670" cy="316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r>
              <a:rPr lang="mn-MN" sz="1000" b="1" dirty="0">
                <a:solidFill>
                  <a:srgbClr val="FFFFFF"/>
                </a:solidFill>
              </a:rPr>
              <a:t>Контент бичих </a:t>
            </a:r>
            <a:r>
              <a:rPr lang="mn-MN" sz="1000" dirty="0">
                <a:solidFill>
                  <a:srgbClr val="FFFFFF"/>
                </a:solidFill>
              </a:rPr>
              <a:t>– шийдэл, алсын хараа, эрхэм зорилго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33381-CFEE-453D-BE7B-F0FA08D180E8}"/>
              </a:ext>
            </a:extLst>
          </p:cNvPr>
          <p:cNvSpPr/>
          <p:nvPr/>
        </p:nvSpPr>
        <p:spPr>
          <a:xfrm>
            <a:off x="6096000" y="3265201"/>
            <a:ext cx="2728914" cy="316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r>
              <a:rPr lang="mn-MN" sz="1000" b="1" dirty="0">
                <a:solidFill>
                  <a:srgbClr val="FFFFFF"/>
                </a:solidFill>
              </a:rPr>
              <a:t>Дизайны тест </a:t>
            </a:r>
            <a:r>
              <a:rPr lang="mn-MN" sz="1000" dirty="0">
                <a:solidFill>
                  <a:srgbClr val="FFFFFF"/>
                </a:solidFill>
              </a:rPr>
              <a:t>– бүх дизайныг шалгах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D39A15-8967-4B3C-AB94-B14A274C8254}"/>
              </a:ext>
            </a:extLst>
          </p:cNvPr>
          <p:cNvSpPr/>
          <p:nvPr/>
        </p:nvSpPr>
        <p:spPr>
          <a:xfrm>
            <a:off x="8011886" y="3754686"/>
            <a:ext cx="2656115" cy="316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r>
              <a:rPr lang="mn-MN" sz="1000" b="1" dirty="0">
                <a:solidFill>
                  <a:srgbClr val="FFFFFF"/>
                </a:solidFill>
              </a:rPr>
              <a:t>Код </a:t>
            </a:r>
            <a:r>
              <a:rPr lang="mn-MN" sz="1000" dirty="0">
                <a:solidFill>
                  <a:srgbClr val="FFFFFF"/>
                </a:solidFill>
              </a:rPr>
              <a:t>– алдааг шалгаж засах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E62EC1-F370-4BCD-9FEB-BBCD2E39F65D}"/>
              </a:ext>
            </a:extLst>
          </p:cNvPr>
          <p:cNvSpPr/>
          <p:nvPr/>
        </p:nvSpPr>
        <p:spPr>
          <a:xfrm>
            <a:off x="9161417" y="5723866"/>
            <a:ext cx="1506584" cy="316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r>
              <a:rPr lang="mn-MN" sz="1000" b="1" dirty="0">
                <a:solidFill>
                  <a:srgbClr val="FFFFFF"/>
                </a:solidFill>
              </a:rPr>
              <a:t>Гэрээ дуусна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640DE5-9D4B-4417-9C9A-3E3994148087}"/>
              </a:ext>
            </a:extLst>
          </p:cNvPr>
          <p:cNvSpPr/>
          <p:nvPr/>
        </p:nvSpPr>
        <p:spPr>
          <a:xfrm>
            <a:off x="1531143" y="4738530"/>
            <a:ext cx="3619501" cy="316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r>
              <a:rPr lang="mn-MN" sz="1000" b="1" dirty="0">
                <a:solidFill>
                  <a:srgbClr val="FFFFFF"/>
                </a:solidFill>
              </a:rPr>
              <a:t>Судалгаа </a:t>
            </a:r>
            <a:r>
              <a:rPr lang="mn-MN" sz="1000" dirty="0">
                <a:solidFill>
                  <a:srgbClr val="FFFFFF"/>
                </a:solidFill>
              </a:rPr>
              <a:t>– зах зээл, хэрэглэгчийн шинжилгээ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DE141B-02CA-4750-8407-63C2608369AE}"/>
              </a:ext>
            </a:extLst>
          </p:cNvPr>
          <p:cNvSpPr/>
          <p:nvPr/>
        </p:nvSpPr>
        <p:spPr>
          <a:xfrm>
            <a:off x="6096001" y="4738529"/>
            <a:ext cx="3065416" cy="316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r>
              <a:rPr lang="mn-MN" sz="1000" b="1" dirty="0">
                <a:solidFill>
                  <a:srgbClr val="FFFFFF"/>
                </a:solidFill>
              </a:rPr>
              <a:t>Судалгаа </a:t>
            </a:r>
            <a:r>
              <a:rPr lang="mn-MN" sz="1000" dirty="0">
                <a:solidFill>
                  <a:srgbClr val="FFFFFF"/>
                </a:solidFill>
              </a:rPr>
              <a:t>– шалгалт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D520BA-CE72-4718-9F4A-2A74E440D059}"/>
              </a:ext>
            </a:extLst>
          </p:cNvPr>
          <p:cNvSpPr/>
          <p:nvPr/>
        </p:nvSpPr>
        <p:spPr>
          <a:xfrm>
            <a:off x="3052763" y="5230450"/>
            <a:ext cx="3043236" cy="316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r>
              <a:rPr lang="mn-MN" sz="1000" b="1" dirty="0">
                <a:solidFill>
                  <a:srgbClr val="FFFFFF"/>
                </a:solidFill>
              </a:rPr>
              <a:t>Стратеги </a:t>
            </a:r>
            <a:r>
              <a:rPr lang="mn-MN" sz="1000" dirty="0">
                <a:solidFill>
                  <a:srgbClr val="FFFFFF"/>
                </a:solidFill>
              </a:rPr>
              <a:t>– зорилт, төлөвлөгөө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56AF1F-1915-481A-ABFC-A5F27FCC2F99}"/>
              </a:ext>
            </a:extLst>
          </p:cNvPr>
          <p:cNvGrpSpPr/>
          <p:nvPr/>
        </p:nvGrpSpPr>
        <p:grpSpPr>
          <a:xfrm>
            <a:off x="1523999" y="765175"/>
            <a:ext cx="1002507" cy="294190"/>
            <a:chOff x="1523999" y="765175"/>
            <a:chExt cx="1002507" cy="29419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5EACB9-725B-4829-A76C-9B369CA69B01}"/>
                </a:ext>
              </a:extLst>
            </p:cNvPr>
            <p:cNvSpPr/>
            <p:nvPr/>
          </p:nvSpPr>
          <p:spPr>
            <a:xfrm>
              <a:off x="1523999" y="765175"/>
              <a:ext cx="1002507" cy="2220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900" b="0" dirty="0">
                  <a:solidFill>
                    <a:srgbClr val="FFFFFF"/>
                  </a:solidFill>
                  <a:latin typeface="Open Sans" panose="020B0706030804020204" pitchFamily="34" charset="0"/>
                  <a:ea typeface="Open Sans" panose="020B0706030804020204" pitchFamily="34" charset="0"/>
                  <a:cs typeface="Open Sans" panose="020B0706030804020204" pitchFamily="34" charset="0"/>
                </a:rPr>
                <a:t>Төлөвлөгөө</a:t>
              </a: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410BDFB6-41D6-45D2-8A77-E2426A939726}"/>
                </a:ext>
              </a:extLst>
            </p:cNvPr>
            <p:cNvSpPr/>
            <p:nvPr/>
          </p:nvSpPr>
          <p:spPr>
            <a:xfrm flipV="1">
              <a:off x="1524000" y="987188"/>
              <a:ext cx="72580" cy="7217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697C037-0DE9-4F55-99DA-4BDCF90B5B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420007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E90B-6070-42FF-9907-A46338DE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Сошиал медиагийн </a:t>
            </a:r>
            <a:r>
              <a:rPr lang="mn-MN" dirty="0">
                <a:solidFill>
                  <a:schemeClr val="accent1"/>
                </a:solidFill>
              </a:rPr>
              <a:t>статистик</a:t>
            </a:r>
            <a:r>
              <a:rPr lang="mn-MN" dirty="0"/>
              <a:t> 2026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52262C-7B75-45F8-9050-08882B413C1A}"/>
              </a:ext>
            </a:extLst>
          </p:cNvPr>
          <p:cNvSpPr/>
          <p:nvPr/>
        </p:nvSpPr>
        <p:spPr>
          <a:xfrm>
            <a:off x="2703545" y="2276474"/>
            <a:ext cx="2408230" cy="2408230"/>
          </a:xfrm>
          <a:prstGeom prst="ellipse">
            <a:avLst/>
          </a:prstGeom>
          <a:noFill/>
          <a:ln w="254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60" rIns="0" bIns="0" rtlCol="0" anchor="t" anchorCtr="0"/>
          <a:lstStyle/>
          <a:p>
            <a:r>
              <a:rPr lang="en-US" sz="2800" dirty="0">
                <a:solidFill>
                  <a:schemeClr val="tx1"/>
                </a:solidFill>
                <a:latin typeface="+mj-lt"/>
                <a:ea typeface="Roboto Light" charset="0"/>
                <a:cs typeface="Roboto Light" charset="0"/>
              </a:rPr>
              <a:t>69.2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C00C6C0C-0DDD-4CDD-9822-FD9279A936D8}"/>
              </a:ext>
            </a:extLst>
          </p:cNvPr>
          <p:cNvSpPr/>
          <p:nvPr/>
        </p:nvSpPr>
        <p:spPr>
          <a:xfrm>
            <a:off x="2703545" y="2276474"/>
            <a:ext cx="2408230" cy="2408230"/>
          </a:xfrm>
          <a:prstGeom prst="arc">
            <a:avLst>
              <a:gd name="adj1" fmla="val 16200000"/>
              <a:gd name="adj2" fmla="val 8491402"/>
            </a:avLst>
          </a:prstGeom>
          <a:ln w="50800" cap="rnd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C8D782-74D8-4773-8DF1-B853DE9665BF}"/>
              </a:ext>
            </a:extLst>
          </p:cNvPr>
          <p:cNvCxnSpPr>
            <a:cxnSpLocks/>
          </p:cNvCxnSpPr>
          <p:nvPr/>
        </p:nvCxnSpPr>
        <p:spPr>
          <a:xfrm>
            <a:off x="3062584" y="6833910"/>
            <a:ext cx="1514732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87A4CD7-66B4-4AE6-B750-A2B3F6C7E6E6}"/>
              </a:ext>
            </a:extLst>
          </p:cNvPr>
          <p:cNvSpPr txBox="1"/>
          <p:nvPr/>
        </p:nvSpPr>
        <p:spPr>
          <a:xfrm>
            <a:off x="3050680" y="4826392"/>
            <a:ext cx="1526636" cy="12274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200" b="1" dirty="0">
                <a:latin typeface="+mj-lt"/>
                <a:ea typeface="Open Sans" charset="0"/>
                <a:cs typeface="Open Sans" charset="0"/>
              </a:rPr>
              <a:t>YouTube өсөлт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Сувгийн үзэлт, захиалагчийн тоо тогтвортой өсч, контентын хүртээмж нэмэгдлээ.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C2A801-6670-4014-A94B-040252BC9C30}"/>
              </a:ext>
            </a:extLst>
          </p:cNvPr>
          <p:cNvSpPr/>
          <p:nvPr/>
        </p:nvSpPr>
        <p:spPr>
          <a:xfrm>
            <a:off x="5736961" y="2276474"/>
            <a:ext cx="2408230" cy="2408230"/>
          </a:xfrm>
          <a:prstGeom prst="ellipse">
            <a:avLst/>
          </a:prstGeom>
          <a:noFill/>
          <a:ln w="254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60" rIns="0" rtlCol="0" anchor="t" anchorCtr="0"/>
          <a:lstStyle/>
          <a:p>
            <a:r>
              <a:rPr lang="en-US" sz="2800" dirty="0">
                <a:solidFill>
                  <a:schemeClr val="tx1"/>
                </a:solidFill>
                <a:latin typeface="+mj-lt"/>
                <a:ea typeface="Roboto Light" charset="0"/>
                <a:cs typeface="Roboto Light" charset="0"/>
              </a:rPr>
              <a:t>88.3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982D5E3-B496-4921-8C41-83E209B335DE}"/>
              </a:ext>
            </a:extLst>
          </p:cNvPr>
          <p:cNvSpPr/>
          <p:nvPr/>
        </p:nvSpPr>
        <p:spPr>
          <a:xfrm>
            <a:off x="5736961" y="2276474"/>
            <a:ext cx="2408230" cy="2408230"/>
          </a:xfrm>
          <a:prstGeom prst="arc">
            <a:avLst>
              <a:gd name="adj1" fmla="val 16200000"/>
              <a:gd name="adj2" fmla="val 11378791"/>
            </a:avLst>
          </a:prstGeom>
          <a:ln w="50800" cap="rnd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0F9079-F342-40CD-9756-0035998D530A}"/>
              </a:ext>
            </a:extLst>
          </p:cNvPr>
          <p:cNvCxnSpPr>
            <a:cxnSpLocks/>
          </p:cNvCxnSpPr>
          <p:nvPr/>
        </p:nvCxnSpPr>
        <p:spPr>
          <a:xfrm>
            <a:off x="6096000" y="6833910"/>
            <a:ext cx="151473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DC8CF7E-E65F-4424-86E3-4BFCAFBC71EE}"/>
              </a:ext>
            </a:extLst>
          </p:cNvPr>
          <p:cNvSpPr/>
          <p:nvPr/>
        </p:nvSpPr>
        <p:spPr>
          <a:xfrm>
            <a:off x="8791641" y="2276474"/>
            <a:ext cx="2408230" cy="2408230"/>
          </a:xfrm>
          <a:prstGeom prst="ellipse">
            <a:avLst/>
          </a:prstGeom>
          <a:noFill/>
          <a:ln w="254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60" rIns="0" rtlCol="0" anchor="t" anchorCtr="0"/>
          <a:lstStyle/>
          <a:p>
            <a:r>
              <a:rPr lang="en-US" sz="2800" dirty="0">
                <a:solidFill>
                  <a:schemeClr val="tx1"/>
                </a:solidFill>
                <a:latin typeface="+mj-lt"/>
                <a:ea typeface="Roboto Light" charset="0"/>
                <a:cs typeface="Roboto Light" charset="0"/>
              </a:rPr>
              <a:t>30.1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D9B4FA6C-F069-46A4-AB26-0D7C64C49E87}"/>
              </a:ext>
            </a:extLst>
          </p:cNvPr>
          <p:cNvSpPr/>
          <p:nvPr/>
        </p:nvSpPr>
        <p:spPr>
          <a:xfrm>
            <a:off x="8791641" y="2276474"/>
            <a:ext cx="2408230" cy="2408230"/>
          </a:xfrm>
          <a:prstGeom prst="arc">
            <a:avLst>
              <a:gd name="adj1" fmla="val 16200000"/>
              <a:gd name="adj2" fmla="val 392104"/>
            </a:avLst>
          </a:prstGeom>
          <a:ln w="50800" cap="rnd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E6D7F7-29C8-4F13-9098-A8101E728256}"/>
              </a:ext>
            </a:extLst>
          </p:cNvPr>
          <p:cNvCxnSpPr>
            <a:cxnSpLocks/>
          </p:cNvCxnSpPr>
          <p:nvPr/>
        </p:nvCxnSpPr>
        <p:spPr>
          <a:xfrm>
            <a:off x="9150680" y="6833910"/>
            <a:ext cx="1514732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E42FAC-7F72-4C2D-A0BC-9AC5AD33D51F}"/>
              </a:ext>
            </a:extLst>
          </p:cNvPr>
          <p:cNvSpPr txBox="1"/>
          <p:nvPr/>
        </p:nvSpPr>
        <p:spPr>
          <a:xfrm>
            <a:off x="6106632" y="4826392"/>
            <a:ext cx="1514732" cy="12274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200" dirty="0">
                <a:latin typeface="+mj-lt"/>
              </a:rPr>
              <a:t>Facebook өсөлт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Сувгийн үзэлт, захиалагчийн тоо тогтвортой өсч, контентын хүртээмж нэмэгдлээ.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FEC74C-905C-48FF-B00C-07DA1A94C69D}"/>
              </a:ext>
            </a:extLst>
          </p:cNvPr>
          <p:cNvSpPr txBox="1"/>
          <p:nvPr/>
        </p:nvSpPr>
        <p:spPr>
          <a:xfrm>
            <a:off x="9150679" y="4826392"/>
            <a:ext cx="1514732" cy="12274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200" dirty="0">
                <a:latin typeface="+mj-lt"/>
              </a:rPr>
              <a:t>X (Twitter) өсөлт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Сувгийн үзэлт, захиалагчийн тоо тогтвортой өсч, контентын хүртээмж нэмэгдлээ.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DBCB30D-8622-4BB7-BD48-76A874321A12}"/>
              </a:ext>
            </a:extLst>
          </p:cNvPr>
          <p:cNvGrpSpPr/>
          <p:nvPr/>
        </p:nvGrpSpPr>
        <p:grpSpPr>
          <a:xfrm>
            <a:off x="3050680" y="3530915"/>
            <a:ext cx="630054" cy="441010"/>
            <a:chOff x="2235200" y="725488"/>
            <a:chExt cx="7724775" cy="5407025"/>
          </a:xfrm>
          <a:solidFill>
            <a:schemeClr val="accent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FED30157-1A8E-447A-B798-0D0A0BCB5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200" y="725488"/>
              <a:ext cx="7724775" cy="5407025"/>
            </a:xfrm>
            <a:custGeom>
              <a:avLst/>
              <a:gdLst>
                <a:gd name="T0" fmla="*/ 2006 w 2050"/>
                <a:gd name="T1" fmla="*/ 224 h 1434"/>
                <a:gd name="T2" fmla="*/ 1825 w 2050"/>
                <a:gd name="T3" fmla="*/ 44 h 1434"/>
                <a:gd name="T4" fmla="*/ 1024 w 2050"/>
                <a:gd name="T5" fmla="*/ 0 h 1434"/>
                <a:gd name="T6" fmla="*/ 223 w 2050"/>
                <a:gd name="T7" fmla="*/ 42 h 1434"/>
                <a:gd name="T8" fmla="*/ 42 w 2050"/>
                <a:gd name="T9" fmla="*/ 224 h 1434"/>
                <a:gd name="T10" fmla="*/ 0 w 2050"/>
                <a:gd name="T11" fmla="*/ 717 h 1434"/>
                <a:gd name="T12" fmla="*/ 42 w 2050"/>
                <a:gd name="T13" fmla="*/ 1210 h 1434"/>
                <a:gd name="T14" fmla="*/ 223 w 2050"/>
                <a:gd name="T15" fmla="*/ 1390 h 1434"/>
                <a:gd name="T16" fmla="*/ 1024 w 2050"/>
                <a:gd name="T17" fmla="*/ 1434 h 1434"/>
                <a:gd name="T18" fmla="*/ 1825 w 2050"/>
                <a:gd name="T19" fmla="*/ 1392 h 1434"/>
                <a:gd name="T20" fmla="*/ 2006 w 2050"/>
                <a:gd name="T21" fmla="*/ 1211 h 1434"/>
                <a:gd name="T22" fmla="*/ 2048 w 2050"/>
                <a:gd name="T23" fmla="*/ 719 h 1434"/>
                <a:gd name="T24" fmla="*/ 2006 w 2050"/>
                <a:gd name="T25" fmla="*/ 22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50" h="1434">
                  <a:moveTo>
                    <a:pt x="2006" y="224"/>
                  </a:moveTo>
                  <a:cubicBezTo>
                    <a:pt x="1982" y="137"/>
                    <a:pt x="1913" y="67"/>
                    <a:pt x="1825" y="44"/>
                  </a:cubicBezTo>
                  <a:cubicBezTo>
                    <a:pt x="1665" y="0"/>
                    <a:pt x="1024" y="0"/>
                    <a:pt x="1024" y="0"/>
                  </a:cubicBezTo>
                  <a:cubicBezTo>
                    <a:pt x="1024" y="0"/>
                    <a:pt x="383" y="0"/>
                    <a:pt x="223" y="42"/>
                  </a:cubicBezTo>
                  <a:cubicBezTo>
                    <a:pt x="137" y="66"/>
                    <a:pt x="66" y="137"/>
                    <a:pt x="42" y="224"/>
                  </a:cubicBezTo>
                  <a:cubicBezTo>
                    <a:pt x="0" y="385"/>
                    <a:pt x="0" y="717"/>
                    <a:pt x="0" y="717"/>
                  </a:cubicBezTo>
                  <a:cubicBezTo>
                    <a:pt x="0" y="717"/>
                    <a:pt x="0" y="1051"/>
                    <a:pt x="42" y="1210"/>
                  </a:cubicBezTo>
                  <a:cubicBezTo>
                    <a:pt x="66" y="1297"/>
                    <a:pt x="135" y="1366"/>
                    <a:pt x="223" y="1390"/>
                  </a:cubicBezTo>
                  <a:cubicBezTo>
                    <a:pt x="385" y="1434"/>
                    <a:pt x="1024" y="1434"/>
                    <a:pt x="1024" y="1434"/>
                  </a:cubicBezTo>
                  <a:cubicBezTo>
                    <a:pt x="1024" y="1434"/>
                    <a:pt x="1665" y="1434"/>
                    <a:pt x="1825" y="1392"/>
                  </a:cubicBezTo>
                  <a:cubicBezTo>
                    <a:pt x="1913" y="1368"/>
                    <a:pt x="1982" y="1299"/>
                    <a:pt x="2006" y="1211"/>
                  </a:cubicBezTo>
                  <a:cubicBezTo>
                    <a:pt x="2048" y="1051"/>
                    <a:pt x="2048" y="719"/>
                    <a:pt x="2048" y="719"/>
                  </a:cubicBezTo>
                  <a:cubicBezTo>
                    <a:pt x="2048" y="719"/>
                    <a:pt x="2050" y="385"/>
                    <a:pt x="2006" y="2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D53AB1CB-47D0-4E0B-A7FE-B8CC849DB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6063" y="2271713"/>
              <a:ext cx="2008188" cy="2314575"/>
            </a:xfrm>
            <a:custGeom>
              <a:avLst/>
              <a:gdLst>
                <a:gd name="T0" fmla="*/ 0 w 1265"/>
                <a:gd name="T1" fmla="*/ 1458 h 1458"/>
                <a:gd name="T2" fmla="*/ 1265 w 1265"/>
                <a:gd name="T3" fmla="*/ 729 h 1458"/>
                <a:gd name="T4" fmla="*/ 0 w 1265"/>
                <a:gd name="T5" fmla="*/ 0 h 1458"/>
                <a:gd name="T6" fmla="*/ 0 w 1265"/>
                <a:gd name="T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5" h="1458">
                  <a:moveTo>
                    <a:pt x="0" y="1458"/>
                  </a:moveTo>
                  <a:lnTo>
                    <a:pt x="1265" y="729"/>
                  </a:lnTo>
                  <a:lnTo>
                    <a:pt x="0" y="0"/>
                  </a:lnTo>
                  <a:lnTo>
                    <a:pt x="0" y="14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F54FD0-47D4-4770-96C0-9367E1422D6E}"/>
              </a:ext>
            </a:extLst>
          </p:cNvPr>
          <p:cNvGrpSpPr/>
          <p:nvPr/>
        </p:nvGrpSpPr>
        <p:grpSpPr>
          <a:xfrm>
            <a:off x="1523999" y="765175"/>
            <a:ext cx="1002507" cy="294190"/>
            <a:chOff x="1523999" y="765175"/>
            <a:chExt cx="1002507" cy="29419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E61B73D-8D9F-49AE-BE67-178E4ED67F60}"/>
                </a:ext>
              </a:extLst>
            </p:cNvPr>
            <p:cNvSpPr/>
            <p:nvPr/>
          </p:nvSpPr>
          <p:spPr>
            <a:xfrm>
              <a:off x="1523999" y="765175"/>
              <a:ext cx="1002507" cy="2220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900" b="0" dirty="0">
                  <a:solidFill>
                    <a:srgbClr val="FFFFFF"/>
                  </a:solidFill>
                  <a:latin typeface="Open Sans" panose="020B0706030804020204" pitchFamily="34" charset="0"/>
                  <a:ea typeface="Open Sans" panose="020B0706030804020204" pitchFamily="34" charset="0"/>
                  <a:cs typeface="Open Sans" panose="020B0706030804020204" pitchFamily="34" charset="0"/>
                </a:rPr>
                <a:t>Сошиал</a:t>
              </a:r>
            </a:p>
          </p:txBody>
        </p:sp>
        <p:sp>
          <p:nvSpPr>
            <p:cNvPr id="22" name="Right Triangle 21">
              <a:extLst>
                <a:ext uri="{FF2B5EF4-FFF2-40B4-BE49-F238E27FC236}">
                  <a16:creationId xmlns:a16="http://schemas.microsoft.com/office/drawing/2014/main" id="{CB5B4B1A-A4CF-4450-836A-0BFF51E9B1DA}"/>
                </a:ext>
              </a:extLst>
            </p:cNvPr>
            <p:cNvSpPr/>
            <p:nvPr/>
          </p:nvSpPr>
          <p:spPr>
            <a:xfrm flipV="1">
              <a:off x="1524000" y="987188"/>
              <a:ext cx="72580" cy="7217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4" name="Freeform 5">
            <a:extLst>
              <a:ext uri="{FF2B5EF4-FFF2-40B4-BE49-F238E27FC236}">
                <a16:creationId xmlns:a16="http://schemas.microsoft.com/office/drawing/2014/main" id="{96617509-B29C-44E0-90BF-89774F294791}"/>
              </a:ext>
            </a:extLst>
          </p:cNvPr>
          <p:cNvSpPr>
            <a:spLocks/>
          </p:cNvSpPr>
          <p:nvPr/>
        </p:nvSpPr>
        <p:spPr bwMode="auto">
          <a:xfrm>
            <a:off x="6096000" y="3488547"/>
            <a:ext cx="521798" cy="521792"/>
          </a:xfrm>
          <a:custGeom>
            <a:avLst/>
            <a:gdLst>
              <a:gd name="T0" fmla="*/ 1748 w 2048"/>
              <a:gd name="T1" fmla="*/ 0 h 2048"/>
              <a:gd name="T2" fmla="*/ 300 w 2048"/>
              <a:gd name="T3" fmla="*/ 0 h 2048"/>
              <a:gd name="T4" fmla="*/ 0 w 2048"/>
              <a:gd name="T5" fmla="*/ 300 h 2048"/>
              <a:gd name="T6" fmla="*/ 0 w 2048"/>
              <a:gd name="T7" fmla="*/ 1748 h 2048"/>
              <a:gd name="T8" fmla="*/ 300 w 2048"/>
              <a:gd name="T9" fmla="*/ 2048 h 2048"/>
              <a:gd name="T10" fmla="*/ 904 w 2048"/>
              <a:gd name="T11" fmla="*/ 2048 h 2048"/>
              <a:gd name="T12" fmla="*/ 904 w 2048"/>
              <a:gd name="T13" fmla="*/ 1324 h 2048"/>
              <a:gd name="T14" fmla="*/ 664 w 2048"/>
              <a:gd name="T15" fmla="*/ 1324 h 2048"/>
              <a:gd name="T16" fmla="*/ 664 w 2048"/>
              <a:gd name="T17" fmla="*/ 964 h 2048"/>
              <a:gd name="T18" fmla="*/ 904 w 2048"/>
              <a:gd name="T19" fmla="*/ 964 h 2048"/>
              <a:gd name="T20" fmla="*/ 904 w 2048"/>
              <a:gd name="T21" fmla="*/ 720 h 2048"/>
              <a:gd name="T22" fmla="*/ 1264 w 2048"/>
              <a:gd name="T23" fmla="*/ 360 h 2048"/>
              <a:gd name="T24" fmla="*/ 1628 w 2048"/>
              <a:gd name="T25" fmla="*/ 360 h 2048"/>
              <a:gd name="T26" fmla="*/ 1628 w 2048"/>
              <a:gd name="T27" fmla="*/ 720 h 2048"/>
              <a:gd name="T28" fmla="*/ 1264 w 2048"/>
              <a:gd name="T29" fmla="*/ 720 h 2048"/>
              <a:gd name="T30" fmla="*/ 1264 w 2048"/>
              <a:gd name="T31" fmla="*/ 964 h 2048"/>
              <a:gd name="T32" fmla="*/ 1628 w 2048"/>
              <a:gd name="T33" fmla="*/ 964 h 2048"/>
              <a:gd name="T34" fmla="*/ 1568 w 2048"/>
              <a:gd name="T35" fmla="*/ 1324 h 2048"/>
              <a:gd name="T36" fmla="*/ 1264 w 2048"/>
              <a:gd name="T37" fmla="*/ 1324 h 2048"/>
              <a:gd name="T38" fmla="*/ 1264 w 2048"/>
              <a:gd name="T39" fmla="*/ 2048 h 2048"/>
              <a:gd name="T40" fmla="*/ 1748 w 2048"/>
              <a:gd name="T41" fmla="*/ 2048 h 2048"/>
              <a:gd name="T42" fmla="*/ 2048 w 2048"/>
              <a:gd name="T43" fmla="*/ 1748 h 2048"/>
              <a:gd name="T44" fmla="*/ 2048 w 2048"/>
              <a:gd name="T45" fmla="*/ 300 h 2048"/>
              <a:gd name="T46" fmla="*/ 1748 w 2048"/>
              <a:gd name="T47" fmla="*/ 0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048" h="2048">
                <a:moveTo>
                  <a:pt x="1748" y="0"/>
                </a:moveTo>
                <a:cubicBezTo>
                  <a:pt x="300" y="0"/>
                  <a:pt x="300" y="0"/>
                  <a:pt x="300" y="0"/>
                </a:cubicBezTo>
                <a:cubicBezTo>
                  <a:pt x="135" y="0"/>
                  <a:pt x="0" y="135"/>
                  <a:pt x="0" y="300"/>
                </a:cubicBezTo>
                <a:cubicBezTo>
                  <a:pt x="0" y="1748"/>
                  <a:pt x="0" y="1748"/>
                  <a:pt x="0" y="1748"/>
                </a:cubicBezTo>
                <a:cubicBezTo>
                  <a:pt x="0" y="1913"/>
                  <a:pt x="135" y="2048"/>
                  <a:pt x="300" y="2048"/>
                </a:cubicBezTo>
                <a:cubicBezTo>
                  <a:pt x="904" y="2048"/>
                  <a:pt x="904" y="2048"/>
                  <a:pt x="904" y="2048"/>
                </a:cubicBezTo>
                <a:cubicBezTo>
                  <a:pt x="904" y="1324"/>
                  <a:pt x="904" y="1324"/>
                  <a:pt x="904" y="1324"/>
                </a:cubicBezTo>
                <a:cubicBezTo>
                  <a:pt x="664" y="1324"/>
                  <a:pt x="664" y="1324"/>
                  <a:pt x="664" y="1324"/>
                </a:cubicBezTo>
                <a:cubicBezTo>
                  <a:pt x="664" y="964"/>
                  <a:pt x="664" y="964"/>
                  <a:pt x="664" y="964"/>
                </a:cubicBezTo>
                <a:cubicBezTo>
                  <a:pt x="904" y="964"/>
                  <a:pt x="904" y="964"/>
                  <a:pt x="904" y="964"/>
                </a:cubicBezTo>
                <a:cubicBezTo>
                  <a:pt x="904" y="720"/>
                  <a:pt x="904" y="720"/>
                  <a:pt x="904" y="720"/>
                </a:cubicBezTo>
                <a:cubicBezTo>
                  <a:pt x="904" y="521"/>
                  <a:pt x="1065" y="360"/>
                  <a:pt x="1264" y="360"/>
                </a:cubicBezTo>
                <a:cubicBezTo>
                  <a:pt x="1628" y="360"/>
                  <a:pt x="1628" y="360"/>
                  <a:pt x="1628" y="360"/>
                </a:cubicBezTo>
                <a:cubicBezTo>
                  <a:pt x="1628" y="720"/>
                  <a:pt x="1628" y="720"/>
                  <a:pt x="1628" y="720"/>
                </a:cubicBezTo>
                <a:cubicBezTo>
                  <a:pt x="1264" y="720"/>
                  <a:pt x="1264" y="720"/>
                  <a:pt x="1264" y="720"/>
                </a:cubicBezTo>
                <a:cubicBezTo>
                  <a:pt x="1264" y="964"/>
                  <a:pt x="1264" y="964"/>
                  <a:pt x="1264" y="964"/>
                </a:cubicBezTo>
                <a:cubicBezTo>
                  <a:pt x="1628" y="964"/>
                  <a:pt x="1628" y="964"/>
                  <a:pt x="1628" y="964"/>
                </a:cubicBezTo>
                <a:cubicBezTo>
                  <a:pt x="1568" y="1324"/>
                  <a:pt x="1568" y="1324"/>
                  <a:pt x="1568" y="1324"/>
                </a:cubicBezTo>
                <a:cubicBezTo>
                  <a:pt x="1264" y="1324"/>
                  <a:pt x="1264" y="1324"/>
                  <a:pt x="1264" y="1324"/>
                </a:cubicBezTo>
                <a:cubicBezTo>
                  <a:pt x="1264" y="2048"/>
                  <a:pt x="1264" y="2048"/>
                  <a:pt x="1264" y="2048"/>
                </a:cubicBezTo>
                <a:cubicBezTo>
                  <a:pt x="1748" y="2048"/>
                  <a:pt x="1748" y="2048"/>
                  <a:pt x="1748" y="2048"/>
                </a:cubicBezTo>
                <a:cubicBezTo>
                  <a:pt x="1913" y="2048"/>
                  <a:pt x="2048" y="1913"/>
                  <a:pt x="2048" y="1748"/>
                </a:cubicBezTo>
                <a:cubicBezTo>
                  <a:pt x="2048" y="300"/>
                  <a:pt x="2048" y="300"/>
                  <a:pt x="2048" y="300"/>
                </a:cubicBezTo>
                <a:cubicBezTo>
                  <a:pt x="2048" y="135"/>
                  <a:pt x="1913" y="0"/>
                  <a:pt x="1748" y="0"/>
                </a:cubicBezTo>
                <a:close/>
              </a:path>
            </a:pathLst>
          </a:custGeom>
          <a:solidFill>
            <a:srgbClr val="2C21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Freeform 10">
            <a:extLst>
              <a:ext uri="{FF2B5EF4-FFF2-40B4-BE49-F238E27FC236}">
                <a16:creationId xmlns:a16="http://schemas.microsoft.com/office/drawing/2014/main" id="{B7D6CB16-F1EB-4777-B640-F895A14FC3B4}"/>
              </a:ext>
            </a:extLst>
          </p:cNvPr>
          <p:cNvSpPr>
            <a:spLocks/>
          </p:cNvSpPr>
          <p:nvPr/>
        </p:nvSpPr>
        <p:spPr bwMode="auto">
          <a:xfrm>
            <a:off x="9150678" y="3488547"/>
            <a:ext cx="635633" cy="516658"/>
          </a:xfrm>
          <a:custGeom>
            <a:avLst/>
            <a:gdLst>
              <a:gd name="T0" fmla="*/ 2048 w 2048"/>
              <a:gd name="T1" fmla="*/ 197 h 1664"/>
              <a:gd name="T2" fmla="*/ 1806 w 2048"/>
              <a:gd name="T3" fmla="*/ 263 h 1664"/>
              <a:gd name="T4" fmla="*/ 1991 w 2048"/>
              <a:gd name="T5" fmla="*/ 31 h 1664"/>
              <a:gd name="T6" fmla="*/ 1725 w 2048"/>
              <a:gd name="T7" fmla="*/ 133 h 1664"/>
              <a:gd name="T8" fmla="*/ 1418 w 2048"/>
              <a:gd name="T9" fmla="*/ 0 h 1664"/>
              <a:gd name="T10" fmla="*/ 998 w 2048"/>
              <a:gd name="T11" fmla="*/ 420 h 1664"/>
              <a:gd name="T12" fmla="*/ 1008 w 2048"/>
              <a:gd name="T13" fmla="*/ 516 h 1664"/>
              <a:gd name="T14" fmla="*/ 143 w 2048"/>
              <a:gd name="T15" fmla="*/ 77 h 1664"/>
              <a:gd name="T16" fmla="*/ 85 w 2048"/>
              <a:gd name="T17" fmla="*/ 289 h 1664"/>
              <a:gd name="T18" fmla="*/ 272 w 2048"/>
              <a:gd name="T19" fmla="*/ 638 h 1664"/>
              <a:gd name="T20" fmla="*/ 82 w 2048"/>
              <a:gd name="T21" fmla="*/ 586 h 1664"/>
              <a:gd name="T22" fmla="*/ 82 w 2048"/>
              <a:gd name="T23" fmla="*/ 591 h 1664"/>
              <a:gd name="T24" fmla="*/ 418 w 2048"/>
              <a:gd name="T25" fmla="*/ 1003 h 1664"/>
              <a:gd name="T26" fmla="*/ 308 w 2048"/>
              <a:gd name="T27" fmla="*/ 1017 h 1664"/>
              <a:gd name="T28" fmla="*/ 229 w 2048"/>
              <a:gd name="T29" fmla="*/ 1010 h 1664"/>
              <a:gd name="T30" fmla="*/ 621 w 2048"/>
              <a:gd name="T31" fmla="*/ 1302 h 1664"/>
              <a:gd name="T32" fmla="*/ 100 w 2048"/>
              <a:gd name="T33" fmla="*/ 1481 h 1664"/>
              <a:gd name="T34" fmla="*/ 0 w 2048"/>
              <a:gd name="T35" fmla="*/ 1476 h 1664"/>
              <a:gd name="T36" fmla="*/ 644 w 2048"/>
              <a:gd name="T37" fmla="*/ 1664 h 1664"/>
              <a:gd name="T38" fmla="*/ 1839 w 2048"/>
              <a:gd name="T39" fmla="*/ 469 h 1664"/>
              <a:gd name="T40" fmla="*/ 1838 w 2048"/>
              <a:gd name="T41" fmla="*/ 415 h 1664"/>
              <a:gd name="T42" fmla="*/ 2048 w 2048"/>
              <a:gd name="T43" fmla="*/ 197 h 1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048" h="1664">
                <a:moveTo>
                  <a:pt x="2048" y="197"/>
                </a:moveTo>
                <a:cubicBezTo>
                  <a:pt x="1972" y="230"/>
                  <a:pt x="1891" y="253"/>
                  <a:pt x="1806" y="263"/>
                </a:cubicBezTo>
                <a:cubicBezTo>
                  <a:pt x="1893" y="211"/>
                  <a:pt x="1960" y="130"/>
                  <a:pt x="1991" y="31"/>
                </a:cubicBezTo>
                <a:cubicBezTo>
                  <a:pt x="1910" y="80"/>
                  <a:pt x="1820" y="114"/>
                  <a:pt x="1725" y="133"/>
                </a:cubicBezTo>
                <a:cubicBezTo>
                  <a:pt x="1647" y="51"/>
                  <a:pt x="1538" y="0"/>
                  <a:pt x="1418" y="0"/>
                </a:cubicBezTo>
                <a:cubicBezTo>
                  <a:pt x="1185" y="0"/>
                  <a:pt x="998" y="189"/>
                  <a:pt x="998" y="420"/>
                </a:cubicBezTo>
                <a:cubicBezTo>
                  <a:pt x="998" y="453"/>
                  <a:pt x="1001" y="485"/>
                  <a:pt x="1008" y="516"/>
                </a:cubicBezTo>
                <a:cubicBezTo>
                  <a:pt x="659" y="499"/>
                  <a:pt x="350" y="331"/>
                  <a:pt x="143" y="77"/>
                </a:cubicBezTo>
                <a:cubicBezTo>
                  <a:pt x="106" y="139"/>
                  <a:pt x="85" y="211"/>
                  <a:pt x="85" y="289"/>
                </a:cubicBezTo>
                <a:cubicBezTo>
                  <a:pt x="85" y="434"/>
                  <a:pt x="160" y="563"/>
                  <a:pt x="272" y="638"/>
                </a:cubicBezTo>
                <a:cubicBezTo>
                  <a:pt x="204" y="636"/>
                  <a:pt x="138" y="617"/>
                  <a:pt x="82" y="586"/>
                </a:cubicBezTo>
                <a:cubicBezTo>
                  <a:pt x="82" y="587"/>
                  <a:pt x="82" y="589"/>
                  <a:pt x="82" y="591"/>
                </a:cubicBezTo>
                <a:cubicBezTo>
                  <a:pt x="82" y="795"/>
                  <a:pt x="227" y="964"/>
                  <a:pt x="418" y="1003"/>
                </a:cubicBezTo>
                <a:cubicBezTo>
                  <a:pt x="384" y="1012"/>
                  <a:pt x="347" y="1017"/>
                  <a:pt x="308" y="1017"/>
                </a:cubicBezTo>
                <a:cubicBezTo>
                  <a:pt x="281" y="1017"/>
                  <a:pt x="254" y="1015"/>
                  <a:pt x="229" y="1010"/>
                </a:cubicBezTo>
                <a:cubicBezTo>
                  <a:pt x="283" y="1176"/>
                  <a:pt x="438" y="1298"/>
                  <a:pt x="621" y="1302"/>
                </a:cubicBezTo>
                <a:cubicBezTo>
                  <a:pt x="478" y="1414"/>
                  <a:pt x="297" y="1481"/>
                  <a:pt x="100" y="1481"/>
                </a:cubicBezTo>
                <a:cubicBezTo>
                  <a:pt x="66" y="1481"/>
                  <a:pt x="33" y="1480"/>
                  <a:pt x="0" y="1476"/>
                </a:cubicBezTo>
                <a:cubicBezTo>
                  <a:pt x="186" y="1596"/>
                  <a:pt x="406" y="1664"/>
                  <a:pt x="644" y="1664"/>
                </a:cubicBezTo>
                <a:cubicBezTo>
                  <a:pt x="1417" y="1664"/>
                  <a:pt x="1839" y="1024"/>
                  <a:pt x="1839" y="469"/>
                </a:cubicBezTo>
                <a:cubicBezTo>
                  <a:pt x="1839" y="451"/>
                  <a:pt x="1838" y="433"/>
                  <a:pt x="1838" y="415"/>
                </a:cubicBezTo>
                <a:cubicBezTo>
                  <a:pt x="1921" y="356"/>
                  <a:pt x="1991" y="282"/>
                  <a:pt x="2048" y="197"/>
                </a:cubicBezTo>
                <a:close/>
              </a:path>
            </a:pathLst>
          </a:custGeom>
          <a:solidFill>
            <a:srgbClr val="2395F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98C5CE7-0F6A-4E0D-9B5A-6F8C33D070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85643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build="p"/>
      <p:bldP spid="7" grpId="0" animBg="1"/>
      <p:bldP spid="8" grpId="0" animBg="1"/>
      <p:bldP spid="10" grpId="0" animBg="1"/>
      <p:bldP spid="11" grpId="0" animBg="1"/>
      <p:bldP spid="13" grpId="0" build="p"/>
      <p:bldP spid="14" grpId="0" build="p"/>
      <p:bldP spid="24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8FF9-59FE-41D5-8D55-FDFC14B6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Сошиал медиа</a:t>
            </a:r>
            <a:br>
              <a:rPr lang="mn-MN" dirty="0">
                <a:solidFill>
                  <a:schemeClr val="accent1"/>
                </a:solidFill>
              </a:rPr>
            </a:br>
            <a:r>
              <a:rPr lang="mn-MN" dirty="0">
                <a:solidFill>
                  <a:schemeClr val="accent1"/>
                </a:solidFill>
              </a:rPr>
              <a:t>Статистик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D566FF-31D3-46A7-ABFD-9BFECB40B111}"/>
              </a:ext>
            </a:extLst>
          </p:cNvPr>
          <p:cNvGrpSpPr/>
          <p:nvPr/>
        </p:nvGrpSpPr>
        <p:grpSpPr>
          <a:xfrm>
            <a:off x="7630880" y="3238312"/>
            <a:ext cx="377826" cy="264463"/>
            <a:chOff x="2235200" y="725486"/>
            <a:chExt cx="7724775" cy="5407017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58D39BA-6939-41CB-AB90-5E88686BD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200" y="725486"/>
              <a:ext cx="7724775" cy="5407017"/>
            </a:xfrm>
            <a:custGeom>
              <a:avLst/>
              <a:gdLst>
                <a:gd name="T0" fmla="*/ 2006 w 2050"/>
                <a:gd name="T1" fmla="*/ 224 h 1434"/>
                <a:gd name="T2" fmla="*/ 1825 w 2050"/>
                <a:gd name="T3" fmla="*/ 44 h 1434"/>
                <a:gd name="T4" fmla="*/ 1024 w 2050"/>
                <a:gd name="T5" fmla="*/ 0 h 1434"/>
                <a:gd name="T6" fmla="*/ 223 w 2050"/>
                <a:gd name="T7" fmla="*/ 42 h 1434"/>
                <a:gd name="T8" fmla="*/ 42 w 2050"/>
                <a:gd name="T9" fmla="*/ 224 h 1434"/>
                <a:gd name="T10" fmla="*/ 0 w 2050"/>
                <a:gd name="T11" fmla="*/ 717 h 1434"/>
                <a:gd name="T12" fmla="*/ 42 w 2050"/>
                <a:gd name="T13" fmla="*/ 1210 h 1434"/>
                <a:gd name="T14" fmla="*/ 223 w 2050"/>
                <a:gd name="T15" fmla="*/ 1390 h 1434"/>
                <a:gd name="T16" fmla="*/ 1024 w 2050"/>
                <a:gd name="T17" fmla="*/ 1434 h 1434"/>
                <a:gd name="T18" fmla="*/ 1825 w 2050"/>
                <a:gd name="T19" fmla="*/ 1392 h 1434"/>
                <a:gd name="T20" fmla="*/ 2006 w 2050"/>
                <a:gd name="T21" fmla="*/ 1211 h 1434"/>
                <a:gd name="T22" fmla="*/ 2048 w 2050"/>
                <a:gd name="T23" fmla="*/ 719 h 1434"/>
                <a:gd name="T24" fmla="*/ 2006 w 2050"/>
                <a:gd name="T25" fmla="*/ 22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50" h="1434">
                  <a:moveTo>
                    <a:pt x="2006" y="224"/>
                  </a:moveTo>
                  <a:cubicBezTo>
                    <a:pt x="1982" y="137"/>
                    <a:pt x="1913" y="67"/>
                    <a:pt x="1825" y="44"/>
                  </a:cubicBezTo>
                  <a:cubicBezTo>
                    <a:pt x="1665" y="0"/>
                    <a:pt x="1024" y="0"/>
                    <a:pt x="1024" y="0"/>
                  </a:cubicBezTo>
                  <a:cubicBezTo>
                    <a:pt x="1024" y="0"/>
                    <a:pt x="383" y="0"/>
                    <a:pt x="223" y="42"/>
                  </a:cubicBezTo>
                  <a:cubicBezTo>
                    <a:pt x="137" y="66"/>
                    <a:pt x="66" y="137"/>
                    <a:pt x="42" y="224"/>
                  </a:cubicBezTo>
                  <a:cubicBezTo>
                    <a:pt x="0" y="385"/>
                    <a:pt x="0" y="717"/>
                    <a:pt x="0" y="717"/>
                  </a:cubicBezTo>
                  <a:cubicBezTo>
                    <a:pt x="0" y="717"/>
                    <a:pt x="0" y="1051"/>
                    <a:pt x="42" y="1210"/>
                  </a:cubicBezTo>
                  <a:cubicBezTo>
                    <a:pt x="66" y="1297"/>
                    <a:pt x="135" y="1366"/>
                    <a:pt x="223" y="1390"/>
                  </a:cubicBezTo>
                  <a:cubicBezTo>
                    <a:pt x="385" y="1434"/>
                    <a:pt x="1024" y="1434"/>
                    <a:pt x="1024" y="1434"/>
                  </a:cubicBezTo>
                  <a:cubicBezTo>
                    <a:pt x="1024" y="1434"/>
                    <a:pt x="1665" y="1434"/>
                    <a:pt x="1825" y="1392"/>
                  </a:cubicBezTo>
                  <a:cubicBezTo>
                    <a:pt x="1913" y="1368"/>
                    <a:pt x="1982" y="1299"/>
                    <a:pt x="2006" y="1211"/>
                  </a:cubicBezTo>
                  <a:cubicBezTo>
                    <a:pt x="2048" y="1051"/>
                    <a:pt x="2048" y="719"/>
                    <a:pt x="2048" y="719"/>
                  </a:cubicBezTo>
                  <a:cubicBezTo>
                    <a:pt x="2048" y="719"/>
                    <a:pt x="2050" y="385"/>
                    <a:pt x="2006" y="224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F1AC5AA-CA80-46A3-A5C4-F8096B452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6063" y="2271713"/>
              <a:ext cx="2008188" cy="2314575"/>
            </a:xfrm>
            <a:custGeom>
              <a:avLst/>
              <a:gdLst>
                <a:gd name="T0" fmla="*/ 0 w 1265"/>
                <a:gd name="T1" fmla="*/ 1458 h 1458"/>
                <a:gd name="T2" fmla="*/ 1265 w 1265"/>
                <a:gd name="T3" fmla="*/ 729 h 1458"/>
                <a:gd name="T4" fmla="*/ 0 w 1265"/>
                <a:gd name="T5" fmla="*/ 0 h 1458"/>
                <a:gd name="T6" fmla="*/ 0 w 1265"/>
                <a:gd name="T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5" h="1458">
                  <a:moveTo>
                    <a:pt x="0" y="1458"/>
                  </a:moveTo>
                  <a:lnTo>
                    <a:pt x="1265" y="729"/>
                  </a:lnTo>
                  <a:lnTo>
                    <a:pt x="0" y="0"/>
                  </a:lnTo>
                  <a:lnTo>
                    <a:pt x="0" y="14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3A9CC-E771-47E1-872B-0EDB580E5D0B}"/>
              </a:ext>
            </a:extLst>
          </p:cNvPr>
          <p:cNvSpPr/>
          <p:nvPr/>
        </p:nvSpPr>
        <p:spPr>
          <a:xfrm>
            <a:off x="4572001" y="2766414"/>
            <a:ext cx="1527174" cy="283857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182880" bIns="1188720" rtlCol="0" anchor="b" anchorCtr="0"/>
          <a:lstStyle/>
          <a:p>
            <a:pPr>
              <a:spcBef>
                <a:spcPts val="1000"/>
              </a:spcBef>
            </a:pPr>
            <a:r>
              <a:rPr lang="mn-MN" sz="2600" dirty="0">
                <a:solidFill>
                  <a:schemeClr val="tx1"/>
                </a:solidFill>
                <a:latin typeface="+mj-lt"/>
              </a:rPr>
              <a:t>250K</a:t>
            </a:r>
            <a:br>
              <a:rPr lang="mn-MN" sz="1000" dirty="0">
                <a:solidFill>
                  <a:schemeClr val="tx1">
                    <a:alpha val="70000"/>
                  </a:schemeClr>
                </a:solidFill>
              </a:rPr>
            </a:b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дагагч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4736A3-C2C1-434D-A5F4-048D958A6D51}"/>
              </a:ext>
            </a:extLst>
          </p:cNvPr>
          <p:cNvGrpSpPr/>
          <p:nvPr/>
        </p:nvGrpSpPr>
        <p:grpSpPr>
          <a:xfrm>
            <a:off x="4605404" y="5023840"/>
            <a:ext cx="619159" cy="215444"/>
            <a:chOff x="2716968" y="5686426"/>
            <a:chExt cx="726084" cy="2154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D4CB845-BC15-470F-91AC-4EB107D4DAB4}"/>
                </a:ext>
              </a:extLst>
            </p:cNvPr>
            <p:cNvSpPr/>
            <p:nvPr/>
          </p:nvSpPr>
          <p:spPr>
            <a:xfrm>
              <a:off x="2716968" y="5686426"/>
              <a:ext cx="605935" cy="21544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400" dirty="0"/>
                <a:t>+</a:t>
              </a:r>
              <a:r>
                <a:rPr lang="mn-MN" sz="1400" dirty="0"/>
                <a:t>1</a:t>
              </a:r>
              <a:r>
                <a:rPr lang="en-US" sz="1400" dirty="0"/>
                <a:t>.80%</a:t>
              </a:r>
            </a:p>
          </p:txBody>
        </p:sp>
        <p:sp>
          <p:nvSpPr>
            <p:cNvPr id="22" name="Arrow: Up 21">
              <a:extLst>
                <a:ext uri="{FF2B5EF4-FFF2-40B4-BE49-F238E27FC236}">
                  <a16:creationId xmlns:a16="http://schemas.microsoft.com/office/drawing/2014/main" id="{3560EE13-4104-4AF6-B41E-E8F091652345}"/>
                </a:ext>
              </a:extLst>
            </p:cNvPr>
            <p:cNvSpPr/>
            <p:nvPr/>
          </p:nvSpPr>
          <p:spPr>
            <a:xfrm rot="10800000" flipV="1">
              <a:off x="3379947" y="5719505"/>
              <a:ext cx="63105" cy="138371"/>
            </a:xfrm>
            <a:prstGeom prst="upArrow">
              <a:avLst>
                <a:gd name="adj1" fmla="val 35544"/>
                <a:gd name="adj2" fmla="val 91555"/>
              </a:avLst>
            </a:prstGeom>
            <a:solidFill>
              <a:srgbClr val="3CB93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Freeform 10">
            <a:extLst>
              <a:ext uri="{FF2B5EF4-FFF2-40B4-BE49-F238E27FC236}">
                <a16:creationId xmlns:a16="http://schemas.microsoft.com/office/drawing/2014/main" id="{357AF626-DF08-4E0F-B7EC-F320FA3E38D4}"/>
              </a:ext>
            </a:extLst>
          </p:cNvPr>
          <p:cNvSpPr>
            <a:spLocks/>
          </p:cNvSpPr>
          <p:nvPr/>
        </p:nvSpPr>
        <p:spPr bwMode="auto">
          <a:xfrm>
            <a:off x="4580925" y="3214286"/>
            <a:ext cx="325289" cy="310064"/>
          </a:xfrm>
          <a:custGeom>
            <a:avLst/>
            <a:gdLst>
              <a:gd name="T0" fmla="*/ 2048 w 2048"/>
              <a:gd name="T1" fmla="*/ 197 h 1664"/>
              <a:gd name="T2" fmla="*/ 1806 w 2048"/>
              <a:gd name="T3" fmla="*/ 263 h 1664"/>
              <a:gd name="T4" fmla="*/ 1991 w 2048"/>
              <a:gd name="T5" fmla="*/ 31 h 1664"/>
              <a:gd name="T6" fmla="*/ 1725 w 2048"/>
              <a:gd name="T7" fmla="*/ 133 h 1664"/>
              <a:gd name="T8" fmla="*/ 1418 w 2048"/>
              <a:gd name="T9" fmla="*/ 0 h 1664"/>
              <a:gd name="T10" fmla="*/ 998 w 2048"/>
              <a:gd name="T11" fmla="*/ 420 h 1664"/>
              <a:gd name="T12" fmla="*/ 1008 w 2048"/>
              <a:gd name="T13" fmla="*/ 516 h 1664"/>
              <a:gd name="T14" fmla="*/ 143 w 2048"/>
              <a:gd name="T15" fmla="*/ 77 h 1664"/>
              <a:gd name="T16" fmla="*/ 85 w 2048"/>
              <a:gd name="T17" fmla="*/ 289 h 1664"/>
              <a:gd name="T18" fmla="*/ 272 w 2048"/>
              <a:gd name="T19" fmla="*/ 638 h 1664"/>
              <a:gd name="T20" fmla="*/ 82 w 2048"/>
              <a:gd name="T21" fmla="*/ 586 h 1664"/>
              <a:gd name="T22" fmla="*/ 82 w 2048"/>
              <a:gd name="T23" fmla="*/ 591 h 1664"/>
              <a:gd name="T24" fmla="*/ 418 w 2048"/>
              <a:gd name="T25" fmla="*/ 1003 h 1664"/>
              <a:gd name="T26" fmla="*/ 308 w 2048"/>
              <a:gd name="T27" fmla="*/ 1017 h 1664"/>
              <a:gd name="T28" fmla="*/ 229 w 2048"/>
              <a:gd name="T29" fmla="*/ 1010 h 1664"/>
              <a:gd name="T30" fmla="*/ 621 w 2048"/>
              <a:gd name="T31" fmla="*/ 1302 h 1664"/>
              <a:gd name="T32" fmla="*/ 100 w 2048"/>
              <a:gd name="T33" fmla="*/ 1481 h 1664"/>
              <a:gd name="T34" fmla="*/ 0 w 2048"/>
              <a:gd name="T35" fmla="*/ 1476 h 1664"/>
              <a:gd name="T36" fmla="*/ 644 w 2048"/>
              <a:gd name="T37" fmla="*/ 1664 h 1664"/>
              <a:gd name="T38" fmla="*/ 1839 w 2048"/>
              <a:gd name="T39" fmla="*/ 469 h 1664"/>
              <a:gd name="T40" fmla="*/ 1838 w 2048"/>
              <a:gd name="T41" fmla="*/ 415 h 1664"/>
              <a:gd name="T42" fmla="*/ 2048 w 2048"/>
              <a:gd name="T43" fmla="*/ 197 h 1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048" h="1664">
                <a:moveTo>
                  <a:pt x="2048" y="197"/>
                </a:moveTo>
                <a:cubicBezTo>
                  <a:pt x="1972" y="230"/>
                  <a:pt x="1891" y="253"/>
                  <a:pt x="1806" y="263"/>
                </a:cubicBezTo>
                <a:cubicBezTo>
                  <a:pt x="1893" y="211"/>
                  <a:pt x="1960" y="130"/>
                  <a:pt x="1991" y="31"/>
                </a:cubicBezTo>
                <a:cubicBezTo>
                  <a:pt x="1910" y="80"/>
                  <a:pt x="1820" y="114"/>
                  <a:pt x="1725" y="133"/>
                </a:cubicBezTo>
                <a:cubicBezTo>
                  <a:pt x="1647" y="51"/>
                  <a:pt x="1538" y="0"/>
                  <a:pt x="1418" y="0"/>
                </a:cubicBezTo>
                <a:cubicBezTo>
                  <a:pt x="1185" y="0"/>
                  <a:pt x="998" y="189"/>
                  <a:pt x="998" y="420"/>
                </a:cubicBezTo>
                <a:cubicBezTo>
                  <a:pt x="998" y="453"/>
                  <a:pt x="1001" y="485"/>
                  <a:pt x="1008" y="516"/>
                </a:cubicBezTo>
                <a:cubicBezTo>
                  <a:pt x="659" y="499"/>
                  <a:pt x="350" y="331"/>
                  <a:pt x="143" y="77"/>
                </a:cubicBezTo>
                <a:cubicBezTo>
                  <a:pt x="106" y="139"/>
                  <a:pt x="85" y="211"/>
                  <a:pt x="85" y="289"/>
                </a:cubicBezTo>
                <a:cubicBezTo>
                  <a:pt x="85" y="434"/>
                  <a:pt x="160" y="563"/>
                  <a:pt x="272" y="638"/>
                </a:cubicBezTo>
                <a:cubicBezTo>
                  <a:pt x="204" y="636"/>
                  <a:pt x="138" y="617"/>
                  <a:pt x="82" y="586"/>
                </a:cubicBezTo>
                <a:cubicBezTo>
                  <a:pt x="82" y="587"/>
                  <a:pt x="82" y="589"/>
                  <a:pt x="82" y="591"/>
                </a:cubicBezTo>
                <a:cubicBezTo>
                  <a:pt x="82" y="795"/>
                  <a:pt x="227" y="964"/>
                  <a:pt x="418" y="1003"/>
                </a:cubicBezTo>
                <a:cubicBezTo>
                  <a:pt x="384" y="1012"/>
                  <a:pt x="347" y="1017"/>
                  <a:pt x="308" y="1017"/>
                </a:cubicBezTo>
                <a:cubicBezTo>
                  <a:pt x="281" y="1017"/>
                  <a:pt x="254" y="1015"/>
                  <a:pt x="229" y="1010"/>
                </a:cubicBezTo>
                <a:cubicBezTo>
                  <a:pt x="283" y="1176"/>
                  <a:pt x="438" y="1298"/>
                  <a:pt x="621" y="1302"/>
                </a:cubicBezTo>
                <a:cubicBezTo>
                  <a:pt x="478" y="1414"/>
                  <a:pt x="297" y="1481"/>
                  <a:pt x="100" y="1481"/>
                </a:cubicBezTo>
                <a:cubicBezTo>
                  <a:pt x="66" y="1481"/>
                  <a:pt x="33" y="1480"/>
                  <a:pt x="0" y="1476"/>
                </a:cubicBezTo>
                <a:cubicBezTo>
                  <a:pt x="186" y="1596"/>
                  <a:pt x="406" y="1664"/>
                  <a:pt x="644" y="1664"/>
                </a:cubicBezTo>
                <a:cubicBezTo>
                  <a:pt x="1417" y="1664"/>
                  <a:pt x="1839" y="1024"/>
                  <a:pt x="1839" y="469"/>
                </a:cubicBezTo>
                <a:cubicBezTo>
                  <a:pt x="1839" y="451"/>
                  <a:pt x="1838" y="433"/>
                  <a:pt x="1838" y="415"/>
                </a:cubicBezTo>
                <a:cubicBezTo>
                  <a:pt x="1921" y="356"/>
                  <a:pt x="1991" y="282"/>
                  <a:pt x="2048" y="197"/>
                </a:cubicBezTo>
                <a:close/>
              </a:path>
            </a:pathLst>
          </a:custGeom>
          <a:solidFill>
            <a:srgbClr val="03A9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78261F7-BDB6-4F14-B88D-7DE2285B100E}"/>
              </a:ext>
            </a:extLst>
          </p:cNvPr>
          <p:cNvGrpSpPr/>
          <p:nvPr/>
        </p:nvGrpSpPr>
        <p:grpSpPr>
          <a:xfrm>
            <a:off x="9128123" y="5023840"/>
            <a:ext cx="720499" cy="215444"/>
            <a:chOff x="2716969" y="5686426"/>
            <a:chExt cx="720499" cy="21544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CAF2328-7523-4851-816F-F63A1EF30B00}"/>
                </a:ext>
              </a:extLst>
            </p:cNvPr>
            <p:cNvSpPr/>
            <p:nvPr/>
          </p:nvSpPr>
          <p:spPr>
            <a:xfrm>
              <a:off x="2716969" y="5686426"/>
              <a:ext cx="605935" cy="21544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400" dirty="0"/>
                <a:t>+0.11%</a:t>
              </a:r>
            </a:p>
          </p:txBody>
        </p:sp>
        <p:sp>
          <p:nvSpPr>
            <p:cNvPr id="26" name="Arrow: Up 25">
              <a:extLst>
                <a:ext uri="{FF2B5EF4-FFF2-40B4-BE49-F238E27FC236}">
                  <a16:creationId xmlns:a16="http://schemas.microsoft.com/office/drawing/2014/main" id="{C9A1491E-5D17-4F1D-975C-7104E2955DF7}"/>
                </a:ext>
              </a:extLst>
            </p:cNvPr>
            <p:cNvSpPr/>
            <p:nvPr/>
          </p:nvSpPr>
          <p:spPr>
            <a:xfrm flipV="1">
              <a:off x="3374363" y="5717124"/>
              <a:ext cx="63105" cy="138371"/>
            </a:xfrm>
            <a:prstGeom prst="upArrow">
              <a:avLst>
                <a:gd name="adj1" fmla="val 35544"/>
                <a:gd name="adj2" fmla="val 91555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3CCEF63-F721-428E-8FA4-F9D1B36612A6}"/>
              </a:ext>
            </a:extLst>
          </p:cNvPr>
          <p:cNvGrpSpPr/>
          <p:nvPr/>
        </p:nvGrpSpPr>
        <p:grpSpPr>
          <a:xfrm>
            <a:off x="9153523" y="3209326"/>
            <a:ext cx="320778" cy="320778"/>
            <a:chOff x="2666999" y="3175"/>
            <a:chExt cx="6854824" cy="6854825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CCCAB251-9032-4293-B5F6-58722955F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999" y="3175"/>
              <a:ext cx="6854824" cy="6854825"/>
            </a:xfrm>
            <a:custGeom>
              <a:avLst/>
              <a:gdLst>
                <a:gd name="T0" fmla="*/ 1935 w 2048"/>
                <a:gd name="T1" fmla="*/ 0 h 2048"/>
                <a:gd name="T2" fmla="*/ 113 w 2048"/>
                <a:gd name="T3" fmla="*/ 0 h 2048"/>
                <a:gd name="T4" fmla="*/ 0 w 2048"/>
                <a:gd name="T5" fmla="*/ 113 h 2048"/>
                <a:gd name="T6" fmla="*/ 0 w 2048"/>
                <a:gd name="T7" fmla="*/ 1935 h 2048"/>
                <a:gd name="T8" fmla="*/ 113 w 2048"/>
                <a:gd name="T9" fmla="*/ 2048 h 2048"/>
                <a:gd name="T10" fmla="*/ 1935 w 2048"/>
                <a:gd name="T11" fmla="*/ 2048 h 2048"/>
                <a:gd name="T12" fmla="*/ 2048 w 2048"/>
                <a:gd name="T13" fmla="*/ 1935 h 2048"/>
                <a:gd name="T14" fmla="*/ 2048 w 2048"/>
                <a:gd name="T15" fmla="*/ 1935 h 2048"/>
                <a:gd name="T16" fmla="*/ 2048 w 2048"/>
                <a:gd name="T17" fmla="*/ 113 h 2048"/>
                <a:gd name="T18" fmla="*/ 1935 w 2048"/>
                <a:gd name="T19" fmla="*/ 0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48" h="2048">
                  <a:moveTo>
                    <a:pt x="1935" y="0"/>
                  </a:moveTo>
                  <a:cubicBezTo>
                    <a:pt x="113" y="0"/>
                    <a:pt x="113" y="0"/>
                    <a:pt x="113" y="0"/>
                  </a:cubicBezTo>
                  <a:cubicBezTo>
                    <a:pt x="51" y="0"/>
                    <a:pt x="0" y="51"/>
                    <a:pt x="0" y="113"/>
                  </a:cubicBezTo>
                  <a:cubicBezTo>
                    <a:pt x="0" y="1935"/>
                    <a:pt x="0" y="1935"/>
                    <a:pt x="0" y="1935"/>
                  </a:cubicBezTo>
                  <a:cubicBezTo>
                    <a:pt x="0" y="1997"/>
                    <a:pt x="51" y="2048"/>
                    <a:pt x="113" y="2048"/>
                  </a:cubicBezTo>
                  <a:cubicBezTo>
                    <a:pt x="1935" y="2048"/>
                    <a:pt x="1935" y="2048"/>
                    <a:pt x="1935" y="2048"/>
                  </a:cubicBezTo>
                  <a:cubicBezTo>
                    <a:pt x="1997" y="2048"/>
                    <a:pt x="2048" y="1997"/>
                    <a:pt x="2048" y="1935"/>
                  </a:cubicBezTo>
                  <a:cubicBezTo>
                    <a:pt x="2048" y="1935"/>
                    <a:pt x="2048" y="1935"/>
                    <a:pt x="2048" y="1935"/>
                  </a:cubicBezTo>
                  <a:cubicBezTo>
                    <a:pt x="2048" y="113"/>
                    <a:pt x="2048" y="113"/>
                    <a:pt x="2048" y="113"/>
                  </a:cubicBezTo>
                  <a:cubicBezTo>
                    <a:pt x="2048" y="51"/>
                    <a:pt x="1997" y="0"/>
                    <a:pt x="1935" y="0"/>
                  </a:cubicBezTo>
                  <a:close/>
                </a:path>
              </a:pathLst>
            </a:custGeom>
            <a:solidFill>
              <a:srgbClr val="FFFC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24FF71FB-2136-4410-B93F-D527DC422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589" y="955715"/>
              <a:ext cx="5278065" cy="4949788"/>
            </a:xfrm>
            <a:custGeom>
              <a:avLst/>
              <a:gdLst>
                <a:gd name="T0" fmla="*/ 931 w 1838"/>
                <a:gd name="T1" fmla="*/ 1724 h 1724"/>
                <a:gd name="T2" fmla="*/ 917 w 1838"/>
                <a:gd name="T3" fmla="*/ 1724 h 1724"/>
                <a:gd name="T4" fmla="*/ 907 w 1838"/>
                <a:gd name="T5" fmla="*/ 1724 h 1724"/>
                <a:gd name="T6" fmla="*/ 661 w 1838"/>
                <a:gd name="T7" fmla="*/ 1627 h 1724"/>
                <a:gd name="T8" fmla="*/ 519 w 1838"/>
                <a:gd name="T9" fmla="*/ 1554 h 1724"/>
                <a:gd name="T10" fmla="*/ 444 w 1838"/>
                <a:gd name="T11" fmla="*/ 1548 h 1724"/>
                <a:gd name="T12" fmla="*/ 340 w 1838"/>
                <a:gd name="T13" fmla="*/ 1560 h 1724"/>
                <a:gd name="T14" fmla="*/ 301 w 1838"/>
                <a:gd name="T15" fmla="*/ 1565 h 1724"/>
                <a:gd name="T16" fmla="*/ 275 w 1838"/>
                <a:gd name="T17" fmla="*/ 1546 h 1724"/>
                <a:gd name="T18" fmla="*/ 264 w 1838"/>
                <a:gd name="T19" fmla="*/ 1504 h 1724"/>
                <a:gd name="T20" fmla="*/ 236 w 1838"/>
                <a:gd name="T21" fmla="*/ 1444 h 1724"/>
                <a:gd name="T22" fmla="*/ 3 w 1838"/>
                <a:gd name="T23" fmla="*/ 1355 h 1724"/>
                <a:gd name="T24" fmla="*/ 1 w 1838"/>
                <a:gd name="T25" fmla="*/ 1344 h 1724"/>
                <a:gd name="T26" fmla="*/ 17 w 1838"/>
                <a:gd name="T27" fmla="*/ 1324 h 1724"/>
                <a:gd name="T28" fmla="*/ 406 w 1838"/>
                <a:gd name="T29" fmla="*/ 998 h 1724"/>
                <a:gd name="T30" fmla="*/ 406 w 1838"/>
                <a:gd name="T31" fmla="*/ 997 h 1724"/>
                <a:gd name="T32" fmla="*/ 416 w 1838"/>
                <a:gd name="T33" fmla="*/ 912 h 1724"/>
                <a:gd name="T34" fmla="*/ 299 w 1838"/>
                <a:gd name="T35" fmla="*/ 838 h 1724"/>
                <a:gd name="T36" fmla="*/ 273 w 1838"/>
                <a:gd name="T37" fmla="*/ 829 h 1724"/>
                <a:gd name="T38" fmla="*/ 191 w 1838"/>
                <a:gd name="T39" fmla="*/ 750 h 1724"/>
                <a:gd name="T40" fmla="*/ 263 w 1838"/>
                <a:gd name="T41" fmla="*/ 703 h 1724"/>
                <a:gd name="T42" fmla="*/ 285 w 1838"/>
                <a:gd name="T43" fmla="*/ 707 h 1724"/>
                <a:gd name="T44" fmla="*/ 379 w 1838"/>
                <a:gd name="T45" fmla="*/ 732 h 1724"/>
                <a:gd name="T46" fmla="*/ 436 w 1838"/>
                <a:gd name="T47" fmla="*/ 714 h 1724"/>
                <a:gd name="T48" fmla="*/ 432 w 1838"/>
                <a:gd name="T49" fmla="*/ 658 h 1724"/>
                <a:gd name="T50" fmla="*/ 454 w 1838"/>
                <a:gd name="T51" fmla="*/ 288 h 1724"/>
                <a:gd name="T52" fmla="*/ 900 w 1838"/>
                <a:gd name="T53" fmla="*/ 0 h 1724"/>
                <a:gd name="T54" fmla="*/ 933 w 1838"/>
                <a:gd name="T55" fmla="*/ 0 h 1724"/>
                <a:gd name="T56" fmla="*/ 937 w 1838"/>
                <a:gd name="T57" fmla="*/ 0 h 1724"/>
                <a:gd name="T58" fmla="*/ 1384 w 1838"/>
                <a:gd name="T59" fmla="*/ 287 h 1724"/>
                <a:gd name="T60" fmla="*/ 1406 w 1838"/>
                <a:gd name="T61" fmla="*/ 658 h 1724"/>
                <a:gd name="T62" fmla="*/ 1405 w 1838"/>
                <a:gd name="T63" fmla="*/ 663 h 1724"/>
                <a:gd name="T64" fmla="*/ 1402 w 1838"/>
                <a:gd name="T65" fmla="*/ 714 h 1724"/>
                <a:gd name="T66" fmla="*/ 1454 w 1838"/>
                <a:gd name="T67" fmla="*/ 732 h 1724"/>
                <a:gd name="T68" fmla="*/ 1454 w 1838"/>
                <a:gd name="T69" fmla="*/ 732 h 1724"/>
                <a:gd name="T70" fmla="*/ 1543 w 1838"/>
                <a:gd name="T71" fmla="*/ 707 h 1724"/>
                <a:gd name="T72" fmla="*/ 1570 w 1838"/>
                <a:gd name="T73" fmla="*/ 702 h 1724"/>
                <a:gd name="T74" fmla="*/ 1602 w 1838"/>
                <a:gd name="T75" fmla="*/ 708 h 1724"/>
                <a:gd name="T76" fmla="*/ 1603 w 1838"/>
                <a:gd name="T77" fmla="*/ 708 h 1724"/>
                <a:gd name="T78" fmla="*/ 1647 w 1838"/>
                <a:gd name="T79" fmla="*/ 756 h 1724"/>
                <a:gd name="T80" fmla="*/ 1565 w 1838"/>
                <a:gd name="T81" fmla="*/ 829 h 1724"/>
                <a:gd name="T82" fmla="*/ 1539 w 1838"/>
                <a:gd name="T83" fmla="*/ 838 h 1724"/>
                <a:gd name="T84" fmla="*/ 1422 w 1838"/>
                <a:gd name="T85" fmla="*/ 912 h 1724"/>
                <a:gd name="T86" fmla="*/ 1432 w 1838"/>
                <a:gd name="T87" fmla="*/ 997 h 1724"/>
                <a:gd name="T88" fmla="*/ 1432 w 1838"/>
                <a:gd name="T89" fmla="*/ 998 h 1724"/>
                <a:gd name="T90" fmla="*/ 1821 w 1838"/>
                <a:gd name="T91" fmla="*/ 1324 h 1724"/>
                <a:gd name="T92" fmla="*/ 1838 w 1838"/>
                <a:gd name="T93" fmla="*/ 1344 h 1724"/>
                <a:gd name="T94" fmla="*/ 1835 w 1838"/>
                <a:gd name="T95" fmla="*/ 1355 h 1724"/>
                <a:gd name="T96" fmla="*/ 1602 w 1838"/>
                <a:gd name="T97" fmla="*/ 1444 h 1724"/>
                <a:gd name="T98" fmla="*/ 1574 w 1838"/>
                <a:gd name="T99" fmla="*/ 1503 h 1724"/>
                <a:gd name="T100" fmla="*/ 1563 w 1838"/>
                <a:gd name="T101" fmla="*/ 1545 h 1724"/>
                <a:gd name="T102" fmla="*/ 1539 w 1838"/>
                <a:gd name="T103" fmla="*/ 1564 h 1724"/>
                <a:gd name="T104" fmla="*/ 1537 w 1838"/>
                <a:gd name="T105" fmla="*/ 1564 h 1724"/>
                <a:gd name="T106" fmla="*/ 1498 w 1838"/>
                <a:gd name="T107" fmla="*/ 1559 h 1724"/>
                <a:gd name="T108" fmla="*/ 1394 w 1838"/>
                <a:gd name="T109" fmla="*/ 1548 h 1724"/>
                <a:gd name="T110" fmla="*/ 1319 w 1838"/>
                <a:gd name="T111" fmla="*/ 1554 h 1724"/>
                <a:gd name="T112" fmla="*/ 1177 w 1838"/>
                <a:gd name="T113" fmla="*/ 1627 h 1724"/>
                <a:gd name="T114" fmla="*/ 931 w 1838"/>
                <a:gd name="T115" fmla="*/ 1724 h 1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38" h="1724">
                  <a:moveTo>
                    <a:pt x="931" y="1724"/>
                  </a:moveTo>
                  <a:cubicBezTo>
                    <a:pt x="926" y="1724"/>
                    <a:pt x="921" y="1724"/>
                    <a:pt x="917" y="1724"/>
                  </a:cubicBezTo>
                  <a:cubicBezTo>
                    <a:pt x="914" y="1724"/>
                    <a:pt x="910" y="1724"/>
                    <a:pt x="907" y="1724"/>
                  </a:cubicBezTo>
                  <a:cubicBezTo>
                    <a:pt x="799" y="1724"/>
                    <a:pt x="729" y="1675"/>
                    <a:pt x="661" y="1627"/>
                  </a:cubicBezTo>
                  <a:cubicBezTo>
                    <a:pt x="615" y="1594"/>
                    <a:pt x="570" y="1563"/>
                    <a:pt x="519" y="1554"/>
                  </a:cubicBezTo>
                  <a:cubicBezTo>
                    <a:pt x="493" y="1550"/>
                    <a:pt x="468" y="1548"/>
                    <a:pt x="444" y="1548"/>
                  </a:cubicBezTo>
                  <a:cubicBezTo>
                    <a:pt x="400" y="1548"/>
                    <a:pt x="365" y="1555"/>
                    <a:pt x="340" y="1560"/>
                  </a:cubicBezTo>
                  <a:cubicBezTo>
                    <a:pt x="325" y="1563"/>
                    <a:pt x="312" y="1565"/>
                    <a:pt x="301" y="1565"/>
                  </a:cubicBezTo>
                  <a:cubicBezTo>
                    <a:pt x="291" y="1565"/>
                    <a:pt x="280" y="1563"/>
                    <a:pt x="275" y="1546"/>
                  </a:cubicBezTo>
                  <a:cubicBezTo>
                    <a:pt x="270" y="1531"/>
                    <a:pt x="267" y="1517"/>
                    <a:pt x="264" y="1504"/>
                  </a:cubicBezTo>
                  <a:cubicBezTo>
                    <a:pt x="256" y="1468"/>
                    <a:pt x="251" y="1446"/>
                    <a:pt x="236" y="1444"/>
                  </a:cubicBezTo>
                  <a:cubicBezTo>
                    <a:pt x="64" y="1418"/>
                    <a:pt x="14" y="1381"/>
                    <a:pt x="3" y="1355"/>
                  </a:cubicBezTo>
                  <a:cubicBezTo>
                    <a:pt x="2" y="1352"/>
                    <a:pt x="1" y="1348"/>
                    <a:pt x="1" y="1344"/>
                  </a:cubicBezTo>
                  <a:cubicBezTo>
                    <a:pt x="0" y="1334"/>
                    <a:pt x="7" y="1326"/>
                    <a:pt x="17" y="1324"/>
                  </a:cubicBezTo>
                  <a:cubicBezTo>
                    <a:pt x="282" y="1280"/>
                    <a:pt x="401" y="1009"/>
                    <a:pt x="406" y="998"/>
                  </a:cubicBezTo>
                  <a:cubicBezTo>
                    <a:pt x="406" y="997"/>
                    <a:pt x="406" y="997"/>
                    <a:pt x="406" y="997"/>
                  </a:cubicBezTo>
                  <a:cubicBezTo>
                    <a:pt x="423" y="964"/>
                    <a:pt x="426" y="935"/>
                    <a:pt x="416" y="912"/>
                  </a:cubicBezTo>
                  <a:cubicBezTo>
                    <a:pt x="398" y="869"/>
                    <a:pt x="338" y="850"/>
                    <a:pt x="299" y="838"/>
                  </a:cubicBezTo>
                  <a:cubicBezTo>
                    <a:pt x="289" y="835"/>
                    <a:pt x="280" y="832"/>
                    <a:pt x="273" y="829"/>
                  </a:cubicBezTo>
                  <a:cubicBezTo>
                    <a:pt x="195" y="798"/>
                    <a:pt x="188" y="766"/>
                    <a:pt x="191" y="750"/>
                  </a:cubicBezTo>
                  <a:cubicBezTo>
                    <a:pt x="196" y="722"/>
                    <a:pt x="233" y="703"/>
                    <a:pt x="263" y="703"/>
                  </a:cubicBezTo>
                  <a:cubicBezTo>
                    <a:pt x="271" y="703"/>
                    <a:pt x="279" y="704"/>
                    <a:pt x="285" y="707"/>
                  </a:cubicBezTo>
                  <a:cubicBezTo>
                    <a:pt x="320" y="724"/>
                    <a:pt x="352" y="732"/>
                    <a:pt x="379" y="732"/>
                  </a:cubicBezTo>
                  <a:cubicBezTo>
                    <a:pt x="417" y="732"/>
                    <a:pt x="434" y="716"/>
                    <a:pt x="436" y="714"/>
                  </a:cubicBezTo>
                  <a:cubicBezTo>
                    <a:pt x="435" y="696"/>
                    <a:pt x="434" y="677"/>
                    <a:pt x="432" y="658"/>
                  </a:cubicBezTo>
                  <a:cubicBezTo>
                    <a:pt x="425" y="532"/>
                    <a:pt x="415" y="377"/>
                    <a:pt x="454" y="288"/>
                  </a:cubicBezTo>
                  <a:cubicBezTo>
                    <a:pt x="573" y="21"/>
                    <a:pt x="826" y="0"/>
                    <a:pt x="900" y="0"/>
                  </a:cubicBezTo>
                  <a:cubicBezTo>
                    <a:pt x="902" y="0"/>
                    <a:pt x="933" y="0"/>
                    <a:pt x="933" y="0"/>
                  </a:cubicBezTo>
                  <a:cubicBezTo>
                    <a:pt x="937" y="0"/>
                    <a:pt x="937" y="0"/>
                    <a:pt x="937" y="0"/>
                  </a:cubicBezTo>
                  <a:cubicBezTo>
                    <a:pt x="1012" y="0"/>
                    <a:pt x="1265" y="21"/>
                    <a:pt x="1384" y="287"/>
                  </a:cubicBezTo>
                  <a:cubicBezTo>
                    <a:pt x="1423" y="376"/>
                    <a:pt x="1413" y="533"/>
                    <a:pt x="1406" y="658"/>
                  </a:cubicBezTo>
                  <a:cubicBezTo>
                    <a:pt x="1405" y="663"/>
                    <a:pt x="1405" y="663"/>
                    <a:pt x="1405" y="663"/>
                  </a:cubicBezTo>
                  <a:cubicBezTo>
                    <a:pt x="1404" y="681"/>
                    <a:pt x="1403" y="698"/>
                    <a:pt x="1402" y="714"/>
                  </a:cubicBezTo>
                  <a:cubicBezTo>
                    <a:pt x="1404" y="716"/>
                    <a:pt x="1419" y="731"/>
                    <a:pt x="1454" y="732"/>
                  </a:cubicBezTo>
                  <a:cubicBezTo>
                    <a:pt x="1454" y="732"/>
                    <a:pt x="1454" y="732"/>
                    <a:pt x="1454" y="732"/>
                  </a:cubicBezTo>
                  <a:cubicBezTo>
                    <a:pt x="1480" y="731"/>
                    <a:pt x="1510" y="723"/>
                    <a:pt x="1543" y="707"/>
                  </a:cubicBezTo>
                  <a:cubicBezTo>
                    <a:pt x="1552" y="703"/>
                    <a:pt x="1563" y="702"/>
                    <a:pt x="1570" y="702"/>
                  </a:cubicBezTo>
                  <a:cubicBezTo>
                    <a:pt x="1582" y="702"/>
                    <a:pt x="1593" y="704"/>
                    <a:pt x="1602" y="708"/>
                  </a:cubicBezTo>
                  <a:cubicBezTo>
                    <a:pt x="1603" y="708"/>
                    <a:pt x="1603" y="708"/>
                    <a:pt x="1603" y="708"/>
                  </a:cubicBezTo>
                  <a:cubicBezTo>
                    <a:pt x="1630" y="717"/>
                    <a:pt x="1647" y="736"/>
                    <a:pt x="1647" y="756"/>
                  </a:cubicBezTo>
                  <a:cubicBezTo>
                    <a:pt x="1648" y="774"/>
                    <a:pt x="1634" y="802"/>
                    <a:pt x="1565" y="829"/>
                  </a:cubicBezTo>
                  <a:cubicBezTo>
                    <a:pt x="1558" y="832"/>
                    <a:pt x="1549" y="835"/>
                    <a:pt x="1539" y="838"/>
                  </a:cubicBezTo>
                  <a:cubicBezTo>
                    <a:pt x="1500" y="850"/>
                    <a:pt x="1440" y="869"/>
                    <a:pt x="1422" y="912"/>
                  </a:cubicBezTo>
                  <a:cubicBezTo>
                    <a:pt x="1412" y="935"/>
                    <a:pt x="1415" y="964"/>
                    <a:pt x="1432" y="997"/>
                  </a:cubicBezTo>
                  <a:cubicBezTo>
                    <a:pt x="1432" y="997"/>
                    <a:pt x="1432" y="997"/>
                    <a:pt x="1432" y="998"/>
                  </a:cubicBezTo>
                  <a:cubicBezTo>
                    <a:pt x="1437" y="1009"/>
                    <a:pt x="1556" y="1280"/>
                    <a:pt x="1821" y="1324"/>
                  </a:cubicBezTo>
                  <a:cubicBezTo>
                    <a:pt x="1831" y="1326"/>
                    <a:pt x="1838" y="1334"/>
                    <a:pt x="1838" y="1344"/>
                  </a:cubicBezTo>
                  <a:cubicBezTo>
                    <a:pt x="1837" y="1348"/>
                    <a:pt x="1836" y="1352"/>
                    <a:pt x="1835" y="1355"/>
                  </a:cubicBezTo>
                  <a:cubicBezTo>
                    <a:pt x="1824" y="1381"/>
                    <a:pt x="1774" y="1417"/>
                    <a:pt x="1602" y="1444"/>
                  </a:cubicBezTo>
                  <a:cubicBezTo>
                    <a:pt x="1588" y="1446"/>
                    <a:pt x="1582" y="1465"/>
                    <a:pt x="1574" y="1503"/>
                  </a:cubicBezTo>
                  <a:cubicBezTo>
                    <a:pt x="1571" y="1517"/>
                    <a:pt x="1568" y="1531"/>
                    <a:pt x="1563" y="1545"/>
                  </a:cubicBezTo>
                  <a:cubicBezTo>
                    <a:pt x="1560" y="1558"/>
                    <a:pt x="1552" y="1564"/>
                    <a:pt x="1539" y="1564"/>
                  </a:cubicBezTo>
                  <a:cubicBezTo>
                    <a:pt x="1537" y="1564"/>
                    <a:pt x="1537" y="1564"/>
                    <a:pt x="1537" y="1564"/>
                  </a:cubicBezTo>
                  <a:cubicBezTo>
                    <a:pt x="1527" y="1564"/>
                    <a:pt x="1514" y="1562"/>
                    <a:pt x="1498" y="1559"/>
                  </a:cubicBezTo>
                  <a:cubicBezTo>
                    <a:pt x="1469" y="1553"/>
                    <a:pt x="1436" y="1548"/>
                    <a:pt x="1394" y="1548"/>
                  </a:cubicBezTo>
                  <a:cubicBezTo>
                    <a:pt x="1370" y="1548"/>
                    <a:pt x="1345" y="1550"/>
                    <a:pt x="1319" y="1554"/>
                  </a:cubicBezTo>
                  <a:cubicBezTo>
                    <a:pt x="1268" y="1563"/>
                    <a:pt x="1224" y="1594"/>
                    <a:pt x="1177" y="1627"/>
                  </a:cubicBezTo>
                  <a:cubicBezTo>
                    <a:pt x="1109" y="1675"/>
                    <a:pt x="1039" y="1724"/>
                    <a:pt x="931" y="17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DC37864D-D20F-4877-ADFC-387F0144DD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490" y="898616"/>
              <a:ext cx="5393886" cy="5065567"/>
            </a:xfrm>
            <a:custGeom>
              <a:avLst/>
              <a:gdLst>
                <a:gd name="T0" fmla="*/ 1386 w 1878"/>
                <a:gd name="T1" fmla="*/ 315 h 1764"/>
                <a:gd name="T2" fmla="*/ 1403 w 1878"/>
                <a:gd name="T3" fmla="*/ 733 h 1764"/>
                <a:gd name="T4" fmla="*/ 1408 w 1878"/>
                <a:gd name="T5" fmla="*/ 747 h 1764"/>
                <a:gd name="T6" fmla="*/ 1474 w 1878"/>
                <a:gd name="T7" fmla="*/ 771 h 1764"/>
                <a:gd name="T8" fmla="*/ 1571 w 1878"/>
                <a:gd name="T9" fmla="*/ 745 h 1764"/>
                <a:gd name="T10" fmla="*/ 1615 w 1878"/>
                <a:gd name="T11" fmla="*/ 746 h 1764"/>
                <a:gd name="T12" fmla="*/ 1648 w 1878"/>
                <a:gd name="T13" fmla="*/ 776 h 1764"/>
                <a:gd name="T14" fmla="*/ 1553 w 1878"/>
                <a:gd name="T15" fmla="*/ 839 h 1764"/>
                <a:gd name="T16" fmla="*/ 1434 w 1878"/>
                <a:gd name="T17" fmla="*/ 1025 h 1764"/>
                <a:gd name="T18" fmla="*/ 1837 w 1878"/>
                <a:gd name="T19" fmla="*/ 1368 h 1764"/>
                <a:gd name="T20" fmla="*/ 1575 w 1878"/>
                <a:gd name="T21" fmla="*/ 1519 h 1764"/>
                <a:gd name="T22" fmla="*/ 1559 w 1878"/>
                <a:gd name="T23" fmla="*/ 1564 h 1764"/>
                <a:gd name="T24" fmla="*/ 1522 w 1878"/>
                <a:gd name="T25" fmla="*/ 1560 h 1764"/>
                <a:gd name="T26" fmla="*/ 1336 w 1878"/>
                <a:gd name="T27" fmla="*/ 1555 h 1764"/>
                <a:gd name="T28" fmla="*/ 951 w 1878"/>
                <a:gd name="T29" fmla="*/ 1725 h 1764"/>
                <a:gd name="T30" fmla="*/ 936 w 1878"/>
                <a:gd name="T31" fmla="*/ 1724 h 1764"/>
                <a:gd name="T32" fmla="*/ 927 w 1878"/>
                <a:gd name="T33" fmla="*/ 1725 h 1764"/>
                <a:gd name="T34" fmla="*/ 542 w 1878"/>
                <a:gd name="T35" fmla="*/ 1555 h 1764"/>
                <a:gd name="T36" fmla="*/ 356 w 1878"/>
                <a:gd name="T37" fmla="*/ 1561 h 1764"/>
                <a:gd name="T38" fmla="*/ 313 w 1878"/>
                <a:gd name="T39" fmla="*/ 1561 h 1764"/>
                <a:gd name="T40" fmla="*/ 259 w 1878"/>
                <a:gd name="T41" fmla="*/ 1445 h 1764"/>
                <a:gd name="T42" fmla="*/ 40 w 1878"/>
                <a:gd name="T43" fmla="*/ 1363 h 1764"/>
                <a:gd name="T44" fmla="*/ 454 w 1878"/>
                <a:gd name="T45" fmla="*/ 924 h 1764"/>
                <a:gd name="T46" fmla="*/ 300 w 1878"/>
                <a:gd name="T47" fmla="*/ 831 h 1764"/>
                <a:gd name="T48" fmla="*/ 283 w 1878"/>
                <a:gd name="T49" fmla="*/ 742 h 1764"/>
                <a:gd name="T50" fmla="*/ 399 w 1878"/>
                <a:gd name="T51" fmla="*/ 771 h 1764"/>
                <a:gd name="T52" fmla="*/ 476 w 1878"/>
                <a:gd name="T53" fmla="*/ 741 h 1764"/>
                <a:gd name="T54" fmla="*/ 472 w 1878"/>
                <a:gd name="T55" fmla="*/ 677 h 1764"/>
                <a:gd name="T56" fmla="*/ 920 w 1878"/>
                <a:gd name="T57" fmla="*/ 40 h 1764"/>
                <a:gd name="T58" fmla="*/ 957 w 1878"/>
                <a:gd name="T59" fmla="*/ 39 h 1764"/>
                <a:gd name="T60" fmla="*/ 952 w 1878"/>
                <a:gd name="T61" fmla="*/ 0 h 1764"/>
                <a:gd name="T62" fmla="*/ 457 w 1878"/>
                <a:gd name="T63" fmla="*/ 300 h 1764"/>
                <a:gd name="T64" fmla="*/ 436 w 1878"/>
                <a:gd name="T65" fmla="*/ 725 h 1764"/>
                <a:gd name="T66" fmla="*/ 313 w 1878"/>
                <a:gd name="T67" fmla="*/ 709 h 1764"/>
                <a:gd name="T68" fmla="*/ 192 w 1878"/>
                <a:gd name="T69" fmla="*/ 766 h 1764"/>
                <a:gd name="T70" fmla="*/ 313 w 1878"/>
                <a:gd name="T71" fmla="*/ 876 h 1764"/>
                <a:gd name="T72" fmla="*/ 409 w 1878"/>
                <a:gd name="T73" fmla="*/ 1008 h 1764"/>
                <a:gd name="T74" fmla="*/ 34 w 1878"/>
                <a:gd name="T75" fmla="*/ 1325 h 1764"/>
                <a:gd name="T76" fmla="*/ 5 w 1878"/>
                <a:gd name="T77" fmla="*/ 1383 h 1764"/>
                <a:gd name="T78" fmla="*/ 265 w 1878"/>
                <a:gd name="T79" fmla="*/ 1528 h 1764"/>
                <a:gd name="T80" fmla="*/ 321 w 1878"/>
                <a:gd name="T81" fmla="*/ 1605 h 1764"/>
                <a:gd name="T82" fmla="*/ 464 w 1878"/>
                <a:gd name="T83" fmla="*/ 1587 h 1764"/>
                <a:gd name="T84" fmla="*/ 670 w 1878"/>
                <a:gd name="T85" fmla="*/ 1663 h 1764"/>
                <a:gd name="T86" fmla="*/ 937 w 1878"/>
                <a:gd name="T87" fmla="*/ 1763 h 1764"/>
                <a:gd name="T88" fmla="*/ 1208 w 1878"/>
                <a:gd name="T89" fmla="*/ 1663 h 1764"/>
                <a:gd name="T90" fmla="*/ 1414 w 1878"/>
                <a:gd name="T91" fmla="*/ 1587 h 1764"/>
                <a:gd name="T92" fmla="*/ 1557 w 1878"/>
                <a:gd name="T93" fmla="*/ 1603 h 1764"/>
                <a:gd name="T94" fmla="*/ 1602 w 1878"/>
                <a:gd name="T95" fmla="*/ 1571 h 1764"/>
                <a:gd name="T96" fmla="*/ 1626 w 1878"/>
                <a:gd name="T97" fmla="*/ 1483 h 1764"/>
                <a:gd name="T98" fmla="*/ 1877 w 1878"/>
                <a:gd name="T99" fmla="*/ 1365 h 1764"/>
                <a:gd name="T100" fmla="*/ 1470 w 1878"/>
                <a:gd name="T101" fmla="*/ 1010 h 1764"/>
                <a:gd name="T102" fmla="*/ 1460 w 1878"/>
                <a:gd name="T103" fmla="*/ 939 h 1764"/>
                <a:gd name="T104" fmla="*/ 1592 w 1878"/>
                <a:gd name="T105" fmla="*/ 867 h 1764"/>
                <a:gd name="T106" fmla="*/ 1630 w 1878"/>
                <a:gd name="T107" fmla="*/ 710 h 1764"/>
                <a:gd name="T108" fmla="*/ 1591 w 1878"/>
                <a:gd name="T109" fmla="*/ 702 h 1764"/>
                <a:gd name="T110" fmla="*/ 1474 w 1878"/>
                <a:gd name="T111" fmla="*/ 732 h 1764"/>
                <a:gd name="T112" fmla="*/ 1445 w 1878"/>
                <a:gd name="T113" fmla="*/ 684 h 1764"/>
                <a:gd name="T114" fmla="*/ 1421 w 1878"/>
                <a:gd name="T115" fmla="*/ 300 h 1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78" h="1764">
                  <a:moveTo>
                    <a:pt x="957" y="39"/>
                  </a:moveTo>
                  <a:cubicBezTo>
                    <a:pt x="1028" y="39"/>
                    <a:pt x="1271" y="58"/>
                    <a:pt x="1386" y="315"/>
                  </a:cubicBezTo>
                  <a:cubicBezTo>
                    <a:pt x="1424" y="400"/>
                    <a:pt x="1414" y="553"/>
                    <a:pt x="1406" y="677"/>
                  </a:cubicBezTo>
                  <a:cubicBezTo>
                    <a:pt x="1405" y="696"/>
                    <a:pt x="1404" y="715"/>
                    <a:pt x="1403" y="733"/>
                  </a:cubicBezTo>
                  <a:cubicBezTo>
                    <a:pt x="1402" y="741"/>
                    <a:pt x="1402" y="741"/>
                    <a:pt x="1402" y="741"/>
                  </a:cubicBezTo>
                  <a:cubicBezTo>
                    <a:pt x="1408" y="747"/>
                    <a:pt x="1408" y="747"/>
                    <a:pt x="1408" y="747"/>
                  </a:cubicBezTo>
                  <a:cubicBezTo>
                    <a:pt x="1410" y="749"/>
                    <a:pt x="1429" y="770"/>
                    <a:pt x="1473" y="771"/>
                  </a:cubicBezTo>
                  <a:cubicBezTo>
                    <a:pt x="1474" y="771"/>
                    <a:pt x="1474" y="771"/>
                    <a:pt x="1474" y="771"/>
                  </a:cubicBezTo>
                  <a:cubicBezTo>
                    <a:pt x="1474" y="771"/>
                    <a:pt x="1474" y="771"/>
                    <a:pt x="1474" y="771"/>
                  </a:cubicBezTo>
                  <a:cubicBezTo>
                    <a:pt x="1503" y="770"/>
                    <a:pt x="1536" y="761"/>
                    <a:pt x="1571" y="745"/>
                  </a:cubicBezTo>
                  <a:cubicBezTo>
                    <a:pt x="1576" y="742"/>
                    <a:pt x="1583" y="741"/>
                    <a:pt x="1591" y="741"/>
                  </a:cubicBezTo>
                  <a:cubicBezTo>
                    <a:pt x="1599" y="741"/>
                    <a:pt x="1608" y="743"/>
                    <a:pt x="1615" y="746"/>
                  </a:cubicBezTo>
                  <a:cubicBezTo>
                    <a:pt x="1616" y="746"/>
                    <a:pt x="1616" y="746"/>
                    <a:pt x="1616" y="746"/>
                  </a:cubicBezTo>
                  <a:cubicBezTo>
                    <a:pt x="1635" y="753"/>
                    <a:pt x="1648" y="765"/>
                    <a:pt x="1648" y="776"/>
                  </a:cubicBezTo>
                  <a:cubicBezTo>
                    <a:pt x="1648" y="782"/>
                    <a:pt x="1643" y="805"/>
                    <a:pt x="1578" y="831"/>
                  </a:cubicBezTo>
                  <a:cubicBezTo>
                    <a:pt x="1571" y="833"/>
                    <a:pt x="1563" y="836"/>
                    <a:pt x="1553" y="839"/>
                  </a:cubicBezTo>
                  <a:cubicBezTo>
                    <a:pt x="1510" y="853"/>
                    <a:pt x="1446" y="873"/>
                    <a:pt x="1424" y="924"/>
                  </a:cubicBezTo>
                  <a:cubicBezTo>
                    <a:pt x="1412" y="953"/>
                    <a:pt x="1415" y="987"/>
                    <a:pt x="1434" y="1025"/>
                  </a:cubicBezTo>
                  <a:cubicBezTo>
                    <a:pt x="1442" y="1043"/>
                    <a:pt x="1564" y="1318"/>
                    <a:pt x="1838" y="1363"/>
                  </a:cubicBezTo>
                  <a:cubicBezTo>
                    <a:pt x="1838" y="1364"/>
                    <a:pt x="1838" y="1366"/>
                    <a:pt x="1837" y="1368"/>
                  </a:cubicBezTo>
                  <a:cubicBezTo>
                    <a:pt x="1832" y="1379"/>
                    <a:pt x="1803" y="1416"/>
                    <a:pt x="1619" y="1445"/>
                  </a:cubicBezTo>
                  <a:cubicBezTo>
                    <a:pt x="1590" y="1449"/>
                    <a:pt x="1583" y="1481"/>
                    <a:pt x="1575" y="1519"/>
                  </a:cubicBezTo>
                  <a:cubicBezTo>
                    <a:pt x="1572" y="1532"/>
                    <a:pt x="1569" y="1546"/>
                    <a:pt x="1565" y="1560"/>
                  </a:cubicBezTo>
                  <a:cubicBezTo>
                    <a:pt x="1563" y="1564"/>
                    <a:pt x="1563" y="1564"/>
                    <a:pt x="1559" y="1564"/>
                  </a:cubicBezTo>
                  <a:cubicBezTo>
                    <a:pt x="1557" y="1564"/>
                    <a:pt x="1557" y="1564"/>
                    <a:pt x="1557" y="1564"/>
                  </a:cubicBezTo>
                  <a:cubicBezTo>
                    <a:pt x="1548" y="1564"/>
                    <a:pt x="1536" y="1563"/>
                    <a:pt x="1522" y="1560"/>
                  </a:cubicBezTo>
                  <a:cubicBezTo>
                    <a:pt x="1496" y="1555"/>
                    <a:pt x="1460" y="1548"/>
                    <a:pt x="1414" y="1548"/>
                  </a:cubicBezTo>
                  <a:cubicBezTo>
                    <a:pt x="1389" y="1548"/>
                    <a:pt x="1362" y="1551"/>
                    <a:pt x="1336" y="1555"/>
                  </a:cubicBezTo>
                  <a:cubicBezTo>
                    <a:pt x="1280" y="1564"/>
                    <a:pt x="1234" y="1597"/>
                    <a:pt x="1186" y="1631"/>
                  </a:cubicBezTo>
                  <a:cubicBezTo>
                    <a:pt x="1121" y="1677"/>
                    <a:pt x="1053" y="1725"/>
                    <a:pt x="951" y="1725"/>
                  </a:cubicBezTo>
                  <a:cubicBezTo>
                    <a:pt x="946" y="1725"/>
                    <a:pt x="942" y="1725"/>
                    <a:pt x="937" y="1724"/>
                  </a:cubicBezTo>
                  <a:cubicBezTo>
                    <a:pt x="936" y="1724"/>
                    <a:pt x="936" y="1724"/>
                    <a:pt x="936" y="1724"/>
                  </a:cubicBezTo>
                  <a:cubicBezTo>
                    <a:pt x="935" y="1724"/>
                    <a:pt x="935" y="1724"/>
                    <a:pt x="935" y="1724"/>
                  </a:cubicBezTo>
                  <a:cubicBezTo>
                    <a:pt x="933" y="1725"/>
                    <a:pt x="930" y="1725"/>
                    <a:pt x="927" y="1725"/>
                  </a:cubicBezTo>
                  <a:cubicBezTo>
                    <a:pt x="825" y="1725"/>
                    <a:pt x="757" y="1677"/>
                    <a:pt x="692" y="1631"/>
                  </a:cubicBezTo>
                  <a:cubicBezTo>
                    <a:pt x="644" y="1597"/>
                    <a:pt x="598" y="1565"/>
                    <a:pt x="542" y="1555"/>
                  </a:cubicBezTo>
                  <a:cubicBezTo>
                    <a:pt x="516" y="1551"/>
                    <a:pt x="489" y="1549"/>
                    <a:pt x="464" y="1549"/>
                  </a:cubicBezTo>
                  <a:cubicBezTo>
                    <a:pt x="418" y="1549"/>
                    <a:pt x="382" y="1555"/>
                    <a:pt x="356" y="1561"/>
                  </a:cubicBezTo>
                  <a:cubicBezTo>
                    <a:pt x="342" y="1563"/>
                    <a:pt x="330" y="1566"/>
                    <a:pt x="321" y="1566"/>
                  </a:cubicBezTo>
                  <a:cubicBezTo>
                    <a:pt x="315" y="1566"/>
                    <a:pt x="315" y="1565"/>
                    <a:pt x="313" y="1561"/>
                  </a:cubicBezTo>
                  <a:cubicBezTo>
                    <a:pt x="309" y="1547"/>
                    <a:pt x="306" y="1533"/>
                    <a:pt x="303" y="1519"/>
                  </a:cubicBezTo>
                  <a:cubicBezTo>
                    <a:pt x="295" y="1482"/>
                    <a:pt x="288" y="1449"/>
                    <a:pt x="259" y="1445"/>
                  </a:cubicBezTo>
                  <a:cubicBezTo>
                    <a:pt x="75" y="1417"/>
                    <a:pt x="46" y="1379"/>
                    <a:pt x="41" y="1368"/>
                  </a:cubicBezTo>
                  <a:cubicBezTo>
                    <a:pt x="40" y="1366"/>
                    <a:pt x="40" y="1365"/>
                    <a:pt x="40" y="1363"/>
                  </a:cubicBezTo>
                  <a:cubicBezTo>
                    <a:pt x="314" y="1318"/>
                    <a:pt x="436" y="1043"/>
                    <a:pt x="444" y="1025"/>
                  </a:cubicBezTo>
                  <a:cubicBezTo>
                    <a:pt x="463" y="987"/>
                    <a:pt x="466" y="953"/>
                    <a:pt x="454" y="924"/>
                  </a:cubicBezTo>
                  <a:cubicBezTo>
                    <a:pt x="432" y="873"/>
                    <a:pt x="368" y="853"/>
                    <a:pt x="325" y="839"/>
                  </a:cubicBezTo>
                  <a:cubicBezTo>
                    <a:pt x="315" y="836"/>
                    <a:pt x="307" y="833"/>
                    <a:pt x="300" y="831"/>
                  </a:cubicBezTo>
                  <a:cubicBezTo>
                    <a:pt x="245" y="809"/>
                    <a:pt x="228" y="787"/>
                    <a:pt x="230" y="773"/>
                  </a:cubicBezTo>
                  <a:cubicBezTo>
                    <a:pt x="233" y="758"/>
                    <a:pt x="260" y="742"/>
                    <a:pt x="283" y="742"/>
                  </a:cubicBezTo>
                  <a:cubicBezTo>
                    <a:pt x="289" y="742"/>
                    <a:pt x="293" y="743"/>
                    <a:pt x="297" y="745"/>
                  </a:cubicBezTo>
                  <a:cubicBezTo>
                    <a:pt x="334" y="762"/>
                    <a:pt x="369" y="771"/>
                    <a:pt x="399" y="771"/>
                  </a:cubicBezTo>
                  <a:cubicBezTo>
                    <a:pt x="447" y="771"/>
                    <a:pt x="468" y="749"/>
                    <a:pt x="470" y="747"/>
                  </a:cubicBezTo>
                  <a:cubicBezTo>
                    <a:pt x="476" y="741"/>
                    <a:pt x="476" y="741"/>
                    <a:pt x="476" y="741"/>
                  </a:cubicBezTo>
                  <a:cubicBezTo>
                    <a:pt x="475" y="733"/>
                    <a:pt x="475" y="733"/>
                    <a:pt x="475" y="733"/>
                  </a:cubicBezTo>
                  <a:cubicBezTo>
                    <a:pt x="474" y="715"/>
                    <a:pt x="473" y="696"/>
                    <a:pt x="472" y="677"/>
                  </a:cubicBezTo>
                  <a:cubicBezTo>
                    <a:pt x="464" y="553"/>
                    <a:pt x="454" y="400"/>
                    <a:pt x="492" y="315"/>
                  </a:cubicBezTo>
                  <a:cubicBezTo>
                    <a:pt x="606" y="59"/>
                    <a:pt x="849" y="40"/>
                    <a:pt x="920" y="40"/>
                  </a:cubicBezTo>
                  <a:cubicBezTo>
                    <a:pt x="922" y="40"/>
                    <a:pt x="953" y="39"/>
                    <a:pt x="953" y="39"/>
                  </a:cubicBezTo>
                  <a:lnTo>
                    <a:pt x="957" y="39"/>
                  </a:lnTo>
                  <a:close/>
                  <a:moveTo>
                    <a:pt x="957" y="0"/>
                  </a:moveTo>
                  <a:cubicBezTo>
                    <a:pt x="952" y="0"/>
                    <a:pt x="952" y="0"/>
                    <a:pt x="952" y="0"/>
                  </a:cubicBezTo>
                  <a:cubicBezTo>
                    <a:pt x="952" y="0"/>
                    <a:pt x="922" y="1"/>
                    <a:pt x="920" y="1"/>
                  </a:cubicBezTo>
                  <a:cubicBezTo>
                    <a:pt x="843" y="1"/>
                    <a:pt x="580" y="22"/>
                    <a:pt x="457" y="300"/>
                  </a:cubicBezTo>
                  <a:cubicBezTo>
                    <a:pt x="415" y="393"/>
                    <a:pt x="425" y="552"/>
                    <a:pt x="433" y="679"/>
                  </a:cubicBezTo>
                  <a:cubicBezTo>
                    <a:pt x="434" y="694"/>
                    <a:pt x="435" y="710"/>
                    <a:pt x="436" y="725"/>
                  </a:cubicBezTo>
                  <a:cubicBezTo>
                    <a:pt x="429" y="728"/>
                    <a:pt x="418" y="733"/>
                    <a:pt x="399" y="733"/>
                  </a:cubicBezTo>
                  <a:cubicBezTo>
                    <a:pt x="375" y="733"/>
                    <a:pt x="346" y="725"/>
                    <a:pt x="313" y="709"/>
                  </a:cubicBezTo>
                  <a:cubicBezTo>
                    <a:pt x="304" y="705"/>
                    <a:pt x="294" y="703"/>
                    <a:pt x="283" y="703"/>
                  </a:cubicBezTo>
                  <a:cubicBezTo>
                    <a:pt x="245" y="703"/>
                    <a:pt x="199" y="729"/>
                    <a:pt x="192" y="766"/>
                  </a:cubicBezTo>
                  <a:cubicBezTo>
                    <a:pt x="187" y="793"/>
                    <a:pt x="199" y="833"/>
                    <a:pt x="286" y="867"/>
                  </a:cubicBezTo>
                  <a:cubicBezTo>
                    <a:pt x="294" y="870"/>
                    <a:pt x="303" y="873"/>
                    <a:pt x="313" y="876"/>
                  </a:cubicBezTo>
                  <a:cubicBezTo>
                    <a:pt x="349" y="887"/>
                    <a:pt x="403" y="905"/>
                    <a:pt x="418" y="939"/>
                  </a:cubicBezTo>
                  <a:cubicBezTo>
                    <a:pt x="426" y="957"/>
                    <a:pt x="423" y="981"/>
                    <a:pt x="409" y="1008"/>
                  </a:cubicBezTo>
                  <a:cubicBezTo>
                    <a:pt x="409" y="1009"/>
                    <a:pt x="408" y="1009"/>
                    <a:pt x="408" y="1010"/>
                  </a:cubicBezTo>
                  <a:cubicBezTo>
                    <a:pt x="403" y="1021"/>
                    <a:pt x="289" y="1283"/>
                    <a:pt x="34" y="1325"/>
                  </a:cubicBezTo>
                  <a:cubicBezTo>
                    <a:pt x="14" y="1328"/>
                    <a:pt x="0" y="1346"/>
                    <a:pt x="1" y="1365"/>
                  </a:cubicBezTo>
                  <a:cubicBezTo>
                    <a:pt x="1" y="1371"/>
                    <a:pt x="3" y="1377"/>
                    <a:pt x="5" y="1383"/>
                  </a:cubicBezTo>
                  <a:cubicBezTo>
                    <a:pt x="24" y="1428"/>
                    <a:pt x="105" y="1460"/>
                    <a:pt x="252" y="1483"/>
                  </a:cubicBezTo>
                  <a:cubicBezTo>
                    <a:pt x="257" y="1490"/>
                    <a:pt x="262" y="1513"/>
                    <a:pt x="265" y="1528"/>
                  </a:cubicBezTo>
                  <a:cubicBezTo>
                    <a:pt x="268" y="1542"/>
                    <a:pt x="271" y="1556"/>
                    <a:pt x="276" y="1572"/>
                  </a:cubicBezTo>
                  <a:cubicBezTo>
                    <a:pt x="280" y="1587"/>
                    <a:pt x="292" y="1605"/>
                    <a:pt x="321" y="1605"/>
                  </a:cubicBezTo>
                  <a:cubicBezTo>
                    <a:pt x="333" y="1605"/>
                    <a:pt x="348" y="1602"/>
                    <a:pt x="364" y="1599"/>
                  </a:cubicBezTo>
                  <a:cubicBezTo>
                    <a:pt x="388" y="1594"/>
                    <a:pt x="422" y="1587"/>
                    <a:pt x="464" y="1587"/>
                  </a:cubicBezTo>
                  <a:cubicBezTo>
                    <a:pt x="487" y="1587"/>
                    <a:pt x="511" y="1589"/>
                    <a:pt x="535" y="1593"/>
                  </a:cubicBezTo>
                  <a:cubicBezTo>
                    <a:pt x="583" y="1601"/>
                    <a:pt x="623" y="1630"/>
                    <a:pt x="670" y="1663"/>
                  </a:cubicBezTo>
                  <a:cubicBezTo>
                    <a:pt x="737" y="1710"/>
                    <a:pt x="812" y="1764"/>
                    <a:pt x="927" y="1764"/>
                  </a:cubicBezTo>
                  <a:cubicBezTo>
                    <a:pt x="931" y="1764"/>
                    <a:pt x="934" y="1763"/>
                    <a:pt x="937" y="1763"/>
                  </a:cubicBezTo>
                  <a:cubicBezTo>
                    <a:pt x="941" y="1763"/>
                    <a:pt x="945" y="1764"/>
                    <a:pt x="951" y="1764"/>
                  </a:cubicBezTo>
                  <a:cubicBezTo>
                    <a:pt x="1066" y="1764"/>
                    <a:pt x="1141" y="1710"/>
                    <a:pt x="1208" y="1663"/>
                  </a:cubicBezTo>
                  <a:cubicBezTo>
                    <a:pt x="1255" y="1630"/>
                    <a:pt x="1295" y="1601"/>
                    <a:pt x="1343" y="1593"/>
                  </a:cubicBezTo>
                  <a:cubicBezTo>
                    <a:pt x="1367" y="1589"/>
                    <a:pt x="1391" y="1587"/>
                    <a:pt x="1414" y="1587"/>
                  </a:cubicBezTo>
                  <a:cubicBezTo>
                    <a:pt x="1454" y="1587"/>
                    <a:pt x="1486" y="1592"/>
                    <a:pt x="1514" y="1598"/>
                  </a:cubicBezTo>
                  <a:cubicBezTo>
                    <a:pt x="1532" y="1602"/>
                    <a:pt x="1546" y="1603"/>
                    <a:pt x="1557" y="1603"/>
                  </a:cubicBezTo>
                  <a:cubicBezTo>
                    <a:pt x="1559" y="1603"/>
                    <a:pt x="1559" y="1603"/>
                    <a:pt x="1559" y="1603"/>
                  </a:cubicBezTo>
                  <a:cubicBezTo>
                    <a:pt x="1581" y="1603"/>
                    <a:pt x="1596" y="1592"/>
                    <a:pt x="1602" y="1571"/>
                  </a:cubicBezTo>
                  <a:cubicBezTo>
                    <a:pt x="1607" y="1556"/>
                    <a:pt x="1610" y="1542"/>
                    <a:pt x="1613" y="1527"/>
                  </a:cubicBezTo>
                  <a:cubicBezTo>
                    <a:pt x="1616" y="1513"/>
                    <a:pt x="1621" y="1490"/>
                    <a:pt x="1626" y="1483"/>
                  </a:cubicBezTo>
                  <a:cubicBezTo>
                    <a:pt x="1773" y="1460"/>
                    <a:pt x="1854" y="1427"/>
                    <a:pt x="1873" y="1383"/>
                  </a:cubicBezTo>
                  <a:cubicBezTo>
                    <a:pt x="1875" y="1377"/>
                    <a:pt x="1877" y="1371"/>
                    <a:pt x="1877" y="1365"/>
                  </a:cubicBezTo>
                  <a:cubicBezTo>
                    <a:pt x="1878" y="1345"/>
                    <a:pt x="1864" y="1328"/>
                    <a:pt x="1844" y="1325"/>
                  </a:cubicBezTo>
                  <a:cubicBezTo>
                    <a:pt x="1589" y="1283"/>
                    <a:pt x="1475" y="1021"/>
                    <a:pt x="1470" y="1010"/>
                  </a:cubicBezTo>
                  <a:cubicBezTo>
                    <a:pt x="1470" y="1009"/>
                    <a:pt x="1469" y="1009"/>
                    <a:pt x="1469" y="1008"/>
                  </a:cubicBezTo>
                  <a:cubicBezTo>
                    <a:pt x="1455" y="980"/>
                    <a:pt x="1452" y="957"/>
                    <a:pt x="1460" y="939"/>
                  </a:cubicBezTo>
                  <a:cubicBezTo>
                    <a:pt x="1475" y="905"/>
                    <a:pt x="1529" y="888"/>
                    <a:pt x="1565" y="876"/>
                  </a:cubicBezTo>
                  <a:cubicBezTo>
                    <a:pt x="1575" y="873"/>
                    <a:pt x="1584" y="870"/>
                    <a:pt x="1592" y="867"/>
                  </a:cubicBezTo>
                  <a:cubicBezTo>
                    <a:pt x="1656" y="842"/>
                    <a:pt x="1688" y="811"/>
                    <a:pt x="1687" y="775"/>
                  </a:cubicBezTo>
                  <a:cubicBezTo>
                    <a:pt x="1686" y="747"/>
                    <a:pt x="1664" y="722"/>
                    <a:pt x="1630" y="710"/>
                  </a:cubicBezTo>
                  <a:cubicBezTo>
                    <a:pt x="1630" y="710"/>
                    <a:pt x="1630" y="710"/>
                    <a:pt x="1630" y="710"/>
                  </a:cubicBezTo>
                  <a:cubicBezTo>
                    <a:pt x="1618" y="705"/>
                    <a:pt x="1604" y="702"/>
                    <a:pt x="1591" y="702"/>
                  </a:cubicBezTo>
                  <a:cubicBezTo>
                    <a:pt x="1581" y="702"/>
                    <a:pt x="1568" y="703"/>
                    <a:pt x="1555" y="709"/>
                  </a:cubicBezTo>
                  <a:cubicBezTo>
                    <a:pt x="1524" y="724"/>
                    <a:pt x="1497" y="731"/>
                    <a:pt x="1474" y="732"/>
                  </a:cubicBezTo>
                  <a:cubicBezTo>
                    <a:pt x="1458" y="732"/>
                    <a:pt x="1448" y="728"/>
                    <a:pt x="1442" y="725"/>
                  </a:cubicBezTo>
                  <a:cubicBezTo>
                    <a:pt x="1443" y="712"/>
                    <a:pt x="1444" y="698"/>
                    <a:pt x="1445" y="684"/>
                  </a:cubicBezTo>
                  <a:cubicBezTo>
                    <a:pt x="1445" y="679"/>
                    <a:pt x="1445" y="679"/>
                    <a:pt x="1445" y="679"/>
                  </a:cubicBezTo>
                  <a:cubicBezTo>
                    <a:pt x="1453" y="552"/>
                    <a:pt x="1463" y="393"/>
                    <a:pt x="1421" y="300"/>
                  </a:cubicBezTo>
                  <a:cubicBezTo>
                    <a:pt x="1298" y="22"/>
                    <a:pt x="1035" y="0"/>
                    <a:pt x="957" y="0"/>
                  </a:cubicBezTo>
                </a:path>
              </a:pathLst>
            </a:custGeom>
            <a:solidFill>
              <a:srgbClr val="0303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04131831-D30D-48DB-8DD2-D3EEA0E3E5AE}"/>
              </a:ext>
            </a:extLst>
          </p:cNvPr>
          <p:cNvSpPr/>
          <p:nvPr/>
        </p:nvSpPr>
        <p:spPr>
          <a:xfrm>
            <a:off x="6099175" y="2766414"/>
            <a:ext cx="1527174" cy="283857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182880" bIns="1188720" rtlCol="0" anchor="b" anchorCtr="0"/>
          <a:lstStyle/>
          <a:p>
            <a:pPr>
              <a:spcBef>
                <a:spcPts val="1000"/>
              </a:spcBef>
            </a:pPr>
            <a:r>
              <a:rPr lang="mn-MN" sz="2600" dirty="0">
                <a:solidFill>
                  <a:schemeClr val="tx1"/>
                </a:solidFill>
                <a:latin typeface="+mj-lt"/>
              </a:rPr>
              <a:t>2.8M</a:t>
            </a:r>
            <a:br>
              <a:rPr lang="mn-MN" sz="1000" dirty="0">
                <a:solidFill>
                  <a:schemeClr val="tx1">
                    <a:alpha val="70000"/>
                  </a:schemeClr>
                </a:solidFill>
              </a:rPr>
            </a:b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дагагч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EC1539B-B7C0-40C9-A76C-CAF61BBF102D}"/>
              </a:ext>
            </a:extLst>
          </p:cNvPr>
          <p:cNvGrpSpPr/>
          <p:nvPr/>
        </p:nvGrpSpPr>
        <p:grpSpPr>
          <a:xfrm>
            <a:off x="6089159" y="5023840"/>
            <a:ext cx="739736" cy="215444"/>
            <a:chOff x="6495972" y="5686426"/>
            <a:chExt cx="739736" cy="21544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110FF2E-FECE-4324-8590-53A6CD9B3EF6}"/>
                </a:ext>
              </a:extLst>
            </p:cNvPr>
            <p:cNvSpPr/>
            <p:nvPr/>
          </p:nvSpPr>
          <p:spPr>
            <a:xfrm>
              <a:off x="6495972" y="5686426"/>
              <a:ext cx="644408" cy="21544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400" dirty="0"/>
                <a:t>+0.26%</a:t>
              </a:r>
            </a:p>
          </p:txBody>
        </p:sp>
        <p:sp>
          <p:nvSpPr>
            <p:cNvPr id="41" name="Arrow: Up 40">
              <a:extLst>
                <a:ext uri="{FF2B5EF4-FFF2-40B4-BE49-F238E27FC236}">
                  <a16:creationId xmlns:a16="http://schemas.microsoft.com/office/drawing/2014/main" id="{51E2EC73-8DD1-4774-91AA-56BD3B29FB69}"/>
                </a:ext>
              </a:extLst>
            </p:cNvPr>
            <p:cNvSpPr/>
            <p:nvPr/>
          </p:nvSpPr>
          <p:spPr>
            <a:xfrm flipV="1">
              <a:off x="7172603" y="5717124"/>
              <a:ext cx="63105" cy="138371"/>
            </a:xfrm>
            <a:prstGeom prst="upArrow">
              <a:avLst>
                <a:gd name="adj1" fmla="val 35544"/>
                <a:gd name="adj2" fmla="val 91555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Freeform 5">
            <a:extLst>
              <a:ext uri="{FF2B5EF4-FFF2-40B4-BE49-F238E27FC236}">
                <a16:creationId xmlns:a16="http://schemas.microsoft.com/office/drawing/2014/main" id="{4B43D9E5-C305-4B6A-BD24-3A3F33D6B1BC}"/>
              </a:ext>
            </a:extLst>
          </p:cNvPr>
          <p:cNvSpPr>
            <a:spLocks/>
          </p:cNvSpPr>
          <p:nvPr/>
        </p:nvSpPr>
        <p:spPr bwMode="auto">
          <a:xfrm>
            <a:off x="6103336" y="3204365"/>
            <a:ext cx="319985" cy="319985"/>
          </a:xfrm>
          <a:custGeom>
            <a:avLst/>
            <a:gdLst>
              <a:gd name="T0" fmla="*/ 1748 w 2048"/>
              <a:gd name="T1" fmla="*/ 0 h 2048"/>
              <a:gd name="T2" fmla="*/ 300 w 2048"/>
              <a:gd name="T3" fmla="*/ 0 h 2048"/>
              <a:gd name="T4" fmla="*/ 0 w 2048"/>
              <a:gd name="T5" fmla="*/ 300 h 2048"/>
              <a:gd name="T6" fmla="*/ 0 w 2048"/>
              <a:gd name="T7" fmla="*/ 1748 h 2048"/>
              <a:gd name="T8" fmla="*/ 300 w 2048"/>
              <a:gd name="T9" fmla="*/ 2048 h 2048"/>
              <a:gd name="T10" fmla="*/ 904 w 2048"/>
              <a:gd name="T11" fmla="*/ 2048 h 2048"/>
              <a:gd name="T12" fmla="*/ 904 w 2048"/>
              <a:gd name="T13" fmla="*/ 1324 h 2048"/>
              <a:gd name="T14" fmla="*/ 664 w 2048"/>
              <a:gd name="T15" fmla="*/ 1324 h 2048"/>
              <a:gd name="T16" fmla="*/ 664 w 2048"/>
              <a:gd name="T17" fmla="*/ 964 h 2048"/>
              <a:gd name="T18" fmla="*/ 904 w 2048"/>
              <a:gd name="T19" fmla="*/ 964 h 2048"/>
              <a:gd name="T20" fmla="*/ 904 w 2048"/>
              <a:gd name="T21" fmla="*/ 720 h 2048"/>
              <a:gd name="T22" fmla="*/ 1264 w 2048"/>
              <a:gd name="T23" fmla="*/ 360 h 2048"/>
              <a:gd name="T24" fmla="*/ 1628 w 2048"/>
              <a:gd name="T25" fmla="*/ 360 h 2048"/>
              <a:gd name="T26" fmla="*/ 1628 w 2048"/>
              <a:gd name="T27" fmla="*/ 720 h 2048"/>
              <a:gd name="T28" fmla="*/ 1264 w 2048"/>
              <a:gd name="T29" fmla="*/ 720 h 2048"/>
              <a:gd name="T30" fmla="*/ 1264 w 2048"/>
              <a:gd name="T31" fmla="*/ 964 h 2048"/>
              <a:gd name="T32" fmla="*/ 1628 w 2048"/>
              <a:gd name="T33" fmla="*/ 964 h 2048"/>
              <a:gd name="T34" fmla="*/ 1568 w 2048"/>
              <a:gd name="T35" fmla="*/ 1324 h 2048"/>
              <a:gd name="T36" fmla="*/ 1264 w 2048"/>
              <a:gd name="T37" fmla="*/ 1324 h 2048"/>
              <a:gd name="T38" fmla="*/ 1264 w 2048"/>
              <a:gd name="T39" fmla="*/ 2048 h 2048"/>
              <a:gd name="T40" fmla="*/ 1748 w 2048"/>
              <a:gd name="T41" fmla="*/ 2048 h 2048"/>
              <a:gd name="T42" fmla="*/ 2048 w 2048"/>
              <a:gd name="T43" fmla="*/ 1748 h 2048"/>
              <a:gd name="T44" fmla="*/ 2048 w 2048"/>
              <a:gd name="T45" fmla="*/ 300 h 2048"/>
              <a:gd name="T46" fmla="*/ 1748 w 2048"/>
              <a:gd name="T47" fmla="*/ 0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048" h="2048">
                <a:moveTo>
                  <a:pt x="1748" y="0"/>
                </a:moveTo>
                <a:cubicBezTo>
                  <a:pt x="300" y="0"/>
                  <a:pt x="300" y="0"/>
                  <a:pt x="300" y="0"/>
                </a:cubicBezTo>
                <a:cubicBezTo>
                  <a:pt x="135" y="0"/>
                  <a:pt x="0" y="135"/>
                  <a:pt x="0" y="300"/>
                </a:cubicBezTo>
                <a:cubicBezTo>
                  <a:pt x="0" y="1748"/>
                  <a:pt x="0" y="1748"/>
                  <a:pt x="0" y="1748"/>
                </a:cubicBezTo>
                <a:cubicBezTo>
                  <a:pt x="0" y="1913"/>
                  <a:pt x="135" y="2048"/>
                  <a:pt x="300" y="2048"/>
                </a:cubicBezTo>
                <a:cubicBezTo>
                  <a:pt x="904" y="2048"/>
                  <a:pt x="904" y="2048"/>
                  <a:pt x="904" y="2048"/>
                </a:cubicBezTo>
                <a:cubicBezTo>
                  <a:pt x="904" y="1324"/>
                  <a:pt x="904" y="1324"/>
                  <a:pt x="904" y="1324"/>
                </a:cubicBezTo>
                <a:cubicBezTo>
                  <a:pt x="664" y="1324"/>
                  <a:pt x="664" y="1324"/>
                  <a:pt x="664" y="1324"/>
                </a:cubicBezTo>
                <a:cubicBezTo>
                  <a:pt x="664" y="964"/>
                  <a:pt x="664" y="964"/>
                  <a:pt x="664" y="964"/>
                </a:cubicBezTo>
                <a:cubicBezTo>
                  <a:pt x="904" y="964"/>
                  <a:pt x="904" y="964"/>
                  <a:pt x="904" y="964"/>
                </a:cubicBezTo>
                <a:cubicBezTo>
                  <a:pt x="904" y="720"/>
                  <a:pt x="904" y="720"/>
                  <a:pt x="904" y="720"/>
                </a:cubicBezTo>
                <a:cubicBezTo>
                  <a:pt x="904" y="521"/>
                  <a:pt x="1065" y="360"/>
                  <a:pt x="1264" y="360"/>
                </a:cubicBezTo>
                <a:cubicBezTo>
                  <a:pt x="1628" y="360"/>
                  <a:pt x="1628" y="360"/>
                  <a:pt x="1628" y="360"/>
                </a:cubicBezTo>
                <a:cubicBezTo>
                  <a:pt x="1628" y="720"/>
                  <a:pt x="1628" y="720"/>
                  <a:pt x="1628" y="720"/>
                </a:cubicBezTo>
                <a:cubicBezTo>
                  <a:pt x="1264" y="720"/>
                  <a:pt x="1264" y="720"/>
                  <a:pt x="1264" y="720"/>
                </a:cubicBezTo>
                <a:cubicBezTo>
                  <a:pt x="1264" y="964"/>
                  <a:pt x="1264" y="964"/>
                  <a:pt x="1264" y="964"/>
                </a:cubicBezTo>
                <a:cubicBezTo>
                  <a:pt x="1628" y="964"/>
                  <a:pt x="1628" y="964"/>
                  <a:pt x="1628" y="964"/>
                </a:cubicBezTo>
                <a:cubicBezTo>
                  <a:pt x="1568" y="1324"/>
                  <a:pt x="1568" y="1324"/>
                  <a:pt x="1568" y="1324"/>
                </a:cubicBezTo>
                <a:cubicBezTo>
                  <a:pt x="1264" y="1324"/>
                  <a:pt x="1264" y="1324"/>
                  <a:pt x="1264" y="1324"/>
                </a:cubicBezTo>
                <a:cubicBezTo>
                  <a:pt x="1264" y="2048"/>
                  <a:pt x="1264" y="2048"/>
                  <a:pt x="1264" y="2048"/>
                </a:cubicBezTo>
                <a:cubicBezTo>
                  <a:pt x="1748" y="2048"/>
                  <a:pt x="1748" y="2048"/>
                  <a:pt x="1748" y="2048"/>
                </a:cubicBezTo>
                <a:cubicBezTo>
                  <a:pt x="1913" y="2048"/>
                  <a:pt x="2048" y="1913"/>
                  <a:pt x="2048" y="1748"/>
                </a:cubicBezTo>
                <a:cubicBezTo>
                  <a:pt x="2048" y="300"/>
                  <a:pt x="2048" y="300"/>
                  <a:pt x="2048" y="300"/>
                </a:cubicBezTo>
                <a:cubicBezTo>
                  <a:pt x="2048" y="135"/>
                  <a:pt x="1913" y="0"/>
                  <a:pt x="1748" y="0"/>
                </a:cubicBezTo>
                <a:close/>
              </a:path>
            </a:pathLst>
          </a:custGeom>
          <a:solidFill>
            <a:srgbClr val="282CE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6E45A0-A3F3-4C08-9EE0-0E6F25094592}"/>
              </a:ext>
            </a:extLst>
          </p:cNvPr>
          <p:cNvSpPr/>
          <p:nvPr/>
        </p:nvSpPr>
        <p:spPr>
          <a:xfrm>
            <a:off x="7626349" y="2766414"/>
            <a:ext cx="1527174" cy="283857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182880" bIns="1188720" rtlCol="0" anchor="b" anchorCtr="0"/>
          <a:lstStyle/>
          <a:p>
            <a:pPr>
              <a:spcBef>
                <a:spcPts val="1000"/>
              </a:spcBef>
            </a:pPr>
            <a:r>
              <a:rPr lang="mn-MN" sz="2600" dirty="0">
                <a:solidFill>
                  <a:schemeClr val="tx1"/>
                </a:solidFill>
                <a:latin typeface="+mj-lt"/>
              </a:rPr>
              <a:t>21.4M</a:t>
            </a:r>
            <a:br>
              <a:rPr lang="mn-MN" sz="1000" dirty="0">
                <a:solidFill>
                  <a:schemeClr val="tx1">
                    <a:alpha val="70000"/>
                  </a:schemeClr>
                </a:solidFill>
              </a:rPr>
            </a:b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захиалагч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80C2C7D-00EA-4D6C-9FDF-EAD3A552B48C}"/>
              </a:ext>
            </a:extLst>
          </p:cNvPr>
          <p:cNvGrpSpPr/>
          <p:nvPr/>
        </p:nvGrpSpPr>
        <p:grpSpPr>
          <a:xfrm>
            <a:off x="7635493" y="5023840"/>
            <a:ext cx="720498" cy="215444"/>
            <a:chOff x="2716970" y="5686426"/>
            <a:chExt cx="720498" cy="21544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2862FA2-F102-480D-9C05-9A5FF2655981}"/>
                </a:ext>
              </a:extLst>
            </p:cNvPr>
            <p:cNvSpPr/>
            <p:nvPr/>
          </p:nvSpPr>
          <p:spPr>
            <a:xfrm>
              <a:off x="2716970" y="5686426"/>
              <a:ext cx="605935" cy="21544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400" dirty="0"/>
                <a:t>+24.0%</a:t>
              </a:r>
            </a:p>
          </p:txBody>
        </p:sp>
        <p:sp>
          <p:nvSpPr>
            <p:cNvPr id="47" name="Arrow: Up 46">
              <a:extLst>
                <a:ext uri="{FF2B5EF4-FFF2-40B4-BE49-F238E27FC236}">
                  <a16:creationId xmlns:a16="http://schemas.microsoft.com/office/drawing/2014/main" id="{15E35541-8881-4D99-B3F4-B3ADAA366F2C}"/>
                </a:ext>
              </a:extLst>
            </p:cNvPr>
            <p:cNvSpPr/>
            <p:nvPr/>
          </p:nvSpPr>
          <p:spPr>
            <a:xfrm>
              <a:off x="3374363" y="5717124"/>
              <a:ext cx="63105" cy="138371"/>
            </a:xfrm>
            <a:prstGeom prst="upArrow">
              <a:avLst>
                <a:gd name="adj1" fmla="val 35544"/>
                <a:gd name="adj2" fmla="val 91555"/>
              </a:avLst>
            </a:prstGeom>
            <a:solidFill>
              <a:srgbClr val="3CB93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0B08E75-03D3-4BAB-A7BA-930E53F753EC}"/>
              </a:ext>
            </a:extLst>
          </p:cNvPr>
          <p:cNvSpPr/>
          <p:nvPr/>
        </p:nvSpPr>
        <p:spPr>
          <a:xfrm>
            <a:off x="9153523" y="2766414"/>
            <a:ext cx="1527174" cy="283857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182880" bIns="1188720" rtlCol="0" anchor="b" anchorCtr="0"/>
          <a:lstStyle/>
          <a:p>
            <a:pPr>
              <a:spcBef>
                <a:spcPts val="1000"/>
              </a:spcBef>
            </a:pPr>
            <a:r>
              <a:rPr lang="mn-MN" sz="2600" dirty="0">
                <a:solidFill>
                  <a:schemeClr val="tx1"/>
                </a:solidFill>
                <a:latin typeface="+mj-lt"/>
              </a:rPr>
              <a:t>8.2K</a:t>
            </a:r>
            <a:br>
              <a:rPr lang="mn-MN" sz="1000" dirty="0">
                <a:solidFill>
                  <a:schemeClr val="tx1">
                    <a:alpha val="70000"/>
                  </a:schemeClr>
                </a:solidFill>
              </a:rPr>
            </a:b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Snap оноо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E7134D0-BEAB-4090-AC5D-3A0C2CA14BF6}"/>
              </a:ext>
            </a:extLst>
          </p:cNvPr>
          <p:cNvGrpSpPr/>
          <p:nvPr/>
        </p:nvGrpSpPr>
        <p:grpSpPr>
          <a:xfrm>
            <a:off x="1523999" y="765175"/>
            <a:ext cx="1002507" cy="294190"/>
            <a:chOff x="1523999" y="765175"/>
            <a:chExt cx="1002507" cy="29419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6DE21D6-8CE3-4376-B838-52B3A47945A5}"/>
                </a:ext>
              </a:extLst>
            </p:cNvPr>
            <p:cNvSpPr/>
            <p:nvPr/>
          </p:nvSpPr>
          <p:spPr>
            <a:xfrm>
              <a:off x="1523999" y="765175"/>
              <a:ext cx="1002507" cy="2220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900" b="0" dirty="0">
                  <a:solidFill>
                    <a:srgbClr val="FFFFFF"/>
                  </a:solidFill>
                  <a:latin typeface="Open Sans" panose="020B0706030804020204" pitchFamily="34" charset="0"/>
                  <a:ea typeface="Open Sans" panose="020B0706030804020204" pitchFamily="34" charset="0"/>
                  <a:cs typeface="Open Sans" panose="020B0706030804020204" pitchFamily="34" charset="0"/>
                </a:rPr>
                <a:t>Сошиал</a:t>
              </a:r>
            </a:p>
          </p:txBody>
        </p:sp>
        <p:sp>
          <p:nvSpPr>
            <p:cNvPr id="51" name="Right Triangle 50">
              <a:extLst>
                <a:ext uri="{FF2B5EF4-FFF2-40B4-BE49-F238E27FC236}">
                  <a16:creationId xmlns:a16="http://schemas.microsoft.com/office/drawing/2014/main" id="{113530B3-3859-4DFB-8553-421EA0AB5179}"/>
                </a:ext>
              </a:extLst>
            </p:cNvPr>
            <p:cNvSpPr/>
            <p:nvPr/>
          </p:nvSpPr>
          <p:spPr>
            <a:xfrm flipV="1">
              <a:off x="1524000" y="987188"/>
              <a:ext cx="72580" cy="7217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3CC86F-FF84-4802-9248-6579431D17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975E3E4-F5B0-4BE6-A8E1-E780B3B9B2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29143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 animBg="1"/>
      <p:bldP spid="39" grpId="0"/>
      <p:bldP spid="43" grpId="0" animBg="1"/>
      <p:bldP spid="44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FBB9EF-E2D8-432F-8F92-21C805692364}"/>
              </a:ext>
            </a:extLst>
          </p:cNvPr>
          <p:cNvSpPr txBox="1"/>
          <p:nvPr/>
        </p:nvSpPr>
        <p:spPr>
          <a:xfrm>
            <a:off x="1524001" y="4610169"/>
            <a:ext cx="1321875" cy="6924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Үр дүн тогтвортой өсч, хүртээмж нэмэгдлээ.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13EFD-EC11-4703-B563-88B72722F864}"/>
              </a:ext>
            </a:extLst>
          </p:cNvPr>
          <p:cNvSpPr txBox="1"/>
          <p:nvPr/>
        </p:nvSpPr>
        <p:spPr>
          <a:xfrm>
            <a:off x="1524000" y="4011884"/>
            <a:ext cx="45845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mn-MN" sz="1400" b="1" dirty="0">
                <a:solidFill>
                  <a:schemeClr val="accent1"/>
                </a:solidFill>
                <a:ea typeface="Source Sans Pro" charset="0"/>
                <a:cs typeface="Source Sans Pro" charset="0"/>
              </a:rPr>
              <a:t>Эхлэл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22CE55-1CC5-488B-B9A3-34158C3A3317}"/>
              </a:ext>
            </a:extLst>
          </p:cNvPr>
          <p:cNvCxnSpPr/>
          <p:nvPr/>
        </p:nvCxnSpPr>
        <p:spPr>
          <a:xfrm>
            <a:off x="3045340" y="3869916"/>
            <a:ext cx="1335079" cy="0"/>
          </a:xfrm>
          <a:prstGeom prst="line">
            <a:avLst/>
          </a:prstGeom>
          <a:ln w="38100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A26A06-729B-4B51-98CC-85F8D37CF4E4}"/>
              </a:ext>
            </a:extLst>
          </p:cNvPr>
          <p:cNvCxnSpPr/>
          <p:nvPr/>
        </p:nvCxnSpPr>
        <p:spPr>
          <a:xfrm>
            <a:off x="1524001" y="4400255"/>
            <a:ext cx="1523999" cy="0"/>
          </a:xfrm>
          <a:prstGeom prst="line">
            <a:avLst/>
          </a:prstGeom>
          <a:ln w="38100" cap="flat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F33AA5-6AF3-4145-93AE-1F9C773B30B1}"/>
              </a:ext>
            </a:extLst>
          </p:cNvPr>
          <p:cNvCxnSpPr/>
          <p:nvPr/>
        </p:nvCxnSpPr>
        <p:spPr>
          <a:xfrm>
            <a:off x="4579883" y="3347086"/>
            <a:ext cx="1316916" cy="0"/>
          </a:xfrm>
          <a:prstGeom prst="line">
            <a:avLst/>
          </a:prstGeom>
          <a:ln w="38100" cap="flat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1AA50C-4C45-4B49-934E-B945B691B2D3}"/>
              </a:ext>
            </a:extLst>
          </p:cNvPr>
          <p:cNvCxnSpPr/>
          <p:nvPr/>
        </p:nvCxnSpPr>
        <p:spPr>
          <a:xfrm>
            <a:off x="6096000" y="2814731"/>
            <a:ext cx="1333446" cy="0"/>
          </a:xfrm>
          <a:prstGeom prst="line">
            <a:avLst/>
          </a:prstGeom>
          <a:ln w="38100" cap="flat">
            <a:solidFill>
              <a:schemeClr val="accent4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75FF70-4EB1-4778-B81A-99F0001EE714}"/>
              </a:ext>
            </a:extLst>
          </p:cNvPr>
          <p:cNvCxnSpPr/>
          <p:nvPr/>
        </p:nvCxnSpPr>
        <p:spPr>
          <a:xfrm>
            <a:off x="7621964" y="2293806"/>
            <a:ext cx="1331540" cy="0"/>
          </a:xfrm>
          <a:prstGeom prst="line">
            <a:avLst/>
          </a:prstGeom>
          <a:ln w="38100" cap="flat">
            <a:solidFill>
              <a:schemeClr val="accent5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20A5896-91D0-4ACB-9541-6B9C85E6591A}"/>
              </a:ext>
            </a:extLst>
          </p:cNvPr>
          <p:cNvSpPr txBox="1"/>
          <p:nvPr/>
        </p:nvSpPr>
        <p:spPr>
          <a:xfrm>
            <a:off x="3168634" y="4084658"/>
            <a:ext cx="1326062" cy="6924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Эхний алхам нь зорилгоо тодорхойлох явдал.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017C9A-5A06-418E-A970-30C39FF81F79}"/>
              </a:ext>
            </a:extLst>
          </p:cNvPr>
          <p:cNvSpPr txBox="1"/>
          <p:nvPr/>
        </p:nvSpPr>
        <p:spPr>
          <a:xfrm>
            <a:off x="3045340" y="3486373"/>
            <a:ext cx="66684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mn-MN" sz="1400" b="1" dirty="0">
                <a:solidFill>
                  <a:schemeClr val="tx1">
                    <a:alpha val="80000"/>
                  </a:schemeClr>
                </a:solidFill>
                <a:ea typeface="Source Sans Pro" charset="0"/>
                <a:cs typeface="Source Sans Pro" charset="0"/>
              </a:rPr>
              <a:t>Хоёрдугаар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A3C7D0-E265-4A07-A7A3-A0B8E8FF4630}"/>
              </a:ext>
            </a:extLst>
          </p:cNvPr>
          <p:cNvSpPr txBox="1"/>
          <p:nvPr/>
        </p:nvSpPr>
        <p:spPr>
          <a:xfrm>
            <a:off x="4703177" y="3543091"/>
            <a:ext cx="1307900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Дараагийн алхамд төлөвлөгөөгөө нарийвчилж гаргана.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31197B-C6CB-480E-9ED1-9C850F828942}"/>
              </a:ext>
            </a:extLst>
          </p:cNvPr>
          <p:cNvSpPr txBox="1"/>
          <p:nvPr/>
        </p:nvSpPr>
        <p:spPr>
          <a:xfrm>
            <a:off x="4579883" y="2944806"/>
            <a:ext cx="46929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mn-MN" sz="1400" b="1" dirty="0">
                <a:solidFill>
                  <a:schemeClr val="tx1">
                    <a:alpha val="80000"/>
                  </a:schemeClr>
                </a:solidFill>
                <a:ea typeface="Source Sans Pro" charset="0"/>
                <a:cs typeface="Source Sans Pro" charset="0"/>
              </a:rPr>
              <a:t>Гуравдугаар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005C69-0D79-4F10-8F9F-170CDECB9971}"/>
              </a:ext>
            </a:extLst>
          </p:cNvPr>
          <p:cNvSpPr txBox="1"/>
          <p:nvPr/>
        </p:nvSpPr>
        <p:spPr>
          <a:xfrm>
            <a:off x="6198778" y="3036691"/>
            <a:ext cx="1333446" cy="4726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Хэрэгжүүлж, үр дүнг хэмжинэ.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C73DE-8F94-41B1-9E63-EE013F51FCBB}"/>
              </a:ext>
            </a:extLst>
          </p:cNvPr>
          <p:cNvSpPr txBox="1"/>
          <p:nvPr/>
        </p:nvSpPr>
        <p:spPr>
          <a:xfrm>
            <a:off x="6096000" y="2438406"/>
            <a:ext cx="39433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mn-MN" sz="1400" b="1" dirty="0">
                <a:solidFill>
                  <a:schemeClr val="tx1">
                    <a:alpha val="80000"/>
                  </a:schemeClr>
                </a:solidFill>
                <a:ea typeface="Source Sans Pro" charset="0"/>
                <a:cs typeface="Source Sans Pro" charset="0"/>
              </a:rPr>
              <a:t>Шилдэг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E7DDED-CEE1-4824-93A5-51FDD36E9EB6}"/>
              </a:ext>
            </a:extLst>
          </p:cNvPr>
          <p:cNvSpPr txBox="1"/>
          <p:nvPr/>
        </p:nvSpPr>
        <p:spPr>
          <a:xfrm>
            <a:off x="7717183" y="2508425"/>
            <a:ext cx="1331540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mn-MN" sz="1000" dirty="0">
                <a:solidFill>
                  <a:schemeClr val="tx1">
                    <a:alpha val="70000"/>
                  </a:schemeClr>
                </a:solidFill>
              </a:rPr>
              <a:t>Сайжруулалт хийнэ.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673A67-8C95-4E01-AEC6-4C1E5EA110E6}"/>
              </a:ext>
            </a:extLst>
          </p:cNvPr>
          <p:cNvSpPr txBox="1"/>
          <p:nvPr/>
        </p:nvSpPr>
        <p:spPr>
          <a:xfrm>
            <a:off x="7621964" y="1910140"/>
            <a:ext cx="533800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mn-MN" sz="1400" b="1" dirty="0">
                <a:solidFill>
                  <a:schemeClr val="accent5"/>
                </a:solidFill>
                <a:ea typeface="Source Sans Pro" charset="0"/>
                <a:cs typeface="Source Sans Pro" charset="0"/>
              </a:rPr>
              <a:t>Төгсгөл</a:t>
            </a:r>
          </a:p>
        </p:txBody>
      </p:sp>
      <p:sp>
        <p:nvSpPr>
          <p:cNvPr id="34" name="Title 45">
            <a:extLst>
              <a:ext uri="{FF2B5EF4-FFF2-40B4-BE49-F238E27FC236}">
                <a16:creationId xmlns:a16="http://schemas.microsoft.com/office/drawing/2014/main" id="{FBF30CAB-D715-4219-A995-0B2FF47B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Алхамын инфографик </a:t>
            </a:r>
            <a:r>
              <a:rPr lang="mn-MN" dirty="0">
                <a:solidFill>
                  <a:schemeClr val="accent1"/>
                </a:solidFill>
              </a:rPr>
              <a:t>хэвтээ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BC76F4C-F47F-4AC9-AE22-37C2D6B07522}"/>
              </a:ext>
            </a:extLst>
          </p:cNvPr>
          <p:cNvCxnSpPr>
            <a:cxnSpLocks/>
          </p:cNvCxnSpPr>
          <p:nvPr/>
        </p:nvCxnSpPr>
        <p:spPr>
          <a:xfrm>
            <a:off x="10684191" y="3105570"/>
            <a:ext cx="0" cy="375243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68FBE7E-4A73-4474-80A0-F09B324EC8FA}"/>
              </a:ext>
            </a:extLst>
          </p:cNvPr>
          <p:cNvGrpSpPr/>
          <p:nvPr/>
        </p:nvGrpSpPr>
        <p:grpSpPr>
          <a:xfrm>
            <a:off x="1523999" y="765175"/>
            <a:ext cx="826133" cy="294190"/>
            <a:chOff x="1523999" y="765175"/>
            <a:chExt cx="826133" cy="29419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D83E032-9157-4B80-ABE1-1F655A9C0239}"/>
                </a:ext>
              </a:extLst>
            </p:cNvPr>
            <p:cNvSpPr/>
            <p:nvPr/>
          </p:nvSpPr>
          <p:spPr>
            <a:xfrm>
              <a:off x="1523999" y="765175"/>
              <a:ext cx="826133" cy="2220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900" b="0" dirty="0">
                  <a:solidFill>
                    <a:srgbClr val="FFFFFF"/>
                  </a:solidFill>
                  <a:latin typeface="Open Sans" panose="020B0706030804020204" pitchFamily="34" charset="0"/>
                  <a:ea typeface="Open Sans" panose="020B0706030804020204" pitchFamily="34" charset="0"/>
                  <a:cs typeface="Open Sans" panose="020B0706030804020204" pitchFamily="34" charset="0"/>
                </a:rPr>
                <a:t>Инфографик</a:t>
              </a:r>
            </a:p>
          </p:txBody>
        </p:sp>
        <p:sp>
          <p:nvSpPr>
            <p:cNvPr id="25" name="Right Triangle 24">
              <a:extLst>
                <a:ext uri="{FF2B5EF4-FFF2-40B4-BE49-F238E27FC236}">
                  <a16:creationId xmlns:a16="http://schemas.microsoft.com/office/drawing/2014/main" id="{3C59DFAC-A089-4FC5-981F-C6AD29176F96}"/>
                </a:ext>
              </a:extLst>
            </p:cNvPr>
            <p:cNvSpPr/>
            <p:nvPr/>
          </p:nvSpPr>
          <p:spPr>
            <a:xfrm flipV="1">
              <a:off x="1524000" y="987188"/>
              <a:ext cx="72580" cy="7217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9574B35-55B6-48CB-8F1B-376DB1959E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10628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906164A-9427-4602-A70D-5959E2D592F2}"/>
              </a:ext>
            </a:extLst>
          </p:cNvPr>
          <p:cNvGrpSpPr/>
          <p:nvPr/>
        </p:nvGrpSpPr>
        <p:grpSpPr>
          <a:xfrm>
            <a:off x="7240642" y="4035481"/>
            <a:ext cx="1161277" cy="2822519"/>
            <a:chOff x="7240642" y="4035481"/>
            <a:chExt cx="1161277" cy="2822519"/>
          </a:xfrm>
        </p:grpSpPr>
        <p:sp>
          <p:nvSpPr>
            <p:cNvPr id="84" name="Arrow: Pentagon 83">
              <a:extLst>
                <a:ext uri="{FF2B5EF4-FFF2-40B4-BE49-F238E27FC236}">
                  <a16:creationId xmlns:a16="http://schemas.microsoft.com/office/drawing/2014/main" id="{C2652D53-0730-4D2C-9A52-52CEA203899A}"/>
                </a:ext>
              </a:extLst>
            </p:cNvPr>
            <p:cNvSpPr/>
            <p:nvPr/>
          </p:nvSpPr>
          <p:spPr>
            <a:xfrm rot="16200000">
              <a:off x="6431364" y="4844759"/>
              <a:ext cx="2376826" cy="758270"/>
            </a:xfrm>
            <a:prstGeom prst="homePlate">
              <a:avLst>
                <a:gd name="adj" fmla="val 38782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0" rIns="457200" bIns="0" rtlCol="0" anchor="t" anchorCtr="0"/>
            <a:lstStyle/>
            <a:p>
              <a:pPr algn="ctr"/>
              <a:endParaRPr lang="en-US" sz="1600" dirty="0">
                <a:latin typeface="+mj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A1BBF99-C778-4190-8B6F-C553354BE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6691" y="6412190"/>
              <a:ext cx="1155228" cy="445810"/>
            </a:xfrm>
            <a:custGeom>
              <a:avLst/>
              <a:gdLst>
                <a:gd name="connsiteX0" fmla="*/ 0 w 1155228"/>
                <a:gd name="connsiteY0" fmla="*/ 0 h 445810"/>
                <a:gd name="connsiteX1" fmla="*/ 766774 w 1155228"/>
                <a:gd name="connsiteY1" fmla="*/ 0 h 445810"/>
                <a:gd name="connsiteX2" fmla="*/ 1155228 w 1155228"/>
                <a:gd name="connsiteY2" fmla="*/ 445810 h 445810"/>
                <a:gd name="connsiteX3" fmla="*/ 232030 w 1155228"/>
                <a:gd name="connsiteY3" fmla="*/ 445810 h 445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5228" h="445810">
                  <a:moveTo>
                    <a:pt x="0" y="0"/>
                  </a:moveTo>
                  <a:lnTo>
                    <a:pt x="766774" y="0"/>
                  </a:lnTo>
                  <a:lnTo>
                    <a:pt x="1155228" y="445810"/>
                  </a:lnTo>
                  <a:lnTo>
                    <a:pt x="232030" y="445810"/>
                  </a:lnTo>
                  <a:close/>
                </a:path>
              </a:pathLst>
            </a:custGeom>
            <a:solidFill>
              <a:schemeClr val="accent5">
                <a:alpha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E3101DC-EE0C-44A7-82E0-347212ACFD7F}"/>
              </a:ext>
            </a:extLst>
          </p:cNvPr>
          <p:cNvGrpSpPr/>
          <p:nvPr/>
        </p:nvGrpSpPr>
        <p:grpSpPr>
          <a:xfrm>
            <a:off x="3819145" y="4035481"/>
            <a:ext cx="1146727" cy="2822519"/>
            <a:chOff x="3812795" y="4035481"/>
            <a:chExt cx="1146727" cy="2822519"/>
          </a:xfrm>
        </p:grpSpPr>
        <p:sp>
          <p:nvSpPr>
            <p:cNvPr id="73" name="Arrow: Pentagon 72">
              <a:extLst>
                <a:ext uri="{FF2B5EF4-FFF2-40B4-BE49-F238E27FC236}">
                  <a16:creationId xmlns:a16="http://schemas.microsoft.com/office/drawing/2014/main" id="{1E679CCE-541B-48FD-A9E8-BDC886609FA8}"/>
                </a:ext>
              </a:extLst>
            </p:cNvPr>
            <p:cNvSpPr/>
            <p:nvPr/>
          </p:nvSpPr>
          <p:spPr>
            <a:xfrm rot="16200000">
              <a:off x="3389739" y="4844759"/>
              <a:ext cx="2376826" cy="758270"/>
            </a:xfrm>
            <a:prstGeom prst="homePlate">
              <a:avLst>
                <a:gd name="adj" fmla="val 3878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0" rIns="457200" bIns="0" rtlCol="0" anchor="t" anchorCtr="0"/>
            <a:lstStyle/>
            <a:p>
              <a:pPr algn="ctr"/>
              <a:endParaRPr lang="en-US" sz="1600" dirty="0">
                <a:latin typeface="+mj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D49DE6B-9D34-4D4C-8B2B-5591ECD59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795" y="6412190"/>
              <a:ext cx="1146727" cy="445810"/>
            </a:xfrm>
            <a:custGeom>
              <a:avLst/>
              <a:gdLst>
                <a:gd name="connsiteX0" fmla="*/ 388455 w 1146727"/>
                <a:gd name="connsiteY0" fmla="*/ 0 h 445810"/>
                <a:gd name="connsiteX1" fmla="*/ 1146727 w 1146727"/>
                <a:gd name="connsiteY1" fmla="*/ 0 h 445810"/>
                <a:gd name="connsiteX2" fmla="*/ 914697 w 1146727"/>
                <a:gd name="connsiteY2" fmla="*/ 445810 h 445810"/>
                <a:gd name="connsiteX3" fmla="*/ 0 w 1146727"/>
                <a:gd name="connsiteY3" fmla="*/ 445810 h 445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727" h="445810">
                  <a:moveTo>
                    <a:pt x="388455" y="0"/>
                  </a:moveTo>
                  <a:lnTo>
                    <a:pt x="1146727" y="0"/>
                  </a:lnTo>
                  <a:lnTo>
                    <a:pt x="914697" y="445810"/>
                  </a:lnTo>
                  <a:lnTo>
                    <a:pt x="0" y="44581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91E120-4D19-48A8-8A75-59A48EAEDA0D}"/>
              </a:ext>
            </a:extLst>
          </p:cNvPr>
          <p:cNvGrpSpPr/>
          <p:nvPr/>
        </p:nvGrpSpPr>
        <p:grpSpPr>
          <a:xfrm>
            <a:off x="4727492" y="3462116"/>
            <a:ext cx="998804" cy="3395884"/>
            <a:chOff x="4727492" y="3462116"/>
            <a:chExt cx="998804" cy="3395884"/>
          </a:xfrm>
        </p:grpSpPr>
        <p:sp>
          <p:nvSpPr>
            <p:cNvPr id="75" name="Arrow: Pentagon 74">
              <a:extLst>
                <a:ext uri="{FF2B5EF4-FFF2-40B4-BE49-F238E27FC236}">
                  <a16:creationId xmlns:a16="http://schemas.microsoft.com/office/drawing/2014/main" id="{AF3D73D2-58C2-406F-B922-755ADD1185F0}"/>
                </a:ext>
              </a:extLst>
            </p:cNvPr>
            <p:cNvSpPr/>
            <p:nvPr/>
          </p:nvSpPr>
          <p:spPr>
            <a:xfrm rot="16200000">
              <a:off x="3867150" y="4553824"/>
              <a:ext cx="2950191" cy="766775"/>
            </a:xfrm>
            <a:prstGeom prst="homePlate">
              <a:avLst>
                <a:gd name="adj" fmla="val 3878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0" rIns="457200" bIns="0" rtlCol="0" anchor="t" anchorCtr="0"/>
            <a:lstStyle/>
            <a:p>
              <a:pPr algn="ctr"/>
              <a:endParaRPr lang="en-US" sz="1600" dirty="0">
                <a:latin typeface="+mj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9E75652-972E-4779-B3A2-A8B563469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492" y="6412190"/>
              <a:ext cx="998804" cy="445810"/>
            </a:xfrm>
            <a:custGeom>
              <a:avLst/>
              <a:gdLst>
                <a:gd name="connsiteX0" fmla="*/ 232030 w 998804"/>
                <a:gd name="connsiteY0" fmla="*/ 0 h 445810"/>
                <a:gd name="connsiteX1" fmla="*/ 998804 w 998804"/>
                <a:gd name="connsiteY1" fmla="*/ 0 h 445810"/>
                <a:gd name="connsiteX2" fmla="*/ 917985 w 998804"/>
                <a:gd name="connsiteY2" fmla="*/ 445810 h 445810"/>
                <a:gd name="connsiteX3" fmla="*/ 0 w 998804"/>
                <a:gd name="connsiteY3" fmla="*/ 445810 h 445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8804" h="445810">
                  <a:moveTo>
                    <a:pt x="232030" y="0"/>
                  </a:moveTo>
                  <a:lnTo>
                    <a:pt x="998804" y="0"/>
                  </a:lnTo>
                  <a:lnTo>
                    <a:pt x="917985" y="445810"/>
                  </a:lnTo>
                  <a:lnTo>
                    <a:pt x="0" y="445810"/>
                  </a:ln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2998E79-E353-4024-A703-5B5AD62E661A}"/>
              </a:ext>
            </a:extLst>
          </p:cNvPr>
          <p:cNvGrpSpPr/>
          <p:nvPr/>
        </p:nvGrpSpPr>
        <p:grpSpPr>
          <a:xfrm>
            <a:off x="6483316" y="3462116"/>
            <a:ext cx="995406" cy="3395884"/>
            <a:chOff x="6483316" y="3462116"/>
            <a:chExt cx="995406" cy="3395884"/>
          </a:xfrm>
        </p:grpSpPr>
        <p:sp>
          <p:nvSpPr>
            <p:cNvPr id="80" name="Arrow: Pentagon 79">
              <a:extLst>
                <a:ext uri="{FF2B5EF4-FFF2-40B4-BE49-F238E27FC236}">
                  <a16:creationId xmlns:a16="http://schemas.microsoft.com/office/drawing/2014/main" id="{F08E54A1-DF5F-4E5E-9078-79E20088F627}"/>
                </a:ext>
              </a:extLst>
            </p:cNvPr>
            <p:cNvSpPr/>
            <p:nvPr/>
          </p:nvSpPr>
          <p:spPr>
            <a:xfrm rot="16200000">
              <a:off x="5391608" y="4553824"/>
              <a:ext cx="2950191" cy="766775"/>
            </a:xfrm>
            <a:prstGeom prst="homePlate">
              <a:avLst>
                <a:gd name="adj" fmla="val 38782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0" rIns="457200" bIns="0" rtlCol="0" anchor="t" anchorCtr="0"/>
            <a:lstStyle/>
            <a:p>
              <a:pPr algn="ctr"/>
              <a:endParaRPr lang="en-US" sz="1600" dirty="0">
                <a:latin typeface="+mj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EDE205E4-3ABD-4C6D-9683-A46BDBB9E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6719" y="6412190"/>
              <a:ext cx="992003" cy="445810"/>
            </a:xfrm>
            <a:custGeom>
              <a:avLst/>
              <a:gdLst>
                <a:gd name="connsiteX0" fmla="*/ 0 w 992003"/>
                <a:gd name="connsiteY0" fmla="*/ 0 h 445810"/>
                <a:gd name="connsiteX1" fmla="*/ 759973 w 992003"/>
                <a:gd name="connsiteY1" fmla="*/ 0 h 445810"/>
                <a:gd name="connsiteX2" fmla="*/ 992003 w 992003"/>
                <a:gd name="connsiteY2" fmla="*/ 445810 h 445810"/>
                <a:gd name="connsiteX3" fmla="*/ 75606 w 992003"/>
                <a:gd name="connsiteY3" fmla="*/ 445810 h 445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2003" h="445810">
                  <a:moveTo>
                    <a:pt x="0" y="0"/>
                  </a:moveTo>
                  <a:lnTo>
                    <a:pt x="759973" y="0"/>
                  </a:lnTo>
                  <a:lnTo>
                    <a:pt x="992003" y="445810"/>
                  </a:lnTo>
                  <a:lnTo>
                    <a:pt x="75606" y="445810"/>
                  </a:lnTo>
                  <a:close/>
                </a:path>
              </a:pathLst>
            </a:custGeom>
            <a:solidFill>
              <a:schemeClr val="accent4">
                <a:alpha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4E4FA3F-15F4-47EA-9565-AC043774CA09}"/>
              </a:ext>
            </a:extLst>
          </p:cNvPr>
          <p:cNvGrpSpPr/>
          <p:nvPr/>
        </p:nvGrpSpPr>
        <p:grpSpPr>
          <a:xfrm>
            <a:off x="5645476" y="2899655"/>
            <a:ext cx="923198" cy="3958345"/>
            <a:chOff x="5645476" y="2899655"/>
            <a:chExt cx="923198" cy="3958345"/>
          </a:xfrm>
        </p:grpSpPr>
        <p:sp>
          <p:nvSpPr>
            <p:cNvPr id="77" name="Arrow: Pentagon 76">
              <a:extLst>
                <a:ext uri="{FF2B5EF4-FFF2-40B4-BE49-F238E27FC236}">
                  <a16:creationId xmlns:a16="http://schemas.microsoft.com/office/drawing/2014/main" id="{8511ED2A-BD0E-4E9A-8E6D-53F5A4689711}"/>
                </a:ext>
              </a:extLst>
            </p:cNvPr>
            <p:cNvSpPr/>
            <p:nvPr/>
          </p:nvSpPr>
          <p:spPr>
            <a:xfrm rot="16200000">
              <a:off x="4347006" y="4272593"/>
              <a:ext cx="3512652" cy="766775"/>
            </a:xfrm>
            <a:prstGeom prst="homePlate">
              <a:avLst>
                <a:gd name="adj" fmla="val 3878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0" rIns="457200" bIns="0" rtlCol="0" anchor="t" anchorCtr="0"/>
            <a:lstStyle/>
            <a:p>
              <a:pPr algn="ctr"/>
              <a:endParaRPr lang="en-US" sz="1600" dirty="0">
                <a:latin typeface="+mj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2994EA1-2B3A-4A5F-A319-7AD392EB0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5476" y="6412190"/>
              <a:ext cx="923198" cy="445810"/>
            </a:xfrm>
            <a:custGeom>
              <a:avLst/>
              <a:gdLst>
                <a:gd name="connsiteX0" fmla="*/ 80819 w 923198"/>
                <a:gd name="connsiteY0" fmla="*/ 0 h 445810"/>
                <a:gd name="connsiteX1" fmla="*/ 847593 w 923198"/>
                <a:gd name="connsiteY1" fmla="*/ 0 h 445810"/>
                <a:gd name="connsiteX2" fmla="*/ 923198 w 923198"/>
                <a:gd name="connsiteY2" fmla="*/ 445810 h 445810"/>
                <a:gd name="connsiteX3" fmla="*/ 0 w 923198"/>
                <a:gd name="connsiteY3" fmla="*/ 445810 h 445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198" h="445810">
                  <a:moveTo>
                    <a:pt x="80819" y="0"/>
                  </a:moveTo>
                  <a:lnTo>
                    <a:pt x="847593" y="0"/>
                  </a:lnTo>
                  <a:lnTo>
                    <a:pt x="923198" y="445810"/>
                  </a:lnTo>
                  <a:lnTo>
                    <a:pt x="0" y="445810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FCB856-5617-4DB4-BD91-22B5D3512CEC}"/>
              </a:ext>
            </a:extLst>
          </p:cNvPr>
          <p:cNvGrpSpPr/>
          <p:nvPr/>
        </p:nvGrpSpPr>
        <p:grpSpPr>
          <a:xfrm>
            <a:off x="2285999" y="3517039"/>
            <a:ext cx="2546718" cy="724613"/>
            <a:chOff x="1599277" y="2246637"/>
            <a:chExt cx="2546718" cy="7246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1F25E9A-9884-4CC2-9E24-725966CD297F}"/>
                </a:ext>
              </a:extLst>
            </p:cNvPr>
            <p:cNvSpPr txBox="1"/>
            <p:nvPr/>
          </p:nvSpPr>
          <p:spPr>
            <a:xfrm>
              <a:off x="1599277" y="2246637"/>
              <a:ext cx="1723671" cy="724613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r">
                <a:lnSpc>
                  <a:spcPct val="120000"/>
                </a:lnSpc>
                <a:spcBef>
                  <a:spcPts val="600"/>
                </a:spcBef>
              </a:pPr>
              <a:r>
                <a:rPr lang="mn-MN" sz="1200" b="1" dirty="0">
                  <a:solidFill>
                    <a:schemeClr val="accent2"/>
                  </a:solidFill>
                  <a:latin typeface="+mj-lt"/>
                </a:rPr>
                <a:t>Дэд гарчиг</a:t>
              </a:r>
            </a:p>
            <a:p>
              <a:pPr algn="r">
                <a:lnSpc>
                  <a:spcPct val="120000"/>
                </a:lnSpc>
                <a:spcBef>
                  <a:spcPts val="600"/>
                </a:spcBef>
              </a:pPr>
              <a:r>
                <a:rPr lang="mn-MN" sz="1000" dirty="0">
                  <a:solidFill>
                    <a:schemeClr val="tx1">
                      <a:alpha val="60000"/>
                    </a:schemeClr>
                  </a:solidFill>
                </a:rPr>
                <a:t>Жижиг хэсгүүд нийлж том зургийг бүтээнэ.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BCAF1E9-2B0B-48DE-8C15-4EEBC4B11ABF}"/>
                </a:ext>
              </a:extLst>
            </p:cNvPr>
            <p:cNvGrpSpPr/>
            <p:nvPr/>
          </p:nvGrpSpPr>
          <p:grpSpPr>
            <a:xfrm flipH="1">
              <a:off x="3397225" y="2285213"/>
              <a:ext cx="748770" cy="209550"/>
              <a:chOff x="7763128" y="2685070"/>
              <a:chExt cx="748770" cy="209550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C0E352E-0FBE-4B67-A517-CDEAA9762004}"/>
                  </a:ext>
                </a:extLst>
              </p:cNvPr>
              <p:cNvCxnSpPr>
                <a:cxnSpLocks/>
                <a:endCxn id="22" idx="6"/>
              </p:cNvCxnSpPr>
              <p:nvPr/>
            </p:nvCxnSpPr>
            <p:spPr>
              <a:xfrm flipH="1">
                <a:off x="7972678" y="2789845"/>
                <a:ext cx="539220" cy="0"/>
              </a:xfrm>
              <a:prstGeom prst="line">
                <a:avLst/>
              </a:prstGeom>
              <a:ln>
                <a:solidFill>
                  <a:schemeClr val="accent2"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CD445D3-5884-449D-B57E-A645486B2B07}"/>
                  </a:ext>
                </a:extLst>
              </p:cNvPr>
              <p:cNvGrpSpPr/>
              <p:nvPr/>
            </p:nvGrpSpPr>
            <p:grpSpPr>
              <a:xfrm>
                <a:off x="7763128" y="2685070"/>
                <a:ext cx="209550" cy="209550"/>
                <a:chOff x="7748838" y="3567720"/>
                <a:chExt cx="209550" cy="209550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6CF15BA-829C-4712-B83C-79ABE7E40D7D}"/>
                    </a:ext>
                  </a:extLst>
                </p:cNvPr>
                <p:cNvSpPr/>
                <p:nvPr/>
              </p:nvSpPr>
              <p:spPr>
                <a:xfrm>
                  <a:off x="7748838" y="3567720"/>
                  <a:ext cx="209550" cy="209550"/>
                </a:xfrm>
                <a:prstGeom prst="ellipse">
                  <a:avLst/>
                </a:pr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7897ECD-B137-4EF4-9811-EE0555D64070}"/>
                    </a:ext>
                  </a:extLst>
                </p:cNvPr>
                <p:cNvSpPr/>
                <p:nvPr/>
              </p:nvSpPr>
              <p:spPr>
                <a:xfrm flipV="1">
                  <a:off x="7820652" y="3637153"/>
                  <a:ext cx="70684" cy="7068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9327ACC-49D0-4B22-84EC-CA96DCB44B26}"/>
              </a:ext>
            </a:extLst>
          </p:cNvPr>
          <p:cNvSpPr txBox="1"/>
          <p:nvPr/>
        </p:nvSpPr>
        <p:spPr>
          <a:xfrm>
            <a:off x="1523999" y="4686291"/>
            <a:ext cx="1522370" cy="724613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r">
              <a:lnSpc>
                <a:spcPct val="120000"/>
              </a:lnSpc>
              <a:spcBef>
                <a:spcPts val="600"/>
              </a:spcBef>
            </a:pPr>
            <a:r>
              <a:rPr lang="mn-MN" sz="1200" b="1" dirty="0">
                <a:solidFill>
                  <a:schemeClr val="accent1"/>
                </a:solidFill>
                <a:latin typeface="+mj-lt"/>
              </a:rPr>
              <a:t>Дэд гарчиг</a:t>
            </a:r>
          </a:p>
          <a:p>
            <a:pPr algn="r"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chemeClr val="tx1">
                    <a:alpha val="60000"/>
                  </a:schemeClr>
                </a:solidFill>
              </a:rPr>
              <a:t>Жижиг хэсгүүд нийлж том зургийг бүтээнэ.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A84E53-A346-4A24-91F4-F0AB796A9F1F}"/>
              </a:ext>
            </a:extLst>
          </p:cNvPr>
          <p:cNvSpPr txBox="1"/>
          <p:nvPr/>
        </p:nvSpPr>
        <p:spPr>
          <a:xfrm>
            <a:off x="9161304" y="4686290"/>
            <a:ext cx="1687167" cy="724613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mn-MN" sz="1200" b="1" dirty="0">
                <a:solidFill>
                  <a:schemeClr val="accent5"/>
                </a:solidFill>
                <a:latin typeface="+mj-lt"/>
              </a:rPr>
              <a:t>Дэд гарчиг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chemeClr val="tx1">
                    <a:alpha val="60000"/>
                  </a:schemeClr>
                </a:solidFill>
              </a:rPr>
              <a:t>Жижиг хэсгүүд нийлж том зургийг бүтээнэ.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2A8EAA-F809-4F8B-8449-DFAA9913E690}"/>
              </a:ext>
            </a:extLst>
          </p:cNvPr>
          <p:cNvGrpSpPr/>
          <p:nvPr/>
        </p:nvGrpSpPr>
        <p:grpSpPr>
          <a:xfrm flipH="1">
            <a:off x="7370045" y="3517039"/>
            <a:ext cx="2535955" cy="724613"/>
            <a:chOff x="1635921" y="2246638"/>
            <a:chExt cx="2535955" cy="72461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087EAC-8081-429F-ABBA-5CD49A7B6F42}"/>
                </a:ext>
              </a:extLst>
            </p:cNvPr>
            <p:cNvSpPr txBox="1"/>
            <p:nvPr/>
          </p:nvSpPr>
          <p:spPr>
            <a:xfrm>
              <a:off x="1635921" y="2246638"/>
              <a:ext cx="1687167" cy="724613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600"/>
                </a:spcBef>
              </a:pPr>
              <a:r>
                <a:rPr lang="mn-MN" sz="1200" b="1" dirty="0">
                  <a:solidFill>
                    <a:schemeClr val="accent4"/>
                  </a:solidFill>
                  <a:latin typeface="+mj-lt"/>
                </a:rPr>
                <a:t>Дэд гарчиг</a:t>
              </a:r>
            </a:p>
            <a:p>
              <a:pPr>
                <a:lnSpc>
                  <a:spcPct val="120000"/>
                </a:lnSpc>
                <a:spcBef>
                  <a:spcPts val="600"/>
                </a:spcBef>
              </a:pPr>
              <a:r>
                <a:rPr lang="mn-MN" sz="1000" dirty="0">
                  <a:solidFill>
                    <a:schemeClr val="tx1">
                      <a:alpha val="60000"/>
                    </a:schemeClr>
                  </a:solidFill>
                </a:rPr>
                <a:t>Жижиг хэсгүүд нийлж том зургийг бүтээнэ.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D78ADE0-0D0C-4ECA-B136-86DEBBE796C2}"/>
                </a:ext>
              </a:extLst>
            </p:cNvPr>
            <p:cNvGrpSpPr/>
            <p:nvPr/>
          </p:nvGrpSpPr>
          <p:grpSpPr>
            <a:xfrm flipH="1">
              <a:off x="3417096" y="2285213"/>
              <a:ext cx="754780" cy="209550"/>
              <a:chOff x="7737247" y="2685070"/>
              <a:chExt cx="754780" cy="20955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9465AEF-38A8-4CF9-891A-B6EE9324C87F}"/>
                  </a:ext>
                </a:extLst>
              </p:cNvPr>
              <p:cNvCxnSpPr>
                <a:cxnSpLocks/>
                <a:endCxn id="31" idx="6"/>
              </p:cNvCxnSpPr>
              <p:nvPr/>
            </p:nvCxnSpPr>
            <p:spPr>
              <a:xfrm flipH="1">
                <a:off x="7946797" y="2789845"/>
                <a:ext cx="545230" cy="0"/>
              </a:xfrm>
              <a:prstGeom prst="line">
                <a:avLst/>
              </a:prstGeom>
              <a:ln>
                <a:solidFill>
                  <a:schemeClr val="accent4"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680A596F-484B-45B9-9EB2-ED43793247A6}"/>
                  </a:ext>
                </a:extLst>
              </p:cNvPr>
              <p:cNvGrpSpPr/>
              <p:nvPr/>
            </p:nvGrpSpPr>
            <p:grpSpPr>
              <a:xfrm>
                <a:off x="7737247" y="2685070"/>
                <a:ext cx="209550" cy="209550"/>
                <a:chOff x="7722957" y="3567720"/>
                <a:chExt cx="209550" cy="20955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EE30429-45AE-4B3C-BFCE-C607D31C4D66}"/>
                    </a:ext>
                  </a:extLst>
                </p:cNvPr>
                <p:cNvSpPr/>
                <p:nvPr/>
              </p:nvSpPr>
              <p:spPr>
                <a:xfrm>
                  <a:off x="7722957" y="3567720"/>
                  <a:ext cx="209550" cy="209550"/>
                </a:xfrm>
                <a:prstGeom prst="ellipse">
                  <a:avLst/>
                </a:prstGeom>
                <a:solidFill>
                  <a:schemeClr val="accent4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9368B60-5694-48B6-90F6-2A87969B1785}"/>
                    </a:ext>
                  </a:extLst>
                </p:cNvPr>
                <p:cNvSpPr/>
                <p:nvPr/>
              </p:nvSpPr>
              <p:spPr>
                <a:xfrm flipV="1">
                  <a:off x="7794481" y="3637153"/>
                  <a:ext cx="70684" cy="7068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340354-4E55-4568-915B-EB1D49FC7515}"/>
              </a:ext>
            </a:extLst>
          </p:cNvPr>
          <p:cNvGrpSpPr/>
          <p:nvPr/>
        </p:nvGrpSpPr>
        <p:grpSpPr>
          <a:xfrm>
            <a:off x="5994001" y="2094875"/>
            <a:ext cx="3167303" cy="751648"/>
            <a:chOff x="5979712" y="2094875"/>
            <a:chExt cx="3167303" cy="75164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EF4B0A8-EA56-4397-B42E-9D04F683B814}"/>
                </a:ext>
              </a:extLst>
            </p:cNvPr>
            <p:cNvSpPr txBox="1"/>
            <p:nvPr/>
          </p:nvSpPr>
          <p:spPr>
            <a:xfrm flipH="1">
              <a:off x="7612790" y="2094875"/>
              <a:ext cx="1534225" cy="724613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600"/>
                </a:spcBef>
              </a:pPr>
              <a:r>
                <a:rPr lang="mn-MN" sz="1200" dirty="0">
                  <a:solidFill>
                    <a:schemeClr val="accent3"/>
                  </a:solidFill>
                  <a:latin typeface="+mj-lt"/>
                </a:rPr>
                <a:t>Дэд гарчиг</a:t>
              </a:r>
            </a:p>
            <a:p>
              <a:pPr>
                <a:lnSpc>
                  <a:spcPct val="120000"/>
                </a:lnSpc>
                <a:spcBef>
                  <a:spcPts val="600"/>
                </a:spcBef>
              </a:pPr>
              <a:r>
                <a:rPr lang="mn-MN" sz="1000" dirty="0">
                  <a:solidFill>
                    <a:schemeClr val="tx1">
                      <a:alpha val="60000"/>
                    </a:schemeClr>
                  </a:solidFill>
                </a:rPr>
                <a:t>Жижиг хэсгүүд нийлж том зургийг бүтээнэ.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59F267F-A995-48D8-9F28-C56A2B8EAA95}"/>
                </a:ext>
              </a:extLst>
            </p:cNvPr>
            <p:cNvGrpSpPr/>
            <p:nvPr/>
          </p:nvGrpSpPr>
          <p:grpSpPr>
            <a:xfrm>
              <a:off x="5979712" y="2240096"/>
              <a:ext cx="1585594" cy="606427"/>
              <a:chOff x="5979712" y="2240096"/>
              <a:chExt cx="1585594" cy="606427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AB2E771-9328-4F2F-ACF7-9947A09D044B}"/>
                  </a:ext>
                </a:extLst>
              </p:cNvPr>
              <p:cNvCxnSpPr>
                <a:cxnSpLocks/>
                <a:endCxn id="39" idx="7"/>
              </p:cNvCxnSpPr>
              <p:nvPr/>
            </p:nvCxnSpPr>
            <p:spPr>
              <a:xfrm flipH="1">
                <a:off x="6158574" y="2240096"/>
                <a:ext cx="798708" cy="427565"/>
              </a:xfrm>
              <a:prstGeom prst="line">
                <a:avLst/>
              </a:prstGeom>
              <a:ln>
                <a:solidFill>
                  <a:schemeClr val="accent3"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0994D56-CCC3-4EFD-9FD8-F8DFF0C103BE}"/>
                  </a:ext>
                </a:extLst>
              </p:cNvPr>
              <p:cNvGrpSpPr/>
              <p:nvPr/>
            </p:nvGrpSpPr>
            <p:grpSpPr>
              <a:xfrm>
                <a:off x="5979712" y="2636973"/>
                <a:ext cx="209550" cy="209550"/>
                <a:chOff x="7487537" y="3452706"/>
                <a:chExt cx="209550" cy="209550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B3706C0F-0B8E-451B-AD68-F37D230E350F}"/>
                    </a:ext>
                  </a:extLst>
                </p:cNvPr>
                <p:cNvSpPr/>
                <p:nvPr/>
              </p:nvSpPr>
              <p:spPr>
                <a:xfrm>
                  <a:off x="7487537" y="3452706"/>
                  <a:ext cx="209550" cy="209550"/>
                </a:xfrm>
                <a:prstGeom prst="ellipse">
                  <a:avLst/>
                </a:prstGeom>
                <a:solidFill>
                  <a:schemeClr val="accent3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E9BBB812-B8C8-4A06-B200-3B7E595AF796}"/>
                    </a:ext>
                  </a:extLst>
                </p:cNvPr>
                <p:cNvSpPr/>
                <p:nvPr/>
              </p:nvSpPr>
              <p:spPr>
                <a:xfrm flipV="1">
                  <a:off x="7556970" y="3522139"/>
                  <a:ext cx="70684" cy="70684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CDBF814-5A7E-4163-B0A7-2C5AA9DE02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7282" y="2240096"/>
                <a:ext cx="608024" cy="0"/>
              </a:xfrm>
              <a:prstGeom prst="line">
                <a:avLst/>
              </a:prstGeom>
              <a:ln>
                <a:solidFill>
                  <a:schemeClr val="accent3"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Group 27">
            <a:extLst>
              <a:ext uri="{FF2B5EF4-FFF2-40B4-BE49-F238E27FC236}">
                <a16:creationId xmlns:a16="http://schemas.microsoft.com/office/drawing/2014/main" id="{9E8420E3-25EB-4BF4-AE43-4E14F91CA3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60833" y="5783647"/>
            <a:ext cx="243894" cy="287253"/>
            <a:chOff x="2081" y="3223"/>
            <a:chExt cx="315" cy="371"/>
          </a:xfrm>
        </p:grpSpPr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C76B9EBD-6A30-4FE1-9A51-D4DAF8529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223"/>
              <a:ext cx="311" cy="371"/>
            </a:xfrm>
            <a:custGeom>
              <a:avLst/>
              <a:gdLst>
                <a:gd name="T0" fmla="*/ 98 w 147"/>
                <a:gd name="T1" fmla="*/ 73 h 176"/>
                <a:gd name="T2" fmla="*/ 73 w 147"/>
                <a:gd name="T3" fmla="*/ 99 h 176"/>
                <a:gd name="T4" fmla="*/ 48 w 147"/>
                <a:gd name="T5" fmla="*/ 73 h 176"/>
                <a:gd name="T6" fmla="*/ 73 w 147"/>
                <a:gd name="T7" fmla="*/ 47 h 176"/>
                <a:gd name="T8" fmla="*/ 77 w 147"/>
                <a:gd name="T9" fmla="*/ 48 h 176"/>
                <a:gd name="T10" fmla="*/ 91 w 147"/>
                <a:gd name="T11" fmla="*/ 33 h 176"/>
                <a:gd name="T12" fmla="*/ 73 w 147"/>
                <a:gd name="T13" fmla="*/ 29 h 176"/>
                <a:gd name="T14" fmla="*/ 30 w 147"/>
                <a:gd name="T15" fmla="*/ 73 h 176"/>
                <a:gd name="T16" fmla="*/ 73 w 147"/>
                <a:gd name="T17" fmla="*/ 117 h 176"/>
                <a:gd name="T18" fmla="*/ 117 w 147"/>
                <a:gd name="T19" fmla="*/ 73 h 176"/>
                <a:gd name="T20" fmla="*/ 113 w 147"/>
                <a:gd name="T21" fmla="*/ 56 h 176"/>
                <a:gd name="T22" fmla="*/ 98 w 147"/>
                <a:gd name="T23" fmla="*/ 71 h 176"/>
                <a:gd name="T24" fmla="*/ 98 w 147"/>
                <a:gd name="T25" fmla="*/ 73 h 176"/>
                <a:gd name="T26" fmla="*/ 118 w 147"/>
                <a:gd name="T27" fmla="*/ 132 h 176"/>
                <a:gd name="T28" fmla="*/ 147 w 147"/>
                <a:gd name="T29" fmla="*/ 73 h 176"/>
                <a:gd name="T30" fmla="*/ 143 w 147"/>
                <a:gd name="T31" fmla="*/ 50 h 176"/>
                <a:gd name="T32" fmla="*/ 139 w 147"/>
                <a:gd name="T33" fmla="*/ 54 h 176"/>
                <a:gd name="T34" fmla="*/ 128 w 147"/>
                <a:gd name="T35" fmla="*/ 59 h 176"/>
                <a:gd name="T36" fmla="*/ 127 w 147"/>
                <a:gd name="T37" fmla="*/ 59 h 176"/>
                <a:gd name="T38" fmla="*/ 129 w 147"/>
                <a:gd name="T39" fmla="*/ 73 h 176"/>
                <a:gd name="T40" fmla="*/ 73 w 147"/>
                <a:gd name="T41" fmla="*/ 129 h 176"/>
                <a:gd name="T42" fmla="*/ 18 w 147"/>
                <a:gd name="T43" fmla="*/ 73 h 176"/>
                <a:gd name="T44" fmla="*/ 73 w 147"/>
                <a:gd name="T45" fmla="*/ 18 h 176"/>
                <a:gd name="T46" fmla="*/ 90 w 147"/>
                <a:gd name="T47" fmla="*/ 20 h 176"/>
                <a:gd name="T48" fmla="*/ 95 w 147"/>
                <a:gd name="T49" fmla="*/ 10 h 176"/>
                <a:gd name="T50" fmla="*/ 100 w 147"/>
                <a:gd name="T51" fmla="*/ 5 h 176"/>
                <a:gd name="T52" fmla="*/ 73 w 147"/>
                <a:gd name="T53" fmla="*/ 0 h 176"/>
                <a:gd name="T54" fmla="*/ 0 w 147"/>
                <a:gd name="T55" fmla="*/ 73 h 176"/>
                <a:gd name="T56" fmla="*/ 32 w 147"/>
                <a:gd name="T57" fmla="*/ 134 h 176"/>
                <a:gd name="T58" fmla="*/ 20 w 147"/>
                <a:gd name="T59" fmla="*/ 167 h 176"/>
                <a:gd name="T60" fmla="*/ 24 w 147"/>
                <a:gd name="T61" fmla="*/ 175 h 176"/>
                <a:gd name="T62" fmla="*/ 26 w 147"/>
                <a:gd name="T63" fmla="*/ 176 h 176"/>
                <a:gd name="T64" fmla="*/ 32 w 147"/>
                <a:gd name="T65" fmla="*/ 171 h 176"/>
                <a:gd name="T66" fmla="*/ 44 w 147"/>
                <a:gd name="T67" fmla="*/ 141 h 176"/>
                <a:gd name="T68" fmla="*/ 69 w 147"/>
                <a:gd name="T69" fmla="*/ 147 h 176"/>
                <a:gd name="T70" fmla="*/ 69 w 147"/>
                <a:gd name="T71" fmla="*/ 169 h 176"/>
                <a:gd name="T72" fmla="*/ 76 w 147"/>
                <a:gd name="T73" fmla="*/ 176 h 176"/>
                <a:gd name="T74" fmla="*/ 82 w 147"/>
                <a:gd name="T75" fmla="*/ 169 h 176"/>
                <a:gd name="T76" fmla="*/ 82 w 147"/>
                <a:gd name="T77" fmla="*/ 146 h 176"/>
                <a:gd name="T78" fmla="*/ 107 w 147"/>
                <a:gd name="T79" fmla="*/ 139 h 176"/>
                <a:gd name="T80" fmla="*/ 119 w 147"/>
                <a:gd name="T81" fmla="*/ 171 h 176"/>
                <a:gd name="T82" fmla="*/ 125 w 147"/>
                <a:gd name="T83" fmla="*/ 176 h 176"/>
                <a:gd name="T84" fmla="*/ 128 w 147"/>
                <a:gd name="T85" fmla="*/ 175 h 176"/>
                <a:gd name="T86" fmla="*/ 132 w 147"/>
                <a:gd name="T87" fmla="*/ 167 h 176"/>
                <a:gd name="T88" fmla="*/ 118 w 147"/>
                <a:gd name="T89" fmla="*/ 13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7" h="176">
                  <a:moveTo>
                    <a:pt x="98" y="73"/>
                  </a:moveTo>
                  <a:cubicBezTo>
                    <a:pt x="98" y="88"/>
                    <a:pt x="87" y="99"/>
                    <a:pt x="73" y="99"/>
                  </a:cubicBezTo>
                  <a:cubicBezTo>
                    <a:pt x="60" y="99"/>
                    <a:pt x="48" y="88"/>
                    <a:pt x="48" y="73"/>
                  </a:cubicBezTo>
                  <a:cubicBezTo>
                    <a:pt x="48" y="59"/>
                    <a:pt x="60" y="47"/>
                    <a:pt x="73" y="47"/>
                  </a:cubicBezTo>
                  <a:cubicBezTo>
                    <a:pt x="75" y="47"/>
                    <a:pt x="76" y="48"/>
                    <a:pt x="77" y="48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86" y="31"/>
                    <a:pt x="80" y="29"/>
                    <a:pt x="73" y="29"/>
                  </a:cubicBezTo>
                  <a:cubicBezTo>
                    <a:pt x="50" y="29"/>
                    <a:pt x="30" y="49"/>
                    <a:pt x="30" y="73"/>
                  </a:cubicBezTo>
                  <a:cubicBezTo>
                    <a:pt x="30" y="98"/>
                    <a:pt x="50" y="117"/>
                    <a:pt x="73" y="117"/>
                  </a:cubicBezTo>
                  <a:cubicBezTo>
                    <a:pt x="97" y="117"/>
                    <a:pt x="117" y="98"/>
                    <a:pt x="117" y="73"/>
                  </a:cubicBezTo>
                  <a:cubicBezTo>
                    <a:pt x="117" y="67"/>
                    <a:pt x="115" y="61"/>
                    <a:pt x="113" y="56"/>
                  </a:cubicBezTo>
                  <a:cubicBezTo>
                    <a:pt x="98" y="71"/>
                    <a:pt x="98" y="71"/>
                    <a:pt x="98" y="71"/>
                  </a:cubicBezTo>
                  <a:cubicBezTo>
                    <a:pt x="98" y="72"/>
                    <a:pt x="98" y="73"/>
                    <a:pt x="98" y="73"/>
                  </a:cubicBezTo>
                  <a:close/>
                  <a:moveTo>
                    <a:pt x="118" y="132"/>
                  </a:moveTo>
                  <a:cubicBezTo>
                    <a:pt x="136" y="118"/>
                    <a:pt x="147" y="97"/>
                    <a:pt x="147" y="73"/>
                  </a:cubicBezTo>
                  <a:cubicBezTo>
                    <a:pt x="147" y="65"/>
                    <a:pt x="146" y="58"/>
                    <a:pt x="143" y="50"/>
                  </a:cubicBezTo>
                  <a:cubicBezTo>
                    <a:pt x="139" y="54"/>
                    <a:pt x="139" y="54"/>
                    <a:pt x="139" y="54"/>
                  </a:cubicBezTo>
                  <a:cubicBezTo>
                    <a:pt x="136" y="57"/>
                    <a:pt x="132" y="59"/>
                    <a:pt x="128" y="59"/>
                  </a:cubicBezTo>
                  <a:cubicBezTo>
                    <a:pt x="128" y="59"/>
                    <a:pt x="127" y="59"/>
                    <a:pt x="127" y="59"/>
                  </a:cubicBezTo>
                  <a:cubicBezTo>
                    <a:pt x="128" y="63"/>
                    <a:pt x="129" y="68"/>
                    <a:pt x="129" y="73"/>
                  </a:cubicBezTo>
                  <a:cubicBezTo>
                    <a:pt x="129" y="104"/>
                    <a:pt x="104" y="129"/>
                    <a:pt x="73" y="129"/>
                  </a:cubicBezTo>
                  <a:cubicBezTo>
                    <a:pt x="43" y="129"/>
                    <a:pt x="18" y="104"/>
                    <a:pt x="18" y="73"/>
                  </a:cubicBezTo>
                  <a:cubicBezTo>
                    <a:pt x="18" y="43"/>
                    <a:pt x="43" y="18"/>
                    <a:pt x="73" y="18"/>
                  </a:cubicBezTo>
                  <a:cubicBezTo>
                    <a:pt x="79" y="18"/>
                    <a:pt x="85" y="19"/>
                    <a:pt x="90" y="20"/>
                  </a:cubicBezTo>
                  <a:cubicBezTo>
                    <a:pt x="90" y="16"/>
                    <a:pt x="92" y="13"/>
                    <a:pt x="95" y="10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92" y="2"/>
                    <a:pt x="83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99"/>
                    <a:pt x="12" y="121"/>
                    <a:pt x="32" y="134"/>
                  </a:cubicBezTo>
                  <a:cubicBezTo>
                    <a:pt x="20" y="167"/>
                    <a:pt x="20" y="167"/>
                    <a:pt x="20" y="167"/>
                  </a:cubicBezTo>
                  <a:cubicBezTo>
                    <a:pt x="18" y="170"/>
                    <a:pt x="20" y="174"/>
                    <a:pt x="24" y="175"/>
                  </a:cubicBezTo>
                  <a:cubicBezTo>
                    <a:pt x="24" y="176"/>
                    <a:pt x="25" y="176"/>
                    <a:pt x="26" y="176"/>
                  </a:cubicBezTo>
                  <a:cubicBezTo>
                    <a:pt x="29" y="176"/>
                    <a:pt x="31" y="174"/>
                    <a:pt x="32" y="17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52" y="144"/>
                    <a:pt x="60" y="146"/>
                    <a:pt x="69" y="147"/>
                  </a:cubicBezTo>
                  <a:cubicBezTo>
                    <a:pt x="69" y="169"/>
                    <a:pt x="69" y="169"/>
                    <a:pt x="69" y="169"/>
                  </a:cubicBezTo>
                  <a:cubicBezTo>
                    <a:pt x="69" y="173"/>
                    <a:pt x="72" y="176"/>
                    <a:pt x="76" y="176"/>
                  </a:cubicBezTo>
                  <a:cubicBezTo>
                    <a:pt x="79" y="176"/>
                    <a:pt x="82" y="173"/>
                    <a:pt x="82" y="169"/>
                  </a:cubicBezTo>
                  <a:cubicBezTo>
                    <a:pt x="82" y="146"/>
                    <a:pt x="82" y="146"/>
                    <a:pt x="82" y="146"/>
                  </a:cubicBezTo>
                  <a:cubicBezTo>
                    <a:pt x="91" y="145"/>
                    <a:pt x="99" y="143"/>
                    <a:pt x="107" y="139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20" y="174"/>
                    <a:pt x="122" y="176"/>
                    <a:pt x="125" y="176"/>
                  </a:cubicBezTo>
                  <a:cubicBezTo>
                    <a:pt x="126" y="176"/>
                    <a:pt x="127" y="176"/>
                    <a:pt x="128" y="175"/>
                  </a:cubicBezTo>
                  <a:cubicBezTo>
                    <a:pt x="131" y="174"/>
                    <a:pt x="133" y="170"/>
                    <a:pt x="132" y="167"/>
                  </a:cubicBezTo>
                  <a:lnTo>
                    <a:pt x="118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BB67FE73-ABAB-4456-B009-0B3A53E0D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3225"/>
              <a:ext cx="190" cy="184"/>
            </a:xfrm>
            <a:custGeom>
              <a:avLst/>
              <a:gdLst>
                <a:gd name="T0" fmla="*/ 87 w 90"/>
                <a:gd name="T1" fmla="*/ 23 h 87"/>
                <a:gd name="T2" fmla="*/ 74 w 90"/>
                <a:gd name="T3" fmla="*/ 18 h 87"/>
                <a:gd name="T4" fmla="*/ 71 w 90"/>
                <a:gd name="T5" fmla="*/ 15 h 87"/>
                <a:gd name="T6" fmla="*/ 66 w 90"/>
                <a:gd name="T7" fmla="*/ 2 h 87"/>
                <a:gd name="T8" fmla="*/ 62 w 90"/>
                <a:gd name="T9" fmla="*/ 0 h 87"/>
                <a:gd name="T10" fmla="*/ 59 w 90"/>
                <a:gd name="T11" fmla="*/ 1 h 87"/>
                <a:gd name="T12" fmla="*/ 44 w 90"/>
                <a:gd name="T13" fmla="*/ 17 h 87"/>
                <a:gd name="T14" fmla="*/ 43 w 90"/>
                <a:gd name="T15" fmla="*/ 21 h 87"/>
                <a:gd name="T16" fmla="*/ 47 w 90"/>
                <a:gd name="T17" fmla="*/ 32 h 87"/>
                <a:gd name="T18" fmla="*/ 20 w 90"/>
                <a:gd name="T19" fmla="*/ 59 h 87"/>
                <a:gd name="T20" fmla="*/ 14 w 90"/>
                <a:gd name="T21" fmla="*/ 58 h 87"/>
                <a:gd name="T22" fmla="*/ 0 w 90"/>
                <a:gd name="T23" fmla="*/ 72 h 87"/>
                <a:gd name="T24" fmla="*/ 14 w 90"/>
                <a:gd name="T25" fmla="*/ 87 h 87"/>
                <a:gd name="T26" fmla="*/ 29 w 90"/>
                <a:gd name="T27" fmla="*/ 72 h 87"/>
                <a:gd name="T28" fmla="*/ 28 w 90"/>
                <a:gd name="T29" fmla="*/ 67 h 87"/>
                <a:gd name="T30" fmla="*/ 54 w 90"/>
                <a:gd name="T31" fmla="*/ 41 h 87"/>
                <a:gd name="T32" fmla="*/ 68 w 90"/>
                <a:gd name="T33" fmla="*/ 46 h 87"/>
                <a:gd name="T34" fmla="*/ 69 w 90"/>
                <a:gd name="T35" fmla="*/ 47 h 87"/>
                <a:gd name="T36" fmla="*/ 72 w 90"/>
                <a:gd name="T37" fmla="*/ 45 h 87"/>
                <a:gd name="T38" fmla="*/ 88 w 90"/>
                <a:gd name="T39" fmla="*/ 30 h 87"/>
                <a:gd name="T40" fmla="*/ 87 w 90"/>
                <a:gd name="T41" fmla="*/ 2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87">
                  <a:moveTo>
                    <a:pt x="87" y="23"/>
                  </a:moveTo>
                  <a:cubicBezTo>
                    <a:pt x="74" y="18"/>
                    <a:pt x="74" y="18"/>
                    <a:pt x="74" y="18"/>
                  </a:cubicBezTo>
                  <a:cubicBezTo>
                    <a:pt x="73" y="17"/>
                    <a:pt x="72" y="16"/>
                    <a:pt x="71" y="15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6" y="1"/>
                    <a:pt x="64" y="0"/>
                    <a:pt x="62" y="0"/>
                  </a:cubicBezTo>
                  <a:cubicBezTo>
                    <a:pt x="61" y="0"/>
                    <a:pt x="60" y="0"/>
                    <a:pt x="59" y="1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2" y="18"/>
                    <a:pt x="42" y="20"/>
                    <a:pt x="43" y="21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18" y="58"/>
                    <a:pt x="16" y="58"/>
                    <a:pt x="14" y="58"/>
                  </a:cubicBezTo>
                  <a:cubicBezTo>
                    <a:pt x="6" y="58"/>
                    <a:pt x="0" y="64"/>
                    <a:pt x="0" y="72"/>
                  </a:cubicBezTo>
                  <a:cubicBezTo>
                    <a:pt x="0" y="80"/>
                    <a:pt x="6" y="87"/>
                    <a:pt x="14" y="87"/>
                  </a:cubicBezTo>
                  <a:cubicBezTo>
                    <a:pt x="22" y="87"/>
                    <a:pt x="29" y="80"/>
                    <a:pt x="29" y="72"/>
                  </a:cubicBezTo>
                  <a:cubicBezTo>
                    <a:pt x="29" y="70"/>
                    <a:pt x="28" y="69"/>
                    <a:pt x="28" y="67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7"/>
                    <a:pt x="69" y="47"/>
                    <a:pt x="69" y="47"/>
                  </a:cubicBezTo>
                  <a:cubicBezTo>
                    <a:pt x="70" y="47"/>
                    <a:pt x="72" y="46"/>
                    <a:pt x="72" y="45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90" y="28"/>
                    <a:pt x="89" y="24"/>
                    <a:pt x="87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32">
            <a:extLst>
              <a:ext uri="{FF2B5EF4-FFF2-40B4-BE49-F238E27FC236}">
                <a16:creationId xmlns:a16="http://schemas.microsoft.com/office/drawing/2014/main" id="{85491D90-D4F6-4F9C-995C-55A3A282BDE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13799" y="5793172"/>
            <a:ext cx="238716" cy="262589"/>
            <a:chOff x="3824" y="2857"/>
            <a:chExt cx="320" cy="352"/>
          </a:xfrm>
        </p:grpSpPr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C9643E46-96AD-47AC-B04F-958579C60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" y="2857"/>
              <a:ext cx="320" cy="215"/>
            </a:xfrm>
            <a:custGeom>
              <a:avLst/>
              <a:gdLst>
                <a:gd name="T0" fmla="*/ 139 w 151"/>
                <a:gd name="T1" fmla="*/ 49 h 102"/>
                <a:gd name="T2" fmla="*/ 137 w 151"/>
                <a:gd name="T3" fmla="*/ 49 h 102"/>
                <a:gd name="T4" fmla="*/ 75 w 151"/>
                <a:gd name="T5" fmla="*/ 0 h 102"/>
                <a:gd name="T6" fmla="*/ 14 w 151"/>
                <a:gd name="T7" fmla="*/ 49 h 102"/>
                <a:gd name="T8" fmla="*/ 12 w 151"/>
                <a:gd name="T9" fmla="*/ 49 h 102"/>
                <a:gd name="T10" fmla="*/ 0 w 151"/>
                <a:gd name="T11" fmla="*/ 61 h 102"/>
                <a:gd name="T12" fmla="*/ 0 w 151"/>
                <a:gd name="T13" fmla="*/ 75 h 102"/>
                <a:gd name="T14" fmla="*/ 12 w 151"/>
                <a:gd name="T15" fmla="*/ 87 h 102"/>
                <a:gd name="T16" fmla="*/ 16 w 151"/>
                <a:gd name="T17" fmla="*/ 87 h 102"/>
                <a:gd name="T18" fmla="*/ 38 w 151"/>
                <a:gd name="T19" fmla="*/ 102 h 102"/>
                <a:gd name="T20" fmla="*/ 43 w 151"/>
                <a:gd name="T21" fmla="*/ 97 h 102"/>
                <a:gd name="T22" fmla="*/ 38 w 151"/>
                <a:gd name="T23" fmla="*/ 92 h 102"/>
                <a:gd name="T24" fmla="*/ 24 w 151"/>
                <a:gd name="T25" fmla="*/ 78 h 102"/>
                <a:gd name="T26" fmla="*/ 24 w 151"/>
                <a:gd name="T27" fmla="*/ 63 h 102"/>
                <a:gd name="T28" fmla="*/ 75 w 151"/>
                <a:gd name="T29" fmla="*/ 12 h 102"/>
                <a:gd name="T30" fmla="*/ 127 w 151"/>
                <a:gd name="T31" fmla="*/ 65 h 102"/>
                <a:gd name="T32" fmla="*/ 127 w 151"/>
                <a:gd name="T33" fmla="*/ 65 h 102"/>
                <a:gd name="T34" fmla="*/ 127 w 151"/>
                <a:gd name="T35" fmla="*/ 75 h 102"/>
                <a:gd name="T36" fmla="*/ 139 w 151"/>
                <a:gd name="T37" fmla="*/ 87 h 102"/>
                <a:gd name="T38" fmla="*/ 151 w 151"/>
                <a:gd name="T39" fmla="*/ 75 h 102"/>
                <a:gd name="T40" fmla="*/ 151 w 151"/>
                <a:gd name="T41" fmla="*/ 61 h 102"/>
                <a:gd name="T42" fmla="*/ 139 w 151"/>
                <a:gd name="T43" fmla="*/ 49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51" h="102">
                  <a:moveTo>
                    <a:pt x="139" y="49"/>
                  </a:moveTo>
                  <a:cubicBezTo>
                    <a:pt x="138" y="49"/>
                    <a:pt x="138" y="49"/>
                    <a:pt x="137" y="49"/>
                  </a:cubicBezTo>
                  <a:cubicBezTo>
                    <a:pt x="130" y="21"/>
                    <a:pt x="105" y="0"/>
                    <a:pt x="75" y="0"/>
                  </a:cubicBezTo>
                  <a:cubicBezTo>
                    <a:pt x="46" y="0"/>
                    <a:pt x="21" y="21"/>
                    <a:pt x="14" y="49"/>
                  </a:cubicBezTo>
                  <a:cubicBezTo>
                    <a:pt x="13" y="49"/>
                    <a:pt x="13" y="49"/>
                    <a:pt x="12" y="49"/>
                  </a:cubicBezTo>
                  <a:cubicBezTo>
                    <a:pt x="6" y="49"/>
                    <a:pt x="0" y="54"/>
                    <a:pt x="0" y="61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82"/>
                    <a:pt x="6" y="87"/>
                    <a:pt x="12" y="87"/>
                  </a:cubicBezTo>
                  <a:cubicBezTo>
                    <a:pt x="14" y="87"/>
                    <a:pt x="15" y="87"/>
                    <a:pt x="16" y="87"/>
                  </a:cubicBezTo>
                  <a:cubicBezTo>
                    <a:pt x="20" y="95"/>
                    <a:pt x="28" y="102"/>
                    <a:pt x="38" y="102"/>
                  </a:cubicBezTo>
                  <a:cubicBezTo>
                    <a:pt x="41" y="102"/>
                    <a:pt x="43" y="100"/>
                    <a:pt x="43" y="97"/>
                  </a:cubicBezTo>
                  <a:cubicBezTo>
                    <a:pt x="43" y="94"/>
                    <a:pt x="41" y="92"/>
                    <a:pt x="38" y="92"/>
                  </a:cubicBezTo>
                  <a:cubicBezTo>
                    <a:pt x="31" y="92"/>
                    <a:pt x="24" y="86"/>
                    <a:pt x="24" y="78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5" y="35"/>
                    <a:pt x="48" y="12"/>
                    <a:pt x="75" y="12"/>
                  </a:cubicBezTo>
                  <a:cubicBezTo>
                    <a:pt x="104" y="12"/>
                    <a:pt x="127" y="36"/>
                    <a:pt x="127" y="6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7" y="82"/>
                    <a:pt x="132" y="87"/>
                    <a:pt x="139" y="87"/>
                  </a:cubicBezTo>
                  <a:cubicBezTo>
                    <a:pt x="146" y="87"/>
                    <a:pt x="151" y="82"/>
                    <a:pt x="151" y="75"/>
                  </a:cubicBezTo>
                  <a:cubicBezTo>
                    <a:pt x="151" y="61"/>
                    <a:pt x="151" y="61"/>
                    <a:pt x="151" y="61"/>
                  </a:cubicBezTo>
                  <a:cubicBezTo>
                    <a:pt x="151" y="54"/>
                    <a:pt x="146" y="49"/>
                    <a:pt x="139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C8C9E0C3-D834-4EE1-A08F-552CC0CC41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2" y="2910"/>
              <a:ext cx="304" cy="299"/>
            </a:xfrm>
            <a:custGeom>
              <a:avLst/>
              <a:gdLst>
                <a:gd name="T0" fmla="*/ 111 w 143"/>
                <a:gd name="T1" fmla="*/ 91 h 142"/>
                <a:gd name="T2" fmla="*/ 97 w 143"/>
                <a:gd name="T3" fmla="*/ 91 h 142"/>
                <a:gd name="T4" fmla="*/ 89 w 143"/>
                <a:gd name="T5" fmla="*/ 95 h 142"/>
                <a:gd name="T6" fmla="*/ 79 w 143"/>
                <a:gd name="T7" fmla="*/ 109 h 142"/>
                <a:gd name="T8" fmla="*/ 63 w 143"/>
                <a:gd name="T9" fmla="*/ 109 h 142"/>
                <a:gd name="T10" fmla="*/ 54 w 143"/>
                <a:gd name="T11" fmla="*/ 95 h 142"/>
                <a:gd name="T12" fmla="*/ 46 w 143"/>
                <a:gd name="T13" fmla="*/ 91 h 142"/>
                <a:gd name="T14" fmla="*/ 32 w 143"/>
                <a:gd name="T15" fmla="*/ 91 h 142"/>
                <a:gd name="T16" fmla="*/ 0 w 143"/>
                <a:gd name="T17" fmla="*/ 123 h 142"/>
                <a:gd name="T18" fmla="*/ 0 w 143"/>
                <a:gd name="T19" fmla="*/ 137 h 142"/>
                <a:gd name="T20" fmla="*/ 5 w 143"/>
                <a:gd name="T21" fmla="*/ 142 h 142"/>
                <a:gd name="T22" fmla="*/ 138 w 143"/>
                <a:gd name="T23" fmla="*/ 142 h 142"/>
                <a:gd name="T24" fmla="*/ 143 w 143"/>
                <a:gd name="T25" fmla="*/ 137 h 142"/>
                <a:gd name="T26" fmla="*/ 143 w 143"/>
                <a:gd name="T27" fmla="*/ 123 h 142"/>
                <a:gd name="T28" fmla="*/ 111 w 143"/>
                <a:gd name="T29" fmla="*/ 91 h 142"/>
                <a:gd name="T30" fmla="*/ 71 w 143"/>
                <a:gd name="T31" fmla="*/ 79 h 142"/>
                <a:gd name="T32" fmla="*/ 111 w 143"/>
                <a:gd name="T33" fmla="*/ 40 h 142"/>
                <a:gd name="T34" fmla="*/ 71 w 143"/>
                <a:gd name="T35" fmla="*/ 0 h 142"/>
                <a:gd name="T36" fmla="*/ 32 w 143"/>
                <a:gd name="T37" fmla="*/ 40 h 142"/>
                <a:gd name="T38" fmla="*/ 71 w 143"/>
                <a:gd name="T39" fmla="*/ 7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3" h="142">
                  <a:moveTo>
                    <a:pt x="111" y="91"/>
                  </a:moveTo>
                  <a:cubicBezTo>
                    <a:pt x="97" y="91"/>
                    <a:pt x="97" y="91"/>
                    <a:pt x="97" y="91"/>
                  </a:cubicBezTo>
                  <a:cubicBezTo>
                    <a:pt x="94" y="91"/>
                    <a:pt x="91" y="93"/>
                    <a:pt x="89" y="95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75" y="115"/>
                    <a:pt x="67" y="115"/>
                    <a:pt x="63" y="109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2" y="93"/>
                    <a:pt x="49" y="91"/>
                    <a:pt x="46" y="91"/>
                  </a:cubicBezTo>
                  <a:cubicBezTo>
                    <a:pt x="32" y="91"/>
                    <a:pt x="32" y="91"/>
                    <a:pt x="32" y="91"/>
                  </a:cubicBezTo>
                  <a:cubicBezTo>
                    <a:pt x="14" y="91"/>
                    <a:pt x="0" y="105"/>
                    <a:pt x="0" y="123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40"/>
                    <a:pt x="2" y="142"/>
                    <a:pt x="5" y="142"/>
                  </a:cubicBezTo>
                  <a:cubicBezTo>
                    <a:pt x="138" y="142"/>
                    <a:pt x="138" y="142"/>
                    <a:pt x="138" y="142"/>
                  </a:cubicBezTo>
                  <a:cubicBezTo>
                    <a:pt x="141" y="142"/>
                    <a:pt x="143" y="140"/>
                    <a:pt x="143" y="137"/>
                  </a:cubicBezTo>
                  <a:cubicBezTo>
                    <a:pt x="143" y="123"/>
                    <a:pt x="143" y="123"/>
                    <a:pt x="143" y="123"/>
                  </a:cubicBezTo>
                  <a:cubicBezTo>
                    <a:pt x="143" y="105"/>
                    <a:pt x="129" y="91"/>
                    <a:pt x="111" y="91"/>
                  </a:cubicBezTo>
                  <a:close/>
                  <a:moveTo>
                    <a:pt x="71" y="79"/>
                  </a:moveTo>
                  <a:cubicBezTo>
                    <a:pt x="93" y="79"/>
                    <a:pt x="111" y="61"/>
                    <a:pt x="111" y="40"/>
                  </a:cubicBezTo>
                  <a:cubicBezTo>
                    <a:pt x="111" y="18"/>
                    <a:pt x="93" y="0"/>
                    <a:pt x="71" y="0"/>
                  </a:cubicBezTo>
                  <a:cubicBezTo>
                    <a:pt x="50" y="0"/>
                    <a:pt x="32" y="18"/>
                    <a:pt x="32" y="40"/>
                  </a:cubicBezTo>
                  <a:cubicBezTo>
                    <a:pt x="32" y="61"/>
                    <a:pt x="50" y="79"/>
                    <a:pt x="71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7" name="Group 37">
            <a:extLst>
              <a:ext uri="{FF2B5EF4-FFF2-40B4-BE49-F238E27FC236}">
                <a16:creationId xmlns:a16="http://schemas.microsoft.com/office/drawing/2014/main" id="{9056A48E-BD05-4B77-BFF6-6E0C7EDC4A7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88448" y="5780386"/>
            <a:ext cx="216916" cy="275375"/>
            <a:chOff x="3883" y="2889"/>
            <a:chExt cx="282" cy="358"/>
          </a:xfrm>
        </p:grpSpPr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95576028-D534-472E-9B9D-AC07FFD033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2889"/>
              <a:ext cx="232" cy="286"/>
            </a:xfrm>
            <a:custGeom>
              <a:avLst/>
              <a:gdLst>
                <a:gd name="T0" fmla="*/ 50 w 109"/>
                <a:gd name="T1" fmla="*/ 3 h 136"/>
                <a:gd name="T2" fmla="*/ 3 w 109"/>
                <a:gd name="T3" fmla="*/ 62 h 136"/>
                <a:gd name="T4" fmla="*/ 52 w 109"/>
                <a:gd name="T5" fmla="*/ 135 h 136"/>
                <a:gd name="T6" fmla="*/ 59 w 109"/>
                <a:gd name="T7" fmla="*/ 135 h 136"/>
                <a:gd name="T8" fmla="*/ 109 w 109"/>
                <a:gd name="T9" fmla="*/ 56 h 136"/>
                <a:gd name="T10" fmla="*/ 50 w 109"/>
                <a:gd name="T11" fmla="*/ 3 h 136"/>
                <a:gd name="T12" fmla="*/ 55 w 109"/>
                <a:gd name="T13" fmla="*/ 77 h 136"/>
                <a:gd name="T14" fmla="*/ 34 w 109"/>
                <a:gd name="T15" fmla="*/ 56 h 136"/>
                <a:gd name="T16" fmla="*/ 55 w 109"/>
                <a:gd name="T17" fmla="*/ 35 h 136"/>
                <a:gd name="T18" fmla="*/ 77 w 109"/>
                <a:gd name="T19" fmla="*/ 56 h 136"/>
                <a:gd name="T20" fmla="*/ 55 w 109"/>
                <a:gd name="T21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9" h="136">
                  <a:moveTo>
                    <a:pt x="50" y="3"/>
                  </a:moveTo>
                  <a:cubicBezTo>
                    <a:pt x="21" y="6"/>
                    <a:pt x="0" y="33"/>
                    <a:pt x="3" y="62"/>
                  </a:cubicBezTo>
                  <a:cubicBezTo>
                    <a:pt x="6" y="99"/>
                    <a:pt x="40" y="126"/>
                    <a:pt x="52" y="135"/>
                  </a:cubicBezTo>
                  <a:cubicBezTo>
                    <a:pt x="54" y="136"/>
                    <a:pt x="57" y="136"/>
                    <a:pt x="59" y="135"/>
                  </a:cubicBezTo>
                  <a:cubicBezTo>
                    <a:pt x="71" y="125"/>
                    <a:pt x="109" y="93"/>
                    <a:pt x="109" y="56"/>
                  </a:cubicBezTo>
                  <a:cubicBezTo>
                    <a:pt x="109" y="25"/>
                    <a:pt x="82" y="0"/>
                    <a:pt x="50" y="3"/>
                  </a:cubicBezTo>
                  <a:close/>
                  <a:moveTo>
                    <a:pt x="55" y="77"/>
                  </a:moveTo>
                  <a:cubicBezTo>
                    <a:pt x="44" y="77"/>
                    <a:pt x="34" y="68"/>
                    <a:pt x="34" y="56"/>
                  </a:cubicBezTo>
                  <a:cubicBezTo>
                    <a:pt x="34" y="44"/>
                    <a:pt x="44" y="35"/>
                    <a:pt x="55" y="35"/>
                  </a:cubicBezTo>
                  <a:cubicBezTo>
                    <a:pt x="67" y="35"/>
                    <a:pt x="77" y="44"/>
                    <a:pt x="77" y="56"/>
                  </a:cubicBezTo>
                  <a:cubicBezTo>
                    <a:pt x="77" y="68"/>
                    <a:pt x="67" y="77"/>
                    <a:pt x="55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BAD330A4-4CDD-4E9E-A864-B1E3A8B7F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3123"/>
              <a:ext cx="282" cy="124"/>
            </a:xfrm>
            <a:custGeom>
              <a:avLst/>
              <a:gdLst>
                <a:gd name="T0" fmla="*/ 131 w 133"/>
                <a:gd name="T1" fmla="*/ 47 h 59"/>
                <a:gd name="T2" fmla="*/ 123 w 133"/>
                <a:gd name="T3" fmla="*/ 8 h 59"/>
                <a:gd name="T4" fmla="*/ 113 w 133"/>
                <a:gd name="T5" fmla="*/ 0 h 59"/>
                <a:gd name="T6" fmla="*/ 110 w 133"/>
                <a:gd name="T7" fmla="*/ 0 h 59"/>
                <a:gd name="T8" fmla="*/ 78 w 133"/>
                <a:gd name="T9" fmla="*/ 33 h 59"/>
                <a:gd name="T10" fmla="*/ 66 w 133"/>
                <a:gd name="T11" fmla="*/ 37 h 59"/>
                <a:gd name="T12" fmla="*/ 56 w 133"/>
                <a:gd name="T13" fmla="*/ 33 h 59"/>
                <a:gd name="T14" fmla="*/ 22 w 133"/>
                <a:gd name="T15" fmla="*/ 0 h 59"/>
                <a:gd name="T16" fmla="*/ 20 w 133"/>
                <a:gd name="T17" fmla="*/ 0 h 59"/>
                <a:gd name="T18" fmla="*/ 10 w 133"/>
                <a:gd name="T19" fmla="*/ 8 h 59"/>
                <a:gd name="T20" fmla="*/ 1 w 133"/>
                <a:gd name="T21" fmla="*/ 47 h 59"/>
                <a:gd name="T22" fmla="*/ 11 w 133"/>
                <a:gd name="T23" fmla="*/ 59 h 59"/>
                <a:gd name="T24" fmla="*/ 122 w 133"/>
                <a:gd name="T25" fmla="*/ 59 h 59"/>
                <a:gd name="T26" fmla="*/ 131 w 133"/>
                <a:gd name="T27" fmla="*/ 4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59">
                  <a:moveTo>
                    <a:pt x="131" y="47"/>
                  </a:moveTo>
                  <a:cubicBezTo>
                    <a:pt x="123" y="8"/>
                    <a:pt x="123" y="8"/>
                    <a:pt x="123" y="8"/>
                  </a:cubicBezTo>
                  <a:cubicBezTo>
                    <a:pt x="122" y="3"/>
                    <a:pt x="118" y="0"/>
                    <a:pt x="11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03" y="11"/>
                    <a:pt x="92" y="22"/>
                    <a:pt x="78" y="33"/>
                  </a:cubicBezTo>
                  <a:cubicBezTo>
                    <a:pt x="74" y="35"/>
                    <a:pt x="70" y="37"/>
                    <a:pt x="66" y="37"/>
                  </a:cubicBezTo>
                  <a:cubicBezTo>
                    <a:pt x="62" y="37"/>
                    <a:pt x="59" y="36"/>
                    <a:pt x="56" y="33"/>
                  </a:cubicBezTo>
                  <a:cubicBezTo>
                    <a:pt x="47" y="28"/>
                    <a:pt x="33" y="16"/>
                    <a:pt x="2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5" y="0"/>
                    <a:pt x="11" y="4"/>
                    <a:pt x="10" y="8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54"/>
                    <a:pt x="5" y="59"/>
                    <a:pt x="11" y="59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8" y="59"/>
                    <a:pt x="133" y="54"/>
                    <a:pt x="131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0" name="Group 42">
            <a:extLst>
              <a:ext uri="{FF2B5EF4-FFF2-40B4-BE49-F238E27FC236}">
                <a16:creationId xmlns:a16="http://schemas.microsoft.com/office/drawing/2014/main" id="{CF6AE682-C589-4D67-B424-E968FCCEAA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38451" y="5797506"/>
            <a:ext cx="256506" cy="257989"/>
            <a:chOff x="4690" y="2991"/>
            <a:chExt cx="346" cy="348"/>
          </a:xfrm>
        </p:grpSpPr>
        <p:sp>
          <p:nvSpPr>
            <p:cNvPr id="51" name="Freeform 43">
              <a:extLst>
                <a:ext uri="{FF2B5EF4-FFF2-40B4-BE49-F238E27FC236}">
                  <a16:creationId xmlns:a16="http://schemas.microsoft.com/office/drawing/2014/main" id="{79477477-6AC6-4831-9133-B49EE95A8F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0" y="3124"/>
              <a:ext cx="346" cy="215"/>
            </a:xfrm>
            <a:custGeom>
              <a:avLst/>
              <a:gdLst>
                <a:gd name="T0" fmla="*/ 94 w 164"/>
                <a:gd name="T1" fmla="*/ 5 h 102"/>
                <a:gd name="T2" fmla="*/ 89 w 164"/>
                <a:gd name="T3" fmla="*/ 0 h 102"/>
                <a:gd name="T4" fmla="*/ 69 w 164"/>
                <a:gd name="T5" fmla="*/ 0 h 102"/>
                <a:gd name="T6" fmla="*/ 64 w 164"/>
                <a:gd name="T7" fmla="*/ 5 h 102"/>
                <a:gd name="T8" fmla="*/ 64 w 164"/>
                <a:gd name="T9" fmla="*/ 74 h 102"/>
                <a:gd name="T10" fmla="*/ 94 w 164"/>
                <a:gd name="T11" fmla="*/ 74 h 102"/>
                <a:gd name="T12" fmla="*/ 94 w 164"/>
                <a:gd name="T13" fmla="*/ 5 h 102"/>
                <a:gd name="T14" fmla="*/ 137 w 164"/>
                <a:gd name="T15" fmla="*/ 15 h 102"/>
                <a:gd name="T16" fmla="*/ 132 w 164"/>
                <a:gd name="T17" fmla="*/ 10 h 102"/>
                <a:gd name="T18" fmla="*/ 112 w 164"/>
                <a:gd name="T19" fmla="*/ 10 h 102"/>
                <a:gd name="T20" fmla="*/ 107 w 164"/>
                <a:gd name="T21" fmla="*/ 15 h 102"/>
                <a:gd name="T22" fmla="*/ 107 w 164"/>
                <a:gd name="T23" fmla="*/ 74 h 102"/>
                <a:gd name="T24" fmla="*/ 137 w 164"/>
                <a:gd name="T25" fmla="*/ 74 h 102"/>
                <a:gd name="T26" fmla="*/ 137 w 164"/>
                <a:gd name="T27" fmla="*/ 15 h 102"/>
                <a:gd name="T28" fmla="*/ 156 w 164"/>
                <a:gd name="T29" fmla="*/ 87 h 102"/>
                <a:gd name="T30" fmla="*/ 7 w 164"/>
                <a:gd name="T31" fmla="*/ 87 h 102"/>
                <a:gd name="T32" fmla="*/ 0 w 164"/>
                <a:gd name="T33" fmla="*/ 94 h 102"/>
                <a:gd name="T34" fmla="*/ 7 w 164"/>
                <a:gd name="T35" fmla="*/ 102 h 102"/>
                <a:gd name="T36" fmla="*/ 156 w 164"/>
                <a:gd name="T37" fmla="*/ 102 h 102"/>
                <a:gd name="T38" fmla="*/ 164 w 164"/>
                <a:gd name="T39" fmla="*/ 94 h 102"/>
                <a:gd name="T40" fmla="*/ 156 w 164"/>
                <a:gd name="T41" fmla="*/ 87 h 102"/>
                <a:gd name="T42" fmla="*/ 52 w 164"/>
                <a:gd name="T43" fmla="*/ 30 h 102"/>
                <a:gd name="T44" fmla="*/ 47 w 164"/>
                <a:gd name="T45" fmla="*/ 25 h 102"/>
                <a:gd name="T46" fmla="*/ 27 w 164"/>
                <a:gd name="T47" fmla="*/ 25 h 102"/>
                <a:gd name="T48" fmla="*/ 22 w 164"/>
                <a:gd name="T49" fmla="*/ 30 h 102"/>
                <a:gd name="T50" fmla="*/ 22 w 164"/>
                <a:gd name="T51" fmla="*/ 74 h 102"/>
                <a:gd name="T52" fmla="*/ 52 w 164"/>
                <a:gd name="T53" fmla="*/ 74 h 102"/>
                <a:gd name="T54" fmla="*/ 52 w 164"/>
                <a:gd name="T55" fmla="*/ 3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4" h="102">
                  <a:moveTo>
                    <a:pt x="94" y="5"/>
                  </a:moveTo>
                  <a:cubicBezTo>
                    <a:pt x="94" y="2"/>
                    <a:pt x="92" y="0"/>
                    <a:pt x="8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7" y="0"/>
                    <a:pt x="64" y="2"/>
                    <a:pt x="64" y="5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94" y="74"/>
                    <a:pt x="94" y="74"/>
                    <a:pt x="94" y="74"/>
                  </a:cubicBezTo>
                  <a:lnTo>
                    <a:pt x="94" y="5"/>
                  </a:lnTo>
                  <a:close/>
                  <a:moveTo>
                    <a:pt x="137" y="15"/>
                  </a:moveTo>
                  <a:cubicBezTo>
                    <a:pt x="137" y="12"/>
                    <a:pt x="134" y="10"/>
                    <a:pt x="132" y="10"/>
                  </a:cubicBezTo>
                  <a:cubicBezTo>
                    <a:pt x="112" y="10"/>
                    <a:pt x="112" y="10"/>
                    <a:pt x="112" y="10"/>
                  </a:cubicBezTo>
                  <a:cubicBezTo>
                    <a:pt x="109" y="10"/>
                    <a:pt x="107" y="12"/>
                    <a:pt x="107" y="15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37" y="74"/>
                    <a:pt x="137" y="74"/>
                    <a:pt x="137" y="74"/>
                  </a:cubicBezTo>
                  <a:lnTo>
                    <a:pt x="137" y="15"/>
                  </a:lnTo>
                  <a:close/>
                  <a:moveTo>
                    <a:pt x="156" y="87"/>
                  </a:moveTo>
                  <a:cubicBezTo>
                    <a:pt x="7" y="87"/>
                    <a:pt x="7" y="87"/>
                    <a:pt x="7" y="87"/>
                  </a:cubicBezTo>
                  <a:cubicBezTo>
                    <a:pt x="3" y="87"/>
                    <a:pt x="0" y="90"/>
                    <a:pt x="0" y="94"/>
                  </a:cubicBezTo>
                  <a:cubicBezTo>
                    <a:pt x="0" y="98"/>
                    <a:pt x="3" y="102"/>
                    <a:pt x="7" y="102"/>
                  </a:cubicBezTo>
                  <a:cubicBezTo>
                    <a:pt x="156" y="102"/>
                    <a:pt x="156" y="102"/>
                    <a:pt x="156" y="102"/>
                  </a:cubicBezTo>
                  <a:cubicBezTo>
                    <a:pt x="161" y="102"/>
                    <a:pt x="164" y="98"/>
                    <a:pt x="164" y="94"/>
                  </a:cubicBezTo>
                  <a:cubicBezTo>
                    <a:pt x="164" y="90"/>
                    <a:pt x="161" y="87"/>
                    <a:pt x="156" y="87"/>
                  </a:cubicBezTo>
                  <a:close/>
                  <a:moveTo>
                    <a:pt x="52" y="30"/>
                  </a:moveTo>
                  <a:cubicBezTo>
                    <a:pt x="52" y="27"/>
                    <a:pt x="50" y="25"/>
                    <a:pt x="47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4" y="25"/>
                    <a:pt x="22" y="27"/>
                    <a:pt x="22" y="30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52" y="74"/>
                    <a:pt x="52" y="74"/>
                    <a:pt x="52" y="74"/>
                  </a:cubicBezTo>
                  <a:lnTo>
                    <a:pt x="52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4">
              <a:extLst>
                <a:ext uri="{FF2B5EF4-FFF2-40B4-BE49-F238E27FC236}">
                  <a16:creationId xmlns:a16="http://schemas.microsoft.com/office/drawing/2014/main" id="{644FDE19-0BD2-46C6-95F2-AA1CC9C9E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" y="2991"/>
              <a:ext cx="280" cy="135"/>
            </a:xfrm>
            <a:custGeom>
              <a:avLst/>
              <a:gdLst>
                <a:gd name="T0" fmla="*/ 128 w 133"/>
                <a:gd name="T1" fmla="*/ 1 h 64"/>
                <a:gd name="T2" fmla="*/ 105 w 133"/>
                <a:gd name="T3" fmla="*/ 4 h 64"/>
                <a:gd name="T4" fmla="*/ 103 w 133"/>
                <a:gd name="T5" fmla="*/ 11 h 64"/>
                <a:gd name="T6" fmla="*/ 108 w 133"/>
                <a:gd name="T7" fmla="*/ 16 h 64"/>
                <a:gd name="T8" fmla="*/ 90 w 133"/>
                <a:gd name="T9" fmla="*/ 35 h 64"/>
                <a:gd name="T10" fmla="*/ 60 w 133"/>
                <a:gd name="T11" fmla="*/ 12 h 64"/>
                <a:gd name="T12" fmla="*/ 51 w 133"/>
                <a:gd name="T13" fmla="*/ 12 h 64"/>
                <a:gd name="T14" fmla="*/ 4 w 133"/>
                <a:gd name="T15" fmla="*/ 51 h 64"/>
                <a:gd name="T16" fmla="*/ 3 w 133"/>
                <a:gd name="T17" fmla="*/ 62 h 64"/>
                <a:gd name="T18" fmla="*/ 9 w 133"/>
                <a:gd name="T19" fmla="*/ 64 h 64"/>
                <a:gd name="T20" fmla="*/ 13 w 133"/>
                <a:gd name="T21" fmla="*/ 63 h 64"/>
                <a:gd name="T22" fmla="*/ 56 w 133"/>
                <a:gd name="T23" fmla="*/ 27 h 64"/>
                <a:gd name="T24" fmla="*/ 86 w 133"/>
                <a:gd name="T25" fmla="*/ 50 h 64"/>
                <a:gd name="T26" fmla="*/ 96 w 133"/>
                <a:gd name="T27" fmla="*/ 50 h 64"/>
                <a:gd name="T28" fmla="*/ 119 w 133"/>
                <a:gd name="T29" fmla="*/ 27 h 64"/>
                <a:gd name="T30" fmla="*/ 122 w 133"/>
                <a:gd name="T31" fmla="*/ 30 h 64"/>
                <a:gd name="T32" fmla="*/ 130 w 133"/>
                <a:gd name="T33" fmla="*/ 28 h 64"/>
                <a:gd name="T34" fmla="*/ 133 w 133"/>
                <a:gd name="T35" fmla="*/ 6 h 64"/>
                <a:gd name="T36" fmla="*/ 128 w 133"/>
                <a:gd name="T37" fmla="*/ 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64">
                  <a:moveTo>
                    <a:pt x="128" y="1"/>
                  </a:moveTo>
                  <a:cubicBezTo>
                    <a:pt x="105" y="4"/>
                    <a:pt x="105" y="4"/>
                    <a:pt x="105" y="4"/>
                  </a:cubicBezTo>
                  <a:cubicBezTo>
                    <a:pt x="102" y="4"/>
                    <a:pt x="100" y="9"/>
                    <a:pt x="103" y="11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58" y="10"/>
                    <a:pt x="54" y="10"/>
                    <a:pt x="51" y="12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1" y="54"/>
                    <a:pt x="0" y="58"/>
                    <a:pt x="3" y="62"/>
                  </a:cubicBezTo>
                  <a:cubicBezTo>
                    <a:pt x="4" y="63"/>
                    <a:pt x="7" y="64"/>
                    <a:pt x="9" y="64"/>
                  </a:cubicBezTo>
                  <a:cubicBezTo>
                    <a:pt x="10" y="64"/>
                    <a:pt x="12" y="64"/>
                    <a:pt x="13" y="63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9" y="53"/>
                    <a:pt x="93" y="52"/>
                    <a:pt x="96" y="50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5" y="33"/>
                    <a:pt x="129" y="32"/>
                    <a:pt x="130" y="28"/>
                  </a:cubicBezTo>
                  <a:cubicBezTo>
                    <a:pt x="133" y="6"/>
                    <a:pt x="133" y="6"/>
                    <a:pt x="133" y="6"/>
                  </a:cubicBezTo>
                  <a:cubicBezTo>
                    <a:pt x="133" y="3"/>
                    <a:pt x="131" y="0"/>
                    <a:pt x="1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3" name="Group 18">
            <a:extLst>
              <a:ext uri="{FF2B5EF4-FFF2-40B4-BE49-F238E27FC236}">
                <a16:creationId xmlns:a16="http://schemas.microsoft.com/office/drawing/2014/main" id="{3EE8C258-C360-4251-9FDE-7AF60F95CC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3997" y="5775402"/>
            <a:ext cx="192162" cy="290840"/>
            <a:chOff x="3655" y="3030"/>
            <a:chExt cx="259" cy="392"/>
          </a:xfrm>
        </p:grpSpPr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29B7EAA4-008C-4080-8005-030F71416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3" y="3355"/>
              <a:ext cx="127" cy="67"/>
            </a:xfrm>
            <a:custGeom>
              <a:avLst/>
              <a:gdLst>
                <a:gd name="T0" fmla="*/ 52 w 60"/>
                <a:gd name="T1" fmla="*/ 0 h 32"/>
                <a:gd name="T2" fmla="*/ 7 w 60"/>
                <a:gd name="T3" fmla="*/ 0 h 32"/>
                <a:gd name="T4" fmla="*/ 0 w 60"/>
                <a:gd name="T5" fmla="*/ 7 h 32"/>
                <a:gd name="T6" fmla="*/ 0 w 60"/>
                <a:gd name="T7" fmla="*/ 8 h 32"/>
                <a:gd name="T8" fmla="*/ 7 w 60"/>
                <a:gd name="T9" fmla="*/ 16 h 32"/>
                <a:gd name="T10" fmla="*/ 15 w 60"/>
                <a:gd name="T11" fmla="*/ 16 h 32"/>
                <a:gd name="T12" fmla="*/ 15 w 60"/>
                <a:gd name="T13" fmla="*/ 18 h 32"/>
                <a:gd name="T14" fmla="*/ 29 w 60"/>
                <a:gd name="T15" fmla="*/ 32 h 32"/>
                <a:gd name="T16" fmla="*/ 31 w 60"/>
                <a:gd name="T17" fmla="*/ 32 h 32"/>
                <a:gd name="T18" fmla="*/ 45 w 60"/>
                <a:gd name="T19" fmla="*/ 18 h 32"/>
                <a:gd name="T20" fmla="*/ 45 w 60"/>
                <a:gd name="T21" fmla="*/ 16 h 32"/>
                <a:gd name="T22" fmla="*/ 52 w 60"/>
                <a:gd name="T23" fmla="*/ 16 h 32"/>
                <a:gd name="T24" fmla="*/ 60 w 60"/>
                <a:gd name="T25" fmla="*/ 8 h 32"/>
                <a:gd name="T26" fmla="*/ 60 w 60"/>
                <a:gd name="T27" fmla="*/ 7 h 32"/>
                <a:gd name="T28" fmla="*/ 52 w 60"/>
                <a:gd name="T2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32">
                  <a:moveTo>
                    <a:pt x="52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6"/>
                    <a:pt x="7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26"/>
                    <a:pt x="21" y="32"/>
                    <a:pt x="29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8" y="32"/>
                    <a:pt x="45" y="26"/>
                    <a:pt x="45" y="18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6" y="16"/>
                    <a:pt x="60" y="13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3"/>
                    <a:pt x="56" y="0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681B7D04-FAA1-40B8-B074-00DB0E3EAB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5" y="3030"/>
              <a:ext cx="259" cy="297"/>
            </a:xfrm>
            <a:custGeom>
              <a:avLst/>
              <a:gdLst>
                <a:gd name="T0" fmla="*/ 55 w 122"/>
                <a:gd name="T1" fmla="*/ 4 h 141"/>
                <a:gd name="T2" fmla="*/ 2 w 122"/>
                <a:gd name="T3" fmla="*/ 56 h 141"/>
                <a:gd name="T4" fmla="*/ 19 w 122"/>
                <a:gd name="T5" fmla="*/ 105 h 141"/>
                <a:gd name="T6" fmla="*/ 29 w 122"/>
                <a:gd name="T7" fmla="*/ 132 h 141"/>
                <a:gd name="T8" fmla="*/ 29 w 122"/>
                <a:gd name="T9" fmla="*/ 132 h 141"/>
                <a:gd name="T10" fmla="*/ 39 w 122"/>
                <a:gd name="T11" fmla="*/ 141 h 141"/>
                <a:gd name="T12" fmla="*/ 85 w 122"/>
                <a:gd name="T13" fmla="*/ 141 h 141"/>
                <a:gd name="T14" fmla="*/ 94 w 122"/>
                <a:gd name="T15" fmla="*/ 132 h 141"/>
                <a:gd name="T16" fmla="*/ 105 w 122"/>
                <a:gd name="T17" fmla="*/ 105 h 141"/>
                <a:gd name="T18" fmla="*/ 122 w 122"/>
                <a:gd name="T19" fmla="*/ 63 h 141"/>
                <a:gd name="T20" fmla="*/ 55 w 122"/>
                <a:gd name="T21" fmla="*/ 4 h 141"/>
                <a:gd name="T22" fmla="*/ 56 w 122"/>
                <a:gd name="T23" fmla="*/ 118 h 141"/>
                <a:gd name="T24" fmla="*/ 50 w 122"/>
                <a:gd name="T25" fmla="*/ 124 h 141"/>
                <a:gd name="T26" fmla="*/ 44 w 122"/>
                <a:gd name="T27" fmla="*/ 118 h 141"/>
                <a:gd name="T28" fmla="*/ 44 w 122"/>
                <a:gd name="T29" fmla="*/ 93 h 141"/>
                <a:gd name="T30" fmla="*/ 30 w 122"/>
                <a:gd name="T31" fmla="*/ 78 h 141"/>
                <a:gd name="T32" fmla="*/ 24 w 122"/>
                <a:gd name="T33" fmla="*/ 72 h 141"/>
                <a:gd name="T34" fmla="*/ 30 w 122"/>
                <a:gd name="T35" fmla="*/ 67 h 141"/>
                <a:gd name="T36" fmla="*/ 56 w 122"/>
                <a:gd name="T37" fmla="*/ 93 h 141"/>
                <a:gd name="T38" fmla="*/ 56 w 122"/>
                <a:gd name="T39" fmla="*/ 118 h 141"/>
                <a:gd name="T40" fmla="*/ 94 w 122"/>
                <a:gd name="T41" fmla="*/ 78 h 141"/>
                <a:gd name="T42" fmla="*/ 79 w 122"/>
                <a:gd name="T43" fmla="*/ 93 h 141"/>
                <a:gd name="T44" fmla="*/ 79 w 122"/>
                <a:gd name="T45" fmla="*/ 118 h 141"/>
                <a:gd name="T46" fmla="*/ 73 w 122"/>
                <a:gd name="T47" fmla="*/ 124 h 141"/>
                <a:gd name="T48" fmla="*/ 67 w 122"/>
                <a:gd name="T49" fmla="*/ 118 h 141"/>
                <a:gd name="T50" fmla="*/ 67 w 122"/>
                <a:gd name="T51" fmla="*/ 93 h 141"/>
                <a:gd name="T52" fmla="*/ 94 w 122"/>
                <a:gd name="T53" fmla="*/ 67 h 141"/>
                <a:gd name="T54" fmla="*/ 99 w 122"/>
                <a:gd name="T55" fmla="*/ 72 h 141"/>
                <a:gd name="T56" fmla="*/ 94 w 122"/>
                <a:gd name="T57" fmla="*/ 7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2" h="141">
                  <a:moveTo>
                    <a:pt x="55" y="4"/>
                  </a:moveTo>
                  <a:cubicBezTo>
                    <a:pt x="29" y="7"/>
                    <a:pt x="5" y="31"/>
                    <a:pt x="2" y="56"/>
                  </a:cubicBezTo>
                  <a:cubicBezTo>
                    <a:pt x="0" y="75"/>
                    <a:pt x="7" y="93"/>
                    <a:pt x="19" y="105"/>
                  </a:cubicBezTo>
                  <a:cubicBezTo>
                    <a:pt x="26" y="112"/>
                    <a:pt x="29" y="122"/>
                    <a:pt x="29" y="132"/>
                  </a:cubicBezTo>
                  <a:cubicBezTo>
                    <a:pt x="29" y="132"/>
                    <a:pt x="29" y="132"/>
                    <a:pt x="29" y="132"/>
                  </a:cubicBezTo>
                  <a:cubicBezTo>
                    <a:pt x="29" y="137"/>
                    <a:pt x="33" y="141"/>
                    <a:pt x="39" y="141"/>
                  </a:cubicBezTo>
                  <a:cubicBezTo>
                    <a:pt x="85" y="141"/>
                    <a:pt x="85" y="141"/>
                    <a:pt x="85" y="141"/>
                  </a:cubicBezTo>
                  <a:cubicBezTo>
                    <a:pt x="90" y="141"/>
                    <a:pt x="94" y="137"/>
                    <a:pt x="94" y="132"/>
                  </a:cubicBezTo>
                  <a:cubicBezTo>
                    <a:pt x="94" y="122"/>
                    <a:pt x="98" y="112"/>
                    <a:pt x="105" y="105"/>
                  </a:cubicBezTo>
                  <a:cubicBezTo>
                    <a:pt x="115" y="95"/>
                    <a:pt x="122" y="80"/>
                    <a:pt x="122" y="63"/>
                  </a:cubicBezTo>
                  <a:cubicBezTo>
                    <a:pt x="122" y="28"/>
                    <a:pt x="91" y="0"/>
                    <a:pt x="55" y="4"/>
                  </a:cubicBezTo>
                  <a:close/>
                  <a:moveTo>
                    <a:pt x="56" y="118"/>
                  </a:moveTo>
                  <a:cubicBezTo>
                    <a:pt x="56" y="121"/>
                    <a:pt x="53" y="124"/>
                    <a:pt x="50" y="124"/>
                  </a:cubicBezTo>
                  <a:cubicBezTo>
                    <a:pt x="47" y="124"/>
                    <a:pt x="44" y="121"/>
                    <a:pt x="44" y="118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44" y="85"/>
                    <a:pt x="38" y="78"/>
                    <a:pt x="30" y="78"/>
                  </a:cubicBezTo>
                  <a:cubicBezTo>
                    <a:pt x="26" y="78"/>
                    <a:pt x="24" y="76"/>
                    <a:pt x="24" y="72"/>
                  </a:cubicBezTo>
                  <a:cubicBezTo>
                    <a:pt x="24" y="69"/>
                    <a:pt x="26" y="67"/>
                    <a:pt x="30" y="67"/>
                  </a:cubicBezTo>
                  <a:cubicBezTo>
                    <a:pt x="44" y="67"/>
                    <a:pt x="56" y="78"/>
                    <a:pt x="56" y="93"/>
                  </a:cubicBezTo>
                  <a:lnTo>
                    <a:pt x="56" y="118"/>
                  </a:lnTo>
                  <a:close/>
                  <a:moveTo>
                    <a:pt x="94" y="78"/>
                  </a:moveTo>
                  <a:cubicBezTo>
                    <a:pt x="86" y="78"/>
                    <a:pt x="79" y="85"/>
                    <a:pt x="79" y="93"/>
                  </a:cubicBezTo>
                  <a:cubicBezTo>
                    <a:pt x="79" y="118"/>
                    <a:pt x="79" y="118"/>
                    <a:pt x="79" y="118"/>
                  </a:cubicBezTo>
                  <a:cubicBezTo>
                    <a:pt x="79" y="121"/>
                    <a:pt x="77" y="124"/>
                    <a:pt x="73" y="124"/>
                  </a:cubicBezTo>
                  <a:cubicBezTo>
                    <a:pt x="70" y="124"/>
                    <a:pt x="67" y="121"/>
                    <a:pt x="67" y="118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78"/>
                    <a:pt x="79" y="67"/>
                    <a:pt x="94" y="67"/>
                  </a:cubicBezTo>
                  <a:cubicBezTo>
                    <a:pt x="97" y="67"/>
                    <a:pt x="99" y="69"/>
                    <a:pt x="99" y="72"/>
                  </a:cubicBezTo>
                  <a:cubicBezTo>
                    <a:pt x="99" y="76"/>
                    <a:pt x="97" y="78"/>
                    <a:pt x="94" y="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6" name="Group 23">
            <a:extLst>
              <a:ext uri="{FF2B5EF4-FFF2-40B4-BE49-F238E27FC236}">
                <a16:creationId xmlns:a16="http://schemas.microsoft.com/office/drawing/2014/main" id="{0943830A-B0D0-4CCA-9D40-9DD1F38C9CB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91474" y="3331947"/>
            <a:ext cx="216108" cy="377006"/>
            <a:chOff x="3774" y="2550"/>
            <a:chExt cx="274" cy="478"/>
          </a:xfrm>
        </p:grpSpPr>
        <p:sp>
          <p:nvSpPr>
            <p:cNvPr id="57" name="Freeform 24">
              <a:extLst>
                <a:ext uri="{FF2B5EF4-FFF2-40B4-BE49-F238E27FC236}">
                  <a16:creationId xmlns:a16="http://schemas.microsoft.com/office/drawing/2014/main" id="{9CC1B5F0-B1F6-4CD8-A1D0-F9F770252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2550"/>
              <a:ext cx="274" cy="159"/>
            </a:xfrm>
            <a:custGeom>
              <a:avLst/>
              <a:gdLst>
                <a:gd name="T0" fmla="*/ 65 w 129"/>
                <a:gd name="T1" fmla="*/ 0 h 76"/>
                <a:gd name="T2" fmla="*/ 65 w 129"/>
                <a:gd name="T3" fmla="*/ 0 h 76"/>
                <a:gd name="T4" fmla="*/ 60 w 129"/>
                <a:gd name="T5" fmla="*/ 2 h 76"/>
                <a:gd name="T6" fmla="*/ 2 w 129"/>
                <a:gd name="T7" fmla="*/ 60 h 76"/>
                <a:gd name="T8" fmla="*/ 2 w 129"/>
                <a:gd name="T9" fmla="*/ 70 h 76"/>
                <a:gd name="T10" fmla="*/ 7 w 129"/>
                <a:gd name="T11" fmla="*/ 74 h 76"/>
                <a:gd name="T12" fmla="*/ 12 w 129"/>
                <a:gd name="T13" fmla="*/ 76 h 76"/>
                <a:gd name="T14" fmla="*/ 17 w 129"/>
                <a:gd name="T15" fmla="*/ 74 h 76"/>
                <a:gd name="T16" fmla="*/ 65 w 129"/>
                <a:gd name="T17" fmla="*/ 26 h 76"/>
                <a:gd name="T18" fmla="*/ 113 w 129"/>
                <a:gd name="T19" fmla="*/ 74 h 76"/>
                <a:gd name="T20" fmla="*/ 118 w 129"/>
                <a:gd name="T21" fmla="*/ 76 h 76"/>
                <a:gd name="T22" fmla="*/ 123 w 129"/>
                <a:gd name="T23" fmla="*/ 74 h 76"/>
                <a:gd name="T24" fmla="*/ 127 w 129"/>
                <a:gd name="T25" fmla="*/ 70 h 76"/>
                <a:gd name="T26" fmla="*/ 129 w 129"/>
                <a:gd name="T27" fmla="*/ 65 h 76"/>
                <a:gd name="T28" fmla="*/ 127 w 129"/>
                <a:gd name="T29" fmla="*/ 60 h 76"/>
                <a:gd name="T30" fmla="*/ 70 w 129"/>
                <a:gd name="T31" fmla="*/ 2 h 76"/>
                <a:gd name="T32" fmla="*/ 65 w 129"/>
                <a:gd name="T3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9" h="76">
                  <a:moveTo>
                    <a:pt x="65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63" y="0"/>
                    <a:pt x="61" y="1"/>
                    <a:pt x="60" y="2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0" y="63"/>
                    <a:pt x="0" y="67"/>
                    <a:pt x="2" y="70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5"/>
                    <a:pt x="10" y="76"/>
                    <a:pt x="12" y="76"/>
                  </a:cubicBezTo>
                  <a:cubicBezTo>
                    <a:pt x="14" y="76"/>
                    <a:pt x="15" y="75"/>
                    <a:pt x="17" y="74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113" y="74"/>
                    <a:pt x="113" y="74"/>
                    <a:pt x="113" y="74"/>
                  </a:cubicBezTo>
                  <a:cubicBezTo>
                    <a:pt x="114" y="75"/>
                    <a:pt x="116" y="76"/>
                    <a:pt x="118" y="76"/>
                  </a:cubicBezTo>
                  <a:cubicBezTo>
                    <a:pt x="120" y="76"/>
                    <a:pt x="121" y="75"/>
                    <a:pt x="123" y="74"/>
                  </a:cubicBezTo>
                  <a:cubicBezTo>
                    <a:pt x="127" y="70"/>
                    <a:pt x="127" y="70"/>
                    <a:pt x="127" y="70"/>
                  </a:cubicBezTo>
                  <a:cubicBezTo>
                    <a:pt x="128" y="68"/>
                    <a:pt x="129" y="67"/>
                    <a:pt x="129" y="65"/>
                  </a:cubicBezTo>
                  <a:cubicBezTo>
                    <a:pt x="129" y="63"/>
                    <a:pt x="128" y="61"/>
                    <a:pt x="127" y="60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8" y="1"/>
                    <a:pt x="67" y="0"/>
                    <a:pt x="65" y="0"/>
                  </a:cubicBezTo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C024183F-A8FE-4F66-BBBF-11930B365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2709"/>
              <a:ext cx="274" cy="160"/>
            </a:xfrm>
            <a:custGeom>
              <a:avLst/>
              <a:gdLst>
                <a:gd name="T0" fmla="*/ 127 w 129"/>
                <a:gd name="T1" fmla="*/ 70 h 76"/>
                <a:gd name="T2" fmla="*/ 123 w 129"/>
                <a:gd name="T3" fmla="*/ 74 h 76"/>
                <a:gd name="T4" fmla="*/ 118 w 129"/>
                <a:gd name="T5" fmla="*/ 76 h 76"/>
                <a:gd name="T6" fmla="*/ 113 w 129"/>
                <a:gd name="T7" fmla="*/ 74 h 76"/>
                <a:gd name="T8" fmla="*/ 65 w 129"/>
                <a:gd name="T9" fmla="*/ 26 h 76"/>
                <a:gd name="T10" fmla="*/ 17 w 129"/>
                <a:gd name="T11" fmla="*/ 74 h 76"/>
                <a:gd name="T12" fmla="*/ 12 w 129"/>
                <a:gd name="T13" fmla="*/ 76 h 76"/>
                <a:gd name="T14" fmla="*/ 7 w 129"/>
                <a:gd name="T15" fmla="*/ 74 h 76"/>
                <a:gd name="T16" fmla="*/ 2 w 129"/>
                <a:gd name="T17" fmla="*/ 70 h 76"/>
                <a:gd name="T18" fmla="*/ 2 w 129"/>
                <a:gd name="T19" fmla="*/ 60 h 76"/>
                <a:gd name="T20" fmla="*/ 60 w 129"/>
                <a:gd name="T21" fmla="*/ 2 h 76"/>
                <a:gd name="T22" fmla="*/ 65 w 129"/>
                <a:gd name="T23" fmla="*/ 0 h 76"/>
                <a:gd name="T24" fmla="*/ 65 w 129"/>
                <a:gd name="T25" fmla="*/ 0 h 76"/>
                <a:gd name="T26" fmla="*/ 70 w 129"/>
                <a:gd name="T27" fmla="*/ 2 h 76"/>
                <a:gd name="T28" fmla="*/ 127 w 129"/>
                <a:gd name="T29" fmla="*/ 60 h 76"/>
                <a:gd name="T30" fmla="*/ 129 w 129"/>
                <a:gd name="T31" fmla="*/ 65 h 76"/>
                <a:gd name="T32" fmla="*/ 127 w 129"/>
                <a:gd name="T33" fmla="*/ 7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9" h="76">
                  <a:moveTo>
                    <a:pt x="127" y="70"/>
                  </a:moveTo>
                  <a:cubicBezTo>
                    <a:pt x="123" y="74"/>
                    <a:pt x="123" y="74"/>
                    <a:pt x="123" y="74"/>
                  </a:cubicBezTo>
                  <a:cubicBezTo>
                    <a:pt x="121" y="75"/>
                    <a:pt x="120" y="76"/>
                    <a:pt x="118" y="76"/>
                  </a:cubicBezTo>
                  <a:cubicBezTo>
                    <a:pt x="116" y="76"/>
                    <a:pt x="114" y="75"/>
                    <a:pt x="113" y="74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5" y="75"/>
                    <a:pt x="14" y="76"/>
                    <a:pt x="12" y="76"/>
                  </a:cubicBezTo>
                  <a:cubicBezTo>
                    <a:pt x="10" y="76"/>
                    <a:pt x="8" y="75"/>
                    <a:pt x="7" y="74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0" y="67"/>
                    <a:pt x="0" y="63"/>
                    <a:pt x="2" y="60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1" y="1"/>
                    <a:pt x="63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7" y="0"/>
                    <a:pt x="68" y="1"/>
                    <a:pt x="70" y="2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8" y="61"/>
                    <a:pt x="129" y="63"/>
                    <a:pt x="129" y="65"/>
                  </a:cubicBezTo>
                  <a:cubicBezTo>
                    <a:pt x="129" y="67"/>
                    <a:pt x="128" y="68"/>
                    <a:pt x="127" y="7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6">
              <a:extLst>
                <a:ext uri="{FF2B5EF4-FFF2-40B4-BE49-F238E27FC236}">
                  <a16:creationId xmlns:a16="http://schemas.microsoft.com/office/drawing/2014/main" id="{59D1C75E-9BBE-46E2-9581-C53729391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2869"/>
              <a:ext cx="274" cy="159"/>
            </a:xfrm>
            <a:custGeom>
              <a:avLst/>
              <a:gdLst>
                <a:gd name="T0" fmla="*/ 127 w 129"/>
                <a:gd name="T1" fmla="*/ 70 h 76"/>
                <a:gd name="T2" fmla="*/ 123 w 129"/>
                <a:gd name="T3" fmla="*/ 74 h 76"/>
                <a:gd name="T4" fmla="*/ 118 w 129"/>
                <a:gd name="T5" fmla="*/ 76 h 76"/>
                <a:gd name="T6" fmla="*/ 113 w 129"/>
                <a:gd name="T7" fmla="*/ 74 h 76"/>
                <a:gd name="T8" fmla="*/ 65 w 129"/>
                <a:gd name="T9" fmla="*/ 26 h 76"/>
                <a:gd name="T10" fmla="*/ 17 w 129"/>
                <a:gd name="T11" fmla="*/ 74 h 76"/>
                <a:gd name="T12" fmla="*/ 12 w 129"/>
                <a:gd name="T13" fmla="*/ 76 h 76"/>
                <a:gd name="T14" fmla="*/ 7 w 129"/>
                <a:gd name="T15" fmla="*/ 74 h 76"/>
                <a:gd name="T16" fmla="*/ 2 w 129"/>
                <a:gd name="T17" fmla="*/ 70 h 76"/>
                <a:gd name="T18" fmla="*/ 2 w 129"/>
                <a:gd name="T19" fmla="*/ 60 h 76"/>
                <a:gd name="T20" fmla="*/ 60 w 129"/>
                <a:gd name="T21" fmla="*/ 2 h 76"/>
                <a:gd name="T22" fmla="*/ 65 w 129"/>
                <a:gd name="T23" fmla="*/ 0 h 76"/>
                <a:gd name="T24" fmla="*/ 65 w 129"/>
                <a:gd name="T25" fmla="*/ 0 h 76"/>
                <a:gd name="T26" fmla="*/ 70 w 129"/>
                <a:gd name="T27" fmla="*/ 2 h 76"/>
                <a:gd name="T28" fmla="*/ 127 w 129"/>
                <a:gd name="T29" fmla="*/ 60 h 76"/>
                <a:gd name="T30" fmla="*/ 129 w 129"/>
                <a:gd name="T31" fmla="*/ 65 h 76"/>
                <a:gd name="T32" fmla="*/ 127 w 129"/>
                <a:gd name="T33" fmla="*/ 7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9" h="76">
                  <a:moveTo>
                    <a:pt x="127" y="70"/>
                  </a:moveTo>
                  <a:cubicBezTo>
                    <a:pt x="123" y="74"/>
                    <a:pt x="123" y="74"/>
                    <a:pt x="123" y="74"/>
                  </a:cubicBezTo>
                  <a:cubicBezTo>
                    <a:pt x="121" y="75"/>
                    <a:pt x="120" y="76"/>
                    <a:pt x="118" y="76"/>
                  </a:cubicBezTo>
                  <a:cubicBezTo>
                    <a:pt x="116" y="76"/>
                    <a:pt x="114" y="75"/>
                    <a:pt x="113" y="74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5" y="75"/>
                    <a:pt x="14" y="76"/>
                    <a:pt x="12" y="76"/>
                  </a:cubicBezTo>
                  <a:cubicBezTo>
                    <a:pt x="10" y="76"/>
                    <a:pt x="8" y="75"/>
                    <a:pt x="7" y="74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0" y="67"/>
                    <a:pt x="0" y="63"/>
                    <a:pt x="2" y="60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1" y="1"/>
                    <a:pt x="63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7" y="0"/>
                    <a:pt x="68" y="1"/>
                    <a:pt x="70" y="2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8" y="61"/>
                    <a:pt x="129" y="63"/>
                    <a:pt x="129" y="65"/>
                  </a:cubicBezTo>
                  <a:cubicBezTo>
                    <a:pt x="129" y="67"/>
                    <a:pt x="128" y="68"/>
                    <a:pt x="127" y="7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2" name="Title 61">
            <a:extLst>
              <a:ext uri="{FF2B5EF4-FFF2-40B4-BE49-F238E27FC236}">
                <a16:creationId xmlns:a16="http://schemas.microsoft.com/office/drawing/2014/main" id="{5FFA4850-22A7-49DB-91D3-1E7BCEFCA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Сумтай </a:t>
            </a:r>
            <a:r>
              <a:rPr lang="mn-MN" dirty="0">
                <a:solidFill>
                  <a:schemeClr val="accent1"/>
                </a:solidFill>
              </a:rPr>
              <a:t>инфографик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FA285E5-1D5D-44BF-A082-FA9E148B4DC9}"/>
              </a:ext>
            </a:extLst>
          </p:cNvPr>
          <p:cNvGrpSpPr/>
          <p:nvPr/>
        </p:nvGrpSpPr>
        <p:grpSpPr>
          <a:xfrm>
            <a:off x="1523999" y="765175"/>
            <a:ext cx="826133" cy="294190"/>
            <a:chOff x="1523999" y="765175"/>
            <a:chExt cx="826133" cy="29419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9DB6B65-F491-4162-9316-F81CBE786268}"/>
                </a:ext>
              </a:extLst>
            </p:cNvPr>
            <p:cNvSpPr/>
            <p:nvPr/>
          </p:nvSpPr>
          <p:spPr>
            <a:xfrm>
              <a:off x="1523999" y="765175"/>
              <a:ext cx="826133" cy="2220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900" b="0" dirty="0">
                  <a:solidFill>
                    <a:srgbClr val="FFFFFF"/>
                  </a:solidFill>
                  <a:latin typeface="Open Sans" panose="020B0706030804020204" pitchFamily="34" charset="0"/>
                  <a:ea typeface="Open Sans" panose="020B0706030804020204" pitchFamily="34" charset="0"/>
                  <a:cs typeface="Open Sans" panose="020B0706030804020204" pitchFamily="34" charset="0"/>
                </a:rPr>
                <a:t>Инфографик</a:t>
              </a:r>
            </a:p>
          </p:txBody>
        </p:sp>
        <p:sp>
          <p:nvSpPr>
            <p:cNvPr id="66" name="Right Triangle 65">
              <a:extLst>
                <a:ext uri="{FF2B5EF4-FFF2-40B4-BE49-F238E27FC236}">
                  <a16:creationId xmlns:a16="http://schemas.microsoft.com/office/drawing/2014/main" id="{F5F76B91-C488-4AE0-9FB3-7EE60C3B0B80}"/>
                </a:ext>
              </a:extLst>
            </p:cNvPr>
            <p:cNvSpPr/>
            <p:nvPr/>
          </p:nvSpPr>
          <p:spPr>
            <a:xfrm flipV="1">
              <a:off x="1524000" y="987188"/>
              <a:ext cx="72580" cy="7217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91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48000">
                                      <p:stCondLst>
                                        <p:cond delay="3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7" dur="12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8" dur="12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10" presetClass="entr" presetSubtype="0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nodeType="withEffect">
                                      <p:stCondLst>
                                        <p:cond delay="39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nodeType="withEffect">
                                      <p:stCondLst>
                                        <p:cond delay="49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nodeType="withEffect">
                                      <p:stCondLst>
                                        <p:cond delay="38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4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1" decel="10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75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2" presetClass="entr" presetSubtype="4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5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2" presetClass="entr" presetSubtype="4" fill="hold" nodeType="withEffect">
                                      <p:stCondLst>
                                        <p:cond delay="29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8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4" fill="hold" nodeType="withEffect">
                                      <p:stCondLst>
                                        <p:cond delay="3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1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2" presetClass="entr" presetSubtype="4" fill="hold" nodeType="withEffect">
                                      <p:stCondLst>
                                        <p:cond delay="37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4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2" presetClass="entr" presetSubtype="4" fill="hold" nodeType="withEffect">
                                      <p:stCondLst>
                                        <p:cond delay="41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7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3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10" presetClass="entr" presetSubtype="0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nodeType="withEffect">
                                      <p:stCondLst>
                                        <p:cond delay="39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nodeType="withEffect">
                                      <p:stCondLst>
                                        <p:cond delay="49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nodeType="withEffect">
                                      <p:stCondLst>
                                        <p:cond delay="38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4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1" decel="10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75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2" presetClass="entr" presetSubtype="4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5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2" presetClass="entr" presetSubtype="4" fill="hold" nodeType="withEffect">
                                      <p:stCondLst>
                                        <p:cond delay="29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8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4" fill="hold" nodeType="withEffect">
                                      <p:stCondLst>
                                        <p:cond delay="3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1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2" presetClass="entr" presetSubtype="4" fill="hold" nodeType="withEffect">
                                      <p:stCondLst>
                                        <p:cond delay="37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4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2" presetClass="entr" presetSubtype="4" fill="hold" nodeType="withEffect">
                                      <p:stCondLst>
                                        <p:cond delay="41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7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B2E9D-4532-4AA5-B61E-4798D46D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Тойрог </a:t>
            </a:r>
            <a:r>
              <a:rPr lang="mn-MN" dirty="0">
                <a:solidFill>
                  <a:schemeClr val="accent1"/>
                </a:solidFill>
              </a:rPr>
              <a:t>инфографик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49A0D1-9911-49E3-95A5-E713DE770D66}"/>
              </a:ext>
            </a:extLst>
          </p:cNvPr>
          <p:cNvSpPr/>
          <p:nvPr/>
        </p:nvSpPr>
        <p:spPr>
          <a:xfrm>
            <a:off x="1523999" y="3183941"/>
            <a:ext cx="2160972" cy="21609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200" dirty="0">
                <a:solidFill>
                  <a:srgbClr val="F9FBFE"/>
                </a:solidFill>
                <a:latin typeface="+mj-lt"/>
              </a:rPr>
              <a:t>Гол зорилт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rgbClr val="F9FBFE">
                    <a:alpha val="80000"/>
                  </a:srgbClr>
                </a:solidFill>
              </a:rPr>
              <a:t>Жижиг хэсгүүд нийлж бүтнэ.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A325C9D-F631-490B-83FD-340442F9D971}"/>
              </a:ext>
            </a:extLst>
          </p:cNvPr>
          <p:cNvSpPr/>
          <p:nvPr/>
        </p:nvSpPr>
        <p:spPr>
          <a:xfrm>
            <a:off x="3854057" y="3183941"/>
            <a:ext cx="2160972" cy="216097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200" dirty="0">
                <a:solidFill>
                  <a:srgbClr val="F9FBFE"/>
                </a:solidFill>
                <a:latin typeface="+mj-lt"/>
              </a:rPr>
              <a:t>Гол зорилт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rgbClr val="F9FBFE">
                    <a:alpha val="80000"/>
                  </a:srgbClr>
                </a:solidFill>
              </a:rPr>
              <a:t>Зорилгоо тодорхой болгосноор урагшилна.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7F482F-89AC-46E1-895C-3453AC068FDF}"/>
              </a:ext>
            </a:extLst>
          </p:cNvPr>
          <p:cNvSpPr/>
          <p:nvPr/>
        </p:nvSpPr>
        <p:spPr>
          <a:xfrm>
            <a:off x="6184115" y="3183941"/>
            <a:ext cx="2160972" cy="216097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200" dirty="0">
                <a:solidFill>
                  <a:srgbClr val="F9FBFE"/>
                </a:solidFill>
                <a:latin typeface="+mj-lt"/>
              </a:rPr>
              <a:t>Гол зорилт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rgbClr val="F9FBFE">
                    <a:alpha val="80000"/>
                  </a:srgbClr>
                </a:solidFill>
              </a:rPr>
              <a:t>Бид өндөр түвшинд хүрч чадлаа.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9A490E-0678-4473-B212-816F236347D0}"/>
              </a:ext>
            </a:extLst>
          </p:cNvPr>
          <p:cNvSpPr/>
          <p:nvPr/>
        </p:nvSpPr>
        <p:spPr>
          <a:xfrm>
            <a:off x="8514172" y="3183941"/>
            <a:ext cx="2160972" cy="216097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200" dirty="0">
                <a:solidFill>
                  <a:srgbClr val="F9FBFE"/>
                </a:solidFill>
                <a:latin typeface="+mj-lt"/>
              </a:rPr>
              <a:t>Гол зорилт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rgbClr val="F9FBFE">
                    <a:alpha val="80000"/>
                  </a:srgbClr>
                </a:solidFill>
              </a:rPr>
              <a:t>Жижиг хэсгүүд нийлж бүтнэ.</a:t>
            </a:r>
          </a:p>
        </p:txBody>
      </p:sp>
      <p:sp>
        <p:nvSpPr>
          <p:cNvPr id="21" name="Freeform: Shape 15">
            <a:extLst>
              <a:ext uri="{FF2B5EF4-FFF2-40B4-BE49-F238E27FC236}">
                <a16:creationId xmlns:a16="http://schemas.microsoft.com/office/drawing/2014/main" id="{72077C95-715D-4857-A8A2-AF8B5B54B0C3}"/>
              </a:ext>
            </a:extLst>
          </p:cNvPr>
          <p:cNvSpPr>
            <a:spLocks/>
          </p:cNvSpPr>
          <p:nvPr/>
        </p:nvSpPr>
        <p:spPr bwMode="auto">
          <a:xfrm>
            <a:off x="2897072" y="2780417"/>
            <a:ext cx="1801220" cy="478454"/>
          </a:xfrm>
          <a:custGeom>
            <a:avLst/>
            <a:gdLst>
              <a:gd name="connsiteX0" fmla="*/ 2215529 w 4429978"/>
              <a:gd name="connsiteY0" fmla="*/ 0 h 1176726"/>
              <a:gd name="connsiteX1" fmla="*/ 4159341 w 4429978"/>
              <a:gd name="connsiteY1" fmla="*/ 835027 h 1176726"/>
              <a:gd name="connsiteX2" fmla="*/ 4307430 w 4429978"/>
              <a:gd name="connsiteY2" fmla="*/ 1010963 h 1176726"/>
              <a:gd name="connsiteX3" fmla="*/ 4321751 w 4429978"/>
              <a:gd name="connsiteY3" fmla="*/ 1005036 h 1176726"/>
              <a:gd name="connsiteX4" fmla="*/ 4412838 w 4429978"/>
              <a:gd name="connsiteY4" fmla="*/ 1037248 h 1176726"/>
              <a:gd name="connsiteX5" fmla="*/ 4394118 w 4429978"/>
              <a:gd name="connsiteY5" fmla="*/ 1161165 h 1176726"/>
              <a:gd name="connsiteX6" fmla="*/ 4274307 w 4429978"/>
              <a:gd name="connsiteY6" fmla="*/ 1142389 h 1176726"/>
              <a:gd name="connsiteX7" fmla="*/ 4266935 w 4429978"/>
              <a:gd name="connsiteY7" fmla="*/ 1045227 h 1176726"/>
              <a:gd name="connsiteX8" fmla="*/ 4271833 w 4429978"/>
              <a:gd name="connsiteY8" fmla="*/ 1039364 h 1176726"/>
              <a:gd name="connsiteX9" fmla="*/ 4126131 w 4429978"/>
              <a:gd name="connsiteY9" fmla="*/ 866331 h 1176726"/>
              <a:gd name="connsiteX10" fmla="*/ 2215529 w 4429978"/>
              <a:gd name="connsiteY10" fmla="*/ 44917 h 1176726"/>
              <a:gd name="connsiteX11" fmla="*/ 304928 w 4429978"/>
              <a:gd name="connsiteY11" fmla="*/ 866331 h 1176726"/>
              <a:gd name="connsiteX12" fmla="*/ 159225 w 4429978"/>
              <a:gd name="connsiteY12" fmla="*/ 1039365 h 1176726"/>
              <a:gd name="connsiteX13" fmla="*/ 164122 w 4429978"/>
              <a:gd name="connsiteY13" fmla="*/ 1045227 h 1176726"/>
              <a:gd name="connsiteX14" fmla="*/ 156750 w 4429978"/>
              <a:gd name="connsiteY14" fmla="*/ 1142389 h 1176726"/>
              <a:gd name="connsiteX15" fmla="*/ 36939 w 4429978"/>
              <a:gd name="connsiteY15" fmla="*/ 1161165 h 1176726"/>
              <a:gd name="connsiteX16" fmla="*/ 18219 w 4429978"/>
              <a:gd name="connsiteY16" fmla="*/ 1037248 h 1176726"/>
              <a:gd name="connsiteX17" fmla="*/ 109306 w 4429978"/>
              <a:gd name="connsiteY17" fmla="*/ 1005036 h 1176726"/>
              <a:gd name="connsiteX18" fmla="*/ 123628 w 4429978"/>
              <a:gd name="connsiteY18" fmla="*/ 1010963 h 1176726"/>
              <a:gd name="connsiteX19" fmla="*/ 271718 w 4429978"/>
              <a:gd name="connsiteY19" fmla="*/ 835027 h 1176726"/>
              <a:gd name="connsiteX20" fmla="*/ 2215529 w 4429978"/>
              <a:gd name="connsiteY20" fmla="*/ 0 h 1176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29978" h="1176726">
                <a:moveTo>
                  <a:pt x="2215529" y="0"/>
                </a:moveTo>
                <a:cubicBezTo>
                  <a:pt x="2962208" y="0"/>
                  <a:pt x="3654442" y="300911"/>
                  <a:pt x="4159341" y="835027"/>
                </a:cubicBezTo>
                <a:lnTo>
                  <a:pt x="4307430" y="1010963"/>
                </a:lnTo>
                <a:lnTo>
                  <a:pt x="4321751" y="1005036"/>
                </a:lnTo>
                <a:cubicBezTo>
                  <a:pt x="4355273" y="997820"/>
                  <a:pt x="4390373" y="1009085"/>
                  <a:pt x="4412838" y="1037248"/>
                </a:cubicBezTo>
                <a:cubicBezTo>
                  <a:pt x="4442791" y="1074798"/>
                  <a:pt x="4431559" y="1131124"/>
                  <a:pt x="4394118" y="1161165"/>
                </a:cubicBezTo>
                <a:cubicBezTo>
                  <a:pt x="4356677" y="1187450"/>
                  <a:pt x="4300515" y="1179940"/>
                  <a:pt x="4274307" y="1142389"/>
                </a:cubicBezTo>
                <a:cubicBezTo>
                  <a:pt x="4251842" y="1114226"/>
                  <a:pt x="4250438" y="1075502"/>
                  <a:pt x="4266935" y="1045227"/>
                </a:cubicBezTo>
                <a:lnTo>
                  <a:pt x="4271833" y="1039364"/>
                </a:lnTo>
                <a:lnTo>
                  <a:pt x="4126131" y="866331"/>
                </a:lnTo>
                <a:cubicBezTo>
                  <a:pt x="3631108" y="342962"/>
                  <a:pt x="2949109" y="44917"/>
                  <a:pt x="2215529" y="44917"/>
                </a:cubicBezTo>
                <a:cubicBezTo>
                  <a:pt x="1481950" y="44917"/>
                  <a:pt x="799951" y="342962"/>
                  <a:pt x="304928" y="866331"/>
                </a:cubicBezTo>
                <a:lnTo>
                  <a:pt x="159225" y="1039365"/>
                </a:lnTo>
                <a:lnTo>
                  <a:pt x="164122" y="1045227"/>
                </a:lnTo>
                <a:cubicBezTo>
                  <a:pt x="180619" y="1075502"/>
                  <a:pt x="179215" y="1114226"/>
                  <a:pt x="156750" y="1142389"/>
                </a:cubicBezTo>
                <a:cubicBezTo>
                  <a:pt x="130542" y="1179940"/>
                  <a:pt x="74380" y="1187450"/>
                  <a:pt x="36939" y="1161165"/>
                </a:cubicBezTo>
                <a:cubicBezTo>
                  <a:pt x="-4246" y="1131124"/>
                  <a:pt x="-11734" y="1074798"/>
                  <a:pt x="18219" y="1037248"/>
                </a:cubicBezTo>
                <a:cubicBezTo>
                  <a:pt x="40683" y="1009085"/>
                  <a:pt x="75785" y="997820"/>
                  <a:pt x="109306" y="1005036"/>
                </a:cubicBezTo>
                <a:lnTo>
                  <a:pt x="123628" y="1010963"/>
                </a:lnTo>
                <a:lnTo>
                  <a:pt x="271718" y="835027"/>
                </a:lnTo>
                <a:cubicBezTo>
                  <a:pt x="776617" y="300911"/>
                  <a:pt x="1468850" y="0"/>
                  <a:pt x="221552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B354C6B2-D206-441E-AC87-363B2A8BF8F5}"/>
              </a:ext>
            </a:extLst>
          </p:cNvPr>
          <p:cNvSpPr>
            <a:spLocks/>
          </p:cNvSpPr>
          <p:nvPr/>
        </p:nvSpPr>
        <p:spPr bwMode="auto">
          <a:xfrm>
            <a:off x="5195390" y="2788037"/>
            <a:ext cx="1801220" cy="478454"/>
          </a:xfrm>
          <a:custGeom>
            <a:avLst/>
            <a:gdLst>
              <a:gd name="connsiteX0" fmla="*/ 2215529 w 4429978"/>
              <a:gd name="connsiteY0" fmla="*/ 0 h 1176726"/>
              <a:gd name="connsiteX1" fmla="*/ 4159341 w 4429978"/>
              <a:gd name="connsiteY1" fmla="*/ 835027 h 1176726"/>
              <a:gd name="connsiteX2" fmla="*/ 4307430 w 4429978"/>
              <a:gd name="connsiteY2" fmla="*/ 1010963 h 1176726"/>
              <a:gd name="connsiteX3" fmla="*/ 4321751 w 4429978"/>
              <a:gd name="connsiteY3" fmla="*/ 1005036 h 1176726"/>
              <a:gd name="connsiteX4" fmla="*/ 4412838 w 4429978"/>
              <a:gd name="connsiteY4" fmla="*/ 1037248 h 1176726"/>
              <a:gd name="connsiteX5" fmla="*/ 4394118 w 4429978"/>
              <a:gd name="connsiteY5" fmla="*/ 1161165 h 1176726"/>
              <a:gd name="connsiteX6" fmla="*/ 4274307 w 4429978"/>
              <a:gd name="connsiteY6" fmla="*/ 1142389 h 1176726"/>
              <a:gd name="connsiteX7" fmla="*/ 4266935 w 4429978"/>
              <a:gd name="connsiteY7" fmla="*/ 1045227 h 1176726"/>
              <a:gd name="connsiteX8" fmla="*/ 4271833 w 4429978"/>
              <a:gd name="connsiteY8" fmla="*/ 1039364 h 1176726"/>
              <a:gd name="connsiteX9" fmla="*/ 4126131 w 4429978"/>
              <a:gd name="connsiteY9" fmla="*/ 866331 h 1176726"/>
              <a:gd name="connsiteX10" fmla="*/ 2215529 w 4429978"/>
              <a:gd name="connsiteY10" fmla="*/ 44917 h 1176726"/>
              <a:gd name="connsiteX11" fmla="*/ 304928 w 4429978"/>
              <a:gd name="connsiteY11" fmla="*/ 866331 h 1176726"/>
              <a:gd name="connsiteX12" fmla="*/ 159225 w 4429978"/>
              <a:gd name="connsiteY12" fmla="*/ 1039365 h 1176726"/>
              <a:gd name="connsiteX13" fmla="*/ 164122 w 4429978"/>
              <a:gd name="connsiteY13" fmla="*/ 1045227 h 1176726"/>
              <a:gd name="connsiteX14" fmla="*/ 156750 w 4429978"/>
              <a:gd name="connsiteY14" fmla="*/ 1142389 h 1176726"/>
              <a:gd name="connsiteX15" fmla="*/ 36939 w 4429978"/>
              <a:gd name="connsiteY15" fmla="*/ 1161165 h 1176726"/>
              <a:gd name="connsiteX16" fmla="*/ 18219 w 4429978"/>
              <a:gd name="connsiteY16" fmla="*/ 1037248 h 1176726"/>
              <a:gd name="connsiteX17" fmla="*/ 109306 w 4429978"/>
              <a:gd name="connsiteY17" fmla="*/ 1005036 h 1176726"/>
              <a:gd name="connsiteX18" fmla="*/ 123628 w 4429978"/>
              <a:gd name="connsiteY18" fmla="*/ 1010963 h 1176726"/>
              <a:gd name="connsiteX19" fmla="*/ 271718 w 4429978"/>
              <a:gd name="connsiteY19" fmla="*/ 835027 h 1176726"/>
              <a:gd name="connsiteX20" fmla="*/ 2215529 w 4429978"/>
              <a:gd name="connsiteY20" fmla="*/ 0 h 1176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29978" h="1176726">
                <a:moveTo>
                  <a:pt x="2215529" y="0"/>
                </a:moveTo>
                <a:cubicBezTo>
                  <a:pt x="2962208" y="0"/>
                  <a:pt x="3654442" y="300911"/>
                  <a:pt x="4159341" y="835027"/>
                </a:cubicBezTo>
                <a:lnTo>
                  <a:pt x="4307430" y="1010963"/>
                </a:lnTo>
                <a:lnTo>
                  <a:pt x="4321751" y="1005036"/>
                </a:lnTo>
                <a:cubicBezTo>
                  <a:pt x="4355273" y="997820"/>
                  <a:pt x="4390373" y="1009085"/>
                  <a:pt x="4412838" y="1037248"/>
                </a:cubicBezTo>
                <a:cubicBezTo>
                  <a:pt x="4442791" y="1074798"/>
                  <a:pt x="4431559" y="1131124"/>
                  <a:pt x="4394118" y="1161165"/>
                </a:cubicBezTo>
                <a:cubicBezTo>
                  <a:pt x="4356677" y="1187450"/>
                  <a:pt x="4300515" y="1179940"/>
                  <a:pt x="4274307" y="1142389"/>
                </a:cubicBezTo>
                <a:cubicBezTo>
                  <a:pt x="4251842" y="1114226"/>
                  <a:pt x="4250438" y="1075502"/>
                  <a:pt x="4266935" y="1045227"/>
                </a:cubicBezTo>
                <a:lnTo>
                  <a:pt x="4271833" y="1039364"/>
                </a:lnTo>
                <a:lnTo>
                  <a:pt x="4126131" y="866331"/>
                </a:lnTo>
                <a:cubicBezTo>
                  <a:pt x="3631108" y="342962"/>
                  <a:pt x="2949109" y="44917"/>
                  <a:pt x="2215529" y="44917"/>
                </a:cubicBezTo>
                <a:cubicBezTo>
                  <a:pt x="1481950" y="44917"/>
                  <a:pt x="799951" y="342962"/>
                  <a:pt x="304928" y="866331"/>
                </a:cubicBezTo>
                <a:lnTo>
                  <a:pt x="159225" y="1039365"/>
                </a:lnTo>
                <a:lnTo>
                  <a:pt x="164122" y="1045227"/>
                </a:lnTo>
                <a:cubicBezTo>
                  <a:pt x="180619" y="1075502"/>
                  <a:pt x="179215" y="1114226"/>
                  <a:pt x="156750" y="1142389"/>
                </a:cubicBezTo>
                <a:cubicBezTo>
                  <a:pt x="130542" y="1179940"/>
                  <a:pt x="74380" y="1187450"/>
                  <a:pt x="36939" y="1161165"/>
                </a:cubicBezTo>
                <a:cubicBezTo>
                  <a:pt x="-4246" y="1131124"/>
                  <a:pt x="-11734" y="1074798"/>
                  <a:pt x="18219" y="1037248"/>
                </a:cubicBezTo>
                <a:cubicBezTo>
                  <a:pt x="40683" y="1009085"/>
                  <a:pt x="75785" y="997820"/>
                  <a:pt x="109306" y="1005036"/>
                </a:cubicBezTo>
                <a:lnTo>
                  <a:pt x="123628" y="1010963"/>
                </a:lnTo>
                <a:lnTo>
                  <a:pt x="271718" y="835027"/>
                </a:lnTo>
                <a:cubicBezTo>
                  <a:pt x="776617" y="300911"/>
                  <a:pt x="1468850" y="0"/>
                  <a:pt x="2215529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3" name="Freeform: Shape 17">
            <a:extLst>
              <a:ext uri="{FF2B5EF4-FFF2-40B4-BE49-F238E27FC236}">
                <a16:creationId xmlns:a16="http://schemas.microsoft.com/office/drawing/2014/main" id="{532C6226-8760-49E3-94DD-758EDAF7CA5F}"/>
              </a:ext>
            </a:extLst>
          </p:cNvPr>
          <p:cNvSpPr>
            <a:spLocks/>
          </p:cNvSpPr>
          <p:nvPr/>
        </p:nvSpPr>
        <p:spPr bwMode="auto">
          <a:xfrm>
            <a:off x="7486088" y="2788037"/>
            <a:ext cx="1801220" cy="478454"/>
          </a:xfrm>
          <a:custGeom>
            <a:avLst/>
            <a:gdLst>
              <a:gd name="connsiteX0" fmla="*/ 2215529 w 4429978"/>
              <a:gd name="connsiteY0" fmla="*/ 0 h 1176726"/>
              <a:gd name="connsiteX1" fmla="*/ 4159341 w 4429978"/>
              <a:gd name="connsiteY1" fmla="*/ 835027 h 1176726"/>
              <a:gd name="connsiteX2" fmla="*/ 4307430 w 4429978"/>
              <a:gd name="connsiteY2" fmla="*/ 1010963 h 1176726"/>
              <a:gd name="connsiteX3" fmla="*/ 4321751 w 4429978"/>
              <a:gd name="connsiteY3" fmla="*/ 1005036 h 1176726"/>
              <a:gd name="connsiteX4" fmla="*/ 4412838 w 4429978"/>
              <a:gd name="connsiteY4" fmla="*/ 1037248 h 1176726"/>
              <a:gd name="connsiteX5" fmla="*/ 4394118 w 4429978"/>
              <a:gd name="connsiteY5" fmla="*/ 1161165 h 1176726"/>
              <a:gd name="connsiteX6" fmla="*/ 4274307 w 4429978"/>
              <a:gd name="connsiteY6" fmla="*/ 1142389 h 1176726"/>
              <a:gd name="connsiteX7" fmla="*/ 4266935 w 4429978"/>
              <a:gd name="connsiteY7" fmla="*/ 1045227 h 1176726"/>
              <a:gd name="connsiteX8" fmla="*/ 4271833 w 4429978"/>
              <a:gd name="connsiteY8" fmla="*/ 1039364 h 1176726"/>
              <a:gd name="connsiteX9" fmla="*/ 4126131 w 4429978"/>
              <a:gd name="connsiteY9" fmla="*/ 866331 h 1176726"/>
              <a:gd name="connsiteX10" fmla="*/ 2215529 w 4429978"/>
              <a:gd name="connsiteY10" fmla="*/ 44917 h 1176726"/>
              <a:gd name="connsiteX11" fmla="*/ 304928 w 4429978"/>
              <a:gd name="connsiteY11" fmla="*/ 866331 h 1176726"/>
              <a:gd name="connsiteX12" fmla="*/ 159225 w 4429978"/>
              <a:gd name="connsiteY12" fmla="*/ 1039365 h 1176726"/>
              <a:gd name="connsiteX13" fmla="*/ 164122 w 4429978"/>
              <a:gd name="connsiteY13" fmla="*/ 1045227 h 1176726"/>
              <a:gd name="connsiteX14" fmla="*/ 156750 w 4429978"/>
              <a:gd name="connsiteY14" fmla="*/ 1142389 h 1176726"/>
              <a:gd name="connsiteX15" fmla="*/ 36939 w 4429978"/>
              <a:gd name="connsiteY15" fmla="*/ 1161165 h 1176726"/>
              <a:gd name="connsiteX16" fmla="*/ 18219 w 4429978"/>
              <a:gd name="connsiteY16" fmla="*/ 1037248 h 1176726"/>
              <a:gd name="connsiteX17" fmla="*/ 109306 w 4429978"/>
              <a:gd name="connsiteY17" fmla="*/ 1005036 h 1176726"/>
              <a:gd name="connsiteX18" fmla="*/ 123628 w 4429978"/>
              <a:gd name="connsiteY18" fmla="*/ 1010963 h 1176726"/>
              <a:gd name="connsiteX19" fmla="*/ 271718 w 4429978"/>
              <a:gd name="connsiteY19" fmla="*/ 835027 h 1176726"/>
              <a:gd name="connsiteX20" fmla="*/ 2215529 w 4429978"/>
              <a:gd name="connsiteY20" fmla="*/ 0 h 1176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29978" h="1176726">
                <a:moveTo>
                  <a:pt x="2215529" y="0"/>
                </a:moveTo>
                <a:cubicBezTo>
                  <a:pt x="2962208" y="0"/>
                  <a:pt x="3654442" y="300911"/>
                  <a:pt x="4159341" y="835027"/>
                </a:cubicBezTo>
                <a:lnTo>
                  <a:pt x="4307430" y="1010963"/>
                </a:lnTo>
                <a:lnTo>
                  <a:pt x="4321751" y="1005036"/>
                </a:lnTo>
                <a:cubicBezTo>
                  <a:pt x="4355273" y="997820"/>
                  <a:pt x="4390373" y="1009085"/>
                  <a:pt x="4412838" y="1037248"/>
                </a:cubicBezTo>
                <a:cubicBezTo>
                  <a:pt x="4442791" y="1074798"/>
                  <a:pt x="4431559" y="1131124"/>
                  <a:pt x="4394118" y="1161165"/>
                </a:cubicBezTo>
                <a:cubicBezTo>
                  <a:pt x="4356677" y="1187450"/>
                  <a:pt x="4300515" y="1179940"/>
                  <a:pt x="4274307" y="1142389"/>
                </a:cubicBezTo>
                <a:cubicBezTo>
                  <a:pt x="4251842" y="1114226"/>
                  <a:pt x="4250438" y="1075502"/>
                  <a:pt x="4266935" y="1045227"/>
                </a:cubicBezTo>
                <a:lnTo>
                  <a:pt x="4271833" y="1039364"/>
                </a:lnTo>
                <a:lnTo>
                  <a:pt x="4126131" y="866331"/>
                </a:lnTo>
                <a:cubicBezTo>
                  <a:pt x="3631108" y="342962"/>
                  <a:pt x="2949109" y="44917"/>
                  <a:pt x="2215529" y="44917"/>
                </a:cubicBezTo>
                <a:cubicBezTo>
                  <a:pt x="1481950" y="44917"/>
                  <a:pt x="799951" y="342962"/>
                  <a:pt x="304928" y="866331"/>
                </a:cubicBezTo>
                <a:lnTo>
                  <a:pt x="159225" y="1039365"/>
                </a:lnTo>
                <a:lnTo>
                  <a:pt x="164122" y="1045227"/>
                </a:lnTo>
                <a:cubicBezTo>
                  <a:pt x="180619" y="1075502"/>
                  <a:pt x="179215" y="1114226"/>
                  <a:pt x="156750" y="1142389"/>
                </a:cubicBezTo>
                <a:cubicBezTo>
                  <a:pt x="130542" y="1179940"/>
                  <a:pt x="74380" y="1187450"/>
                  <a:pt x="36939" y="1161165"/>
                </a:cubicBezTo>
                <a:cubicBezTo>
                  <a:pt x="-4246" y="1131124"/>
                  <a:pt x="-11734" y="1074798"/>
                  <a:pt x="18219" y="1037248"/>
                </a:cubicBezTo>
                <a:cubicBezTo>
                  <a:pt x="40683" y="1009085"/>
                  <a:pt x="75785" y="997820"/>
                  <a:pt x="109306" y="1005036"/>
                </a:cubicBezTo>
                <a:lnTo>
                  <a:pt x="123628" y="1010963"/>
                </a:lnTo>
                <a:lnTo>
                  <a:pt x="271718" y="835027"/>
                </a:lnTo>
                <a:cubicBezTo>
                  <a:pt x="776617" y="300911"/>
                  <a:pt x="1468850" y="0"/>
                  <a:pt x="2215529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3B01CE-5913-4517-B717-B537E18BF05C}"/>
              </a:ext>
            </a:extLst>
          </p:cNvPr>
          <p:cNvGrpSpPr/>
          <p:nvPr/>
        </p:nvGrpSpPr>
        <p:grpSpPr>
          <a:xfrm>
            <a:off x="1523999" y="765175"/>
            <a:ext cx="826133" cy="294190"/>
            <a:chOff x="1523999" y="765175"/>
            <a:chExt cx="826133" cy="29419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E2FD00-AE25-497B-8F60-F8B571595EA1}"/>
                </a:ext>
              </a:extLst>
            </p:cNvPr>
            <p:cNvSpPr/>
            <p:nvPr/>
          </p:nvSpPr>
          <p:spPr>
            <a:xfrm>
              <a:off x="1523999" y="765175"/>
              <a:ext cx="826133" cy="2220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900" b="0" dirty="0">
                  <a:solidFill>
                    <a:srgbClr val="FFFFFF"/>
                  </a:solidFill>
                  <a:latin typeface="Open Sans" panose="020B0706030804020204" pitchFamily="34" charset="0"/>
                  <a:ea typeface="Open Sans" panose="020B0706030804020204" pitchFamily="34" charset="0"/>
                  <a:cs typeface="Open Sans" panose="020B0706030804020204" pitchFamily="34" charset="0"/>
                </a:rPr>
                <a:t>Инфографик</a:t>
              </a:r>
            </a:p>
          </p:txBody>
        </p:sp>
        <p:sp>
          <p:nvSpPr>
            <p:cNvPr id="25" name="Right Triangle 24">
              <a:extLst>
                <a:ext uri="{FF2B5EF4-FFF2-40B4-BE49-F238E27FC236}">
                  <a16:creationId xmlns:a16="http://schemas.microsoft.com/office/drawing/2014/main" id="{E8265A00-917F-4BD6-ADFC-D0AB0DCDA554}"/>
                </a:ext>
              </a:extLst>
            </p:cNvPr>
            <p:cNvSpPr/>
            <p:nvPr/>
          </p:nvSpPr>
          <p:spPr>
            <a:xfrm flipV="1">
              <a:off x="1524000" y="987188"/>
              <a:ext cx="72580" cy="7217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188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60000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125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125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60000">
                                      <p:stCondLst>
                                        <p:cond delay="2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12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12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60000">
                                      <p:stCondLst>
                                        <p:cond delay="3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1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1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60000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1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1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2" presetClass="entr" presetSubtype="8" fill="hold" grpId="0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22" presetClass="entr" presetSubtype="8" fill="hold" grpId="0" nodeType="withEffect">
                                      <p:stCondLst>
                                        <p:cond delay="36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6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2" presetClass="entr" presetSubtype="8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1" decel="10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2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2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2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3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2" presetClass="entr" presetSubtype="8" fill="hold" grpId="0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22" presetClass="entr" presetSubtype="8" fill="hold" grpId="0" nodeType="withEffect">
                                      <p:stCondLst>
                                        <p:cond delay="36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6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2" presetClass="entr" presetSubtype="8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1" decel="10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10E2F9FC-B21D-458C-9AC3-E54B56AC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Шилдэг криптовалют</a:t>
            </a:r>
            <a:br>
              <a:rPr lang="mn-MN" dirty="0">
                <a:solidFill>
                  <a:schemeClr val="accent1"/>
                </a:solidFill>
              </a:rPr>
            </a:br>
            <a:r>
              <a:rPr lang="mn-MN" dirty="0">
                <a:solidFill>
                  <a:schemeClr val="accent1"/>
                </a:solidFill>
              </a:rPr>
              <a:t>Тайлан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0A796-CD6C-476B-924D-0C1861738F90}"/>
              </a:ext>
            </a:extLst>
          </p:cNvPr>
          <p:cNvSpPr/>
          <p:nvPr/>
        </p:nvSpPr>
        <p:spPr>
          <a:xfrm>
            <a:off x="4574380" y="2868705"/>
            <a:ext cx="3044431" cy="2868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1440" bIns="0" rtlCol="0" anchor="ctr"/>
          <a:lstStyle/>
          <a:p>
            <a:pPr algn="r"/>
            <a:r>
              <a:rPr lang="en-US" sz="1000" dirty="0">
                <a:solidFill>
                  <a:srgbClr val="FFFFFF"/>
                </a:solidFill>
                <a:latin typeface="+mj-lt"/>
              </a:rPr>
              <a:t>50%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32C0A3-D012-4448-A5CF-38565D1438F0}"/>
              </a:ext>
            </a:extLst>
          </p:cNvPr>
          <p:cNvSpPr/>
          <p:nvPr/>
        </p:nvSpPr>
        <p:spPr>
          <a:xfrm>
            <a:off x="4576000" y="3326849"/>
            <a:ext cx="5120450" cy="2868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1440" bIns="0" rtlCol="0" anchor="ctr"/>
          <a:lstStyle/>
          <a:p>
            <a:pPr algn="r"/>
            <a:r>
              <a:rPr lang="en-US" sz="1000" dirty="0">
                <a:latin typeface="+mj-lt"/>
              </a:rPr>
              <a:t>80%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B65073-1132-4C30-9BBE-FE70AD42FF2E}"/>
              </a:ext>
            </a:extLst>
          </p:cNvPr>
          <p:cNvSpPr/>
          <p:nvPr/>
        </p:nvSpPr>
        <p:spPr>
          <a:xfrm>
            <a:off x="4576733" y="3784993"/>
            <a:ext cx="6110317" cy="28687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1440" bIns="0" rtlCol="0" anchor="ctr"/>
          <a:lstStyle/>
          <a:p>
            <a:pPr algn="r"/>
            <a:r>
              <a:rPr lang="en-US" sz="1000" dirty="0">
                <a:latin typeface="+mj-lt"/>
              </a:rPr>
              <a:t>100%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4D72DB-90A4-4EB1-91A4-EA2E6251649E}"/>
              </a:ext>
            </a:extLst>
          </p:cNvPr>
          <p:cNvSpPr/>
          <p:nvPr/>
        </p:nvSpPr>
        <p:spPr>
          <a:xfrm>
            <a:off x="4575819" y="4243137"/>
            <a:ext cx="4570166" cy="2868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1440" bIns="0" rtlCol="0" anchor="ctr"/>
          <a:lstStyle/>
          <a:p>
            <a:pPr algn="r"/>
            <a:r>
              <a:rPr lang="en-US" sz="1000" dirty="0">
                <a:latin typeface="+mj-lt"/>
              </a:rPr>
              <a:t>75%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8D8C06-D4A5-4D10-9A62-80EAAAF7F82D}"/>
              </a:ext>
            </a:extLst>
          </p:cNvPr>
          <p:cNvSpPr/>
          <p:nvPr/>
        </p:nvSpPr>
        <p:spPr>
          <a:xfrm>
            <a:off x="4574783" y="4701281"/>
            <a:ext cx="3892941" cy="2868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1440" bIns="0" rtlCol="0" anchor="ctr"/>
          <a:lstStyle/>
          <a:p>
            <a:pPr algn="r"/>
            <a:r>
              <a:rPr lang="en-US" sz="1000" dirty="0">
                <a:latin typeface="+mj-lt"/>
              </a:rPr>
              <a:t>65%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F5484C-7F17-4730-961D-E5B9BC9E32E8}"/>
              </a:ext>
            </a:extLst>
          </p:cNvPr>
          <p:cNvSpPr/>
          <p:nvPr/>
        </p:nvSpPr>
        <p:spPr>
          <a:xfrm>
            <a:off x="4576382" y="5159427"/>
            <a:ext cx="5434393" cy="28687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1440" bIns="0" rtlCol="0" anchor="ctr"/>
          <a:lstStyle/>
          <a:p>
            <a:pPr algn="r"/>
            <a:r>
              <a:rPr lang="en-US" sz="1000" dirty="0">
                <a:latin typeface="+mj-lt"/>
              </a:rPr>
              <a:t>85%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8C2E2F-EA7E-4158-9134-BF016034958C}"/>
              </a:ext>
            </a:extLst>
          </p:cNvPr>
          <p:cNvGrpSpPr/>
          <p:nvPr/>
        </p:nvGrpSpPr>
        <p:grpSpPr>
          <a:xfrm>
            <a:off x="3046015" y="3833933"/>
            <a:ext cx="1352227" cy="225964"/>
            <a:chOff x="3046015" y="3740157"/>
            <a:chExt cx="1352227" cy="22596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EBC9C28-5406-4F35-98BC-051BEDCBD6FA}"/>
                </a:ext>
              </a:extLst>
            </p:cNvPr>
            <p:cNvSpPr txBox="1"/>
            <p:nvPr/>
          </p:nvSpPr>
          <p:spPr>
            <a:xfrm>
              <a:off x="3367557" y="3743082"/>
              <a:ext cx="1030685" cy="202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en-US" sz="1200" dirty="0">
                  <a:latin typeface="+mj-lt"/>
                </a:rPr>
                <a:t>Ethereum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1C2E586-63AA-4417-936B-DBFE3475A174}"/>
                </a:ext>
              </a:extLst>
            </p:cNvPr>
            <p:cNvGrpSpPr/>
            <p:nvPr/>
          </p:nvGrpSpPr>
          <p:grpSpPr>
            <a:xfrm>
              <a:off x="3046015" y="3740157"/>
              <a:ext cx="146098" cy="225964"/>
              <a:chOff x="2849563" y="2998788"/>
              <a:chExt cx="357187" cy="552450"/>
            </a:xfrm>
            <a:solidFill>
              <a:schemeClr val="accent3"/>
            </a:solidFill>
          </p:grpSpPr>
          <p:sp>
            <p:nvSpPr>
              <p:cNvPr id="28" name="Freeform 5">
                <a:extLst>
                  <a:ext uri="{FF2B5EF4-FFF2-40B4-BE49-F238E27FC236}">
                    <a16:creationId xmlns:a16="http://schemas.microsoft.com/office/drawing/2014/main" id="{7C5788A4-CB85-43FF-BC88-357E44F94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300" y="3313113"/>
                <a:ext cx="171450" cy="238125"/>
              </a:xfrm>
              <a:custGeom>
                <a:avLst/>
                <a:gdLst>
                  <a:gd name="T0" fmla="*/ 0 w 108"/>
                  <a:gd name="T1" fmla="*/ 66 h 150"/>
                  <a:gd name="T2" fmla="*/ 0 w 108"/>
                  <a:gd name="T3" fmla="*/ 150 h 150"/>
                  <a:gd name="T4" fmla="*/ 108 w 108"/>
                  <a:gd name="T5" fmla="*/ 0 h 150"/>
                  <a:gd name="T6" fmla="*/ 0 w 108"/>
                  <a:gd name="T7" fmla="*/ 66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" h="150">
                    <a:moveTo>
                      <a:pt x="0" y="66"/>
                    </a:moveTo>
                    <a:lnTo>
                      <a:pt x="0" y="150"/>
                    </a:lnTo>
                    <a:lnTo>
                      <a:pt x="108" y="0"/>
                    </a:lnTo>
                    <a:lnTo>
                      <a:pt x="0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Freeform 6">
                <a:extLst>
                  <a:ext uri="{FF2B5EF4-FFF2-40B4-BE49-F238E27FC236}">
                    <a16:creationId xmlns:a16="http://schemas.microsoft.com/office/drawing/2014/main" id="{90D6AD9A-AF7E-4710-933F-26231327B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300" y="2998788"/>
                <a:ext cx="165100" cy="273050"/>
              </a:xfrm>
              <a:custGeom>
                <a:avLst/>
                <a:gdLst>
                  <a:gd name="T0" fmla="*/ 104 w 104"/>
                  <a:gd name="T1" fmla="*/ 172 h 172"/>
                  <a:gd name="T2" fmla="*/ 0 w 104"/>
                  <a:gd name="T3" fmla="*/ 0 h 172"/>
                  <a:gd name="T4" fmla="*/ 0 w 104"/>
                  <a:gd name="T5" fmla="*/ 126 h 172"/>
                  <a:gd name="T6" fmla="*/ 104 w 104"/>
                  <a:gd name="T7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4" h="172">
                    <a:moveTo>
                      <a:pt x="104" y="172"/>
                    </a:moveTo>
                    <a:lnTo>
                      <a:pt x="0" y="0"/>
                    </a:lnTo>
                    <a:lnTo>
                      <a:pt x="0" y="126"/>
                    </a:lnTo>
                    <a:lnTo>
                      <a:pt x="104" y="1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Freeform 7">
                <a:extLst>
                  <a:ext uri="{FF2B5EF4-FFF2-40B4-BE49-F238E27FC236}">
                    <a16:creationId xmlns:a16="http://schemas.microsoft.com/office/drawing/2014/main" id="{459B3EAC-0FC7-4D8B-8C89-4DCE46EED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300" y="3214688"/>
                <a:ext cx="165100" cy="165100"/>
              </a:xfrm>
              <a:custGeom>
                <a:avLst/>
                <a:gdLst>
                  <a:gd name="T0" fmla="*/ 0 w 104"/>
                  <a:gd name="T1" fmla="*/ 0 h 104"/>
                  <a:gd name="T2" fmla="*/ 0 w 104"/>
                  <a:gd name="T3" fmla="*/ 104 h 104"/>
                  <a:gd name="T4" fmla="*/ 104 w 104"/>
                  <a:gd name="T5" fmla="*/ 46 h 104"/>
                  <a:gd name="T6" fmla="*/ 0 w 104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4" h="104">
                    <a:moveTo>
                      <a:pt x="0" y="0"/>
                    </a:moveTo>
                    <a:lnTo>
                      <a:pt x="0" y="104"/>
                    </a:lnTo>
                    <a:lnTo>
                      <a:pt x="104" y="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8">
                <a:extLst>
                  <a:ext uri="{FF2B5EF4-FFF2-40B4-BE49-F238E27FC236}">
                    <a16:creationId xmlns:a16="http://schemas.microsoft.com/office/drawing/2014/main" id="{25876BAA-07D2-477C-8401-70FA1E8AA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738" y="2998788"/>
                <a:ext cx="168275" cy="273050"/>
              </a:xfrm>
              <a:custGeom>
                <a:avLst/>
                <a:gdLst>
                  <a:gd name="T0" fmla="*/ 0 w 106"/>
                  <a:gd name="T1" fmla="*/ 172 h 172"/>
                  <a:gd name="T2" fmla="*/ 106 w 106"/>
                  <a:gd name="T3" fmla="*/ 0 h 172"/>
                  <a:gd name="T4" fmla="*/ 106 w 106"/>
                  <a:gd name="T5" fmla="*/ 126 h 172"/>
                  <a:gd name="T6" fmla="*/ 0 w 106"/>
                  <a:gd name="T7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" h="172">
                    <a:moveTo>
                      <a:pt x="0" y="172"/>
                    </a:moveTo>
                    <a:lnTo>
                      <a:pt x="106" y="0"/>
                    </a:lnTo>
                    <a:lnTo>
                      <a:pt x="106" y="126"/>
                    </a:lnTo>
                    <a:lnTo>
                      <a:pt x="0" y="1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9">
                <a:extLst>
                  <a:ext uri="{FF2B5EF4-FFF2-40B4-BE49-F238E27FC236}">
                    <a16:creationId xmlns:a16="http://schemas.microsoft.com/office/drawing/2014/main" id="{F9DE02DB-642B-414C-8BCE-D5E8902B8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500" y="3214688"/>
                <a:ext cx="163512" cy="165100"/>
              </a:xfrm>
              <a:custGeom>
                <a:avLst/>
                <a:gdLst>
                  <a:gd name="T0" fmla="*/ 103 w 103"/>
                  <a:gd name="T1" fmla="*/ 0 h 104"/>
                  <a:gd name="T2" fmla="*/ 103 w 103"/>
                  <a:gd name="T3" fmla="*/ 104 h 104"/>
                  <a:gd name="T4" fmla="*/ 0 w 103"/>
                  <a:gd name="T5" fmla="*/ 46 h 104"/>
                  <a:gd name="T6" fmla="*/ 103 w 103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104">
                    <a:moveTo>
                      <a:pt x="103" y="0"/>
                    </a:moveTo>
                    <a:lnTo>
                      <a:pt x="103" y="104"/>
                    </a:lnTo>
                    <a:lnTo>
                      <a:pt x="0" y="46"/>
                    </a:lnTo>
                    <a:lnTo>
                      <a:pt x="10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10">
                <a:extLst>
                  <a:ext uri="{FF2B5EF4-FFF2-40B4-BE49-F238E27FC236}">
                    <a16:creationId xmlns:a16="http://schemas.microsoft.com/office/drawing/2014/main" id="{4E9EFDB7-6700-45CA-A3C0-152E9A2A5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9563" y="3313113"/>
                <a:ext cx="171450" cy="238125"/>
              </a:xfrm>
              <a:custGeom>
                <a:avLst/>
                <a:gdLst>
                  <a:gd name="T0" fmla="*/ 108 w 108"/>
                  <a:gd name="T1" fmla="*/ 66 h 150"/>
                  <a:gd name="T2" fmla="*/ 108 w 108"/>
                  <a:gd name="T3" fmla="*/ 150 h 150"/>
                  <a:gd name="T4" fmla="*/ 0 w 108"/>
                  <a:gd name="T5" fmla="*/ 0 h 150"/>
                  <a:gd name="T6" fmla="*/ 108 w 108"/>
                  <a:gd name="T7" fmla="*/ 66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" h="150">
                    <a:moveTo>
                      <a:pt x="108" y="66"/>
                    </a:moveTo>
                    <a:lnTo>
                      <a:pt x="108" y="150"/>
                    </a:lnTo>
                    <a:lnTo>
                      <a:pt x="0" y="0"/>
                    </a:lnTo>
                    <a:lnTo>
                      <a:pt x="108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09D1661-631E-4DA5-ACD7-3F110475B577}"/>
              </a:ext>
            </a:extLst>
          </p:cNvPr>
          <p:cNvGrpSpPr/>
          <p:nvPr/>
        </p:nvGrpSpPr>
        <p:grpSpPr>
          <a:xfrm>
            <a:off x="3046015" y="4752869"/>
            <a:ext cx="1352227" cy="202428"/>
            <a:chOff x="3046015" y="4575238"/>
            <a:chExt cx="1352227" cy="20242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1C83E7E-E65D-473C-BAFB-11BD67E31461}"/>
                </a:ext>
              </a:extLst>
            </p:cNvPr>
            <p:cNvSpPr txBox="1"/>
            <p:nvPr/>
          </p:nvSpPr>
          <p:spPr>
            <a:xfrm>
              <a:off x="3367557" y="4575238"/>
              <a:ext cx="1030685" cy="202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en-US" sz="1200" dirty="0">
                  <a:latin typeface="+mj-lt"/>
                </a:rPr>
                <a:t>Tether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7850C65-3EEA-4F15-9E40-EDD6CF42D179}"/>
                </a:ext>
              </a:extLst>
            </p:cNvPr>
            <p:cNvGrpSpPr/>
            <p:nvPr/>
          </p:nvGrpSpPr>
          <p:grpSpPr>
            <a:xfrm>
              <a:off x="3046015" y="4597001"/>
              <a:ext cx="181244" cy="167220"/>
              <a:chOff x="5830888" y="3182938"/>
              <a:chExt cx="533400" cy="492126"/>
            </a:xfrm>
            <a:solidFill>
              <a:schemeClr val="accent5"/>
            </a:solidFill>
          </p:grpSpPr>
          <p:sp>
            <p:nvSpPr>
              <p:cNvPr id="51" name="Freeform 14">
                <a:extLst>
                  <a:ext uri="{FF2B5EF4-FFF2-40B4-BE49-F238E27FC236}">
                    <a16:creationId xmlns:a16="http://schemas.microsoft.com/office/drawing/2014/main" id="{2130100D-9374-48A6-8D77-C83CDDAD0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0888" y="3182938"/>
                <a:ext cx="533400" cy="249238"/>
              </a:xfrm>
              <a:custGeom>
                <a:avLst/>
                <a:gdLst>
                  <a:gd name="T0" fmla="*/ 3 w 139"/>
                  <a:gd name="T1" fmla="*/ 55 h 65"/>
                  <a:gd name="T2" fmla="*/ 7 w 139"/>
                  <a:gd name="T3" fmla="*/ 53 h 65"/>
                  <a:gd name="T4" fmla="*/ 15 w 139"/>
                  <a:gd name="T5" fmla="*/ 51 h 65"/>
                  <a:gd name="T6" fmla="*/ 33 w 139"/>
                  <a:gd name="T7" fmla="*/ 48 h 65"/>
                  <a:gd name="T8" fmla="*/ 57 w 139"/>
                  <a:gd name="T9" fmla="*/ 47 h 65"/>
                  <a:gd name="T10" fmla="*/ 57 w 139"/>
                  <a:gd name="T11" fmla="*/ 65 h 65"/>
                  <a:gd name="T12" fmla="*/ 69 w 139"/>
                  <a:gd name="T13" fmla="*/ 65 h 65"/>
                  <a:gd name="T14" fmla="*/ 70 w 139"/>
                  <a:gd name="T15" fmla="*/ 65 h 65"/>
                  <a:gd name="T16" fmla="*/ 84 w 139"/>
                  <a:gd name="T17" fmla="*/ 65 h 65"/>
                  <a:gd name="T18" fmla="*/ 84 w 139"/>
                  <a:gd name="T19" fmla="*/ 47 h 65"/>
                  <a:gd name="T20" fmla="*/ 105 w 139"/>
                  <a:gd name="T21" fmla="*/ 48 h 65"/>
                  <a:gd name="T22" fmla="*/ 123 w 139"/>
                  <a:gd name="T23" fmla="*/ 51 h 65"/>
                  <a:gd name="T24" fmla="*/ 132 w 139"/>
                  <a:gd name="T25" fmla="*/ 53 h 65"/>
                  <a:gd name="T26" fmla="*/ 136 w 139"/>
                  <a:gd name="T27" fmla="*/ 55 h 65"/>
                  <a:gd name="T28" fmla="*/ 139 w 139"/>
                  <a:gd name="T29" fmla="*/ 59 h 65"/>
                  <a:gd name="T30" fmla="*/ 136 w 139"/>
                  <a:gd name="T31" fmla="*/ 55 h 65"/>
                  <a:gd name="T32" fmla="*/ 132 w 139"/>
                  <a:gd name="T33" fmla="*/ 53 h 65"/>
                  <a:gd name="T34" fmla="*/ 124 w 139"/>
                  <a:gd name="T35" fmla="*/ 50 h 65"/>
                  <a:gd name="T36" fmla="*/ 106 w 139"/>
                  <a:gd name="T37" fmla="*/ 47 h 65"/>
                  <a:gd name="T38" fmla="*/ 84 w 139"/>
                  <a:gd name="T39" fmla="*/ 45 h 65"/>
                  <a:gd name="T40" fmla="*/ 84 w 139"/>
                  <a:gd name="T41" fmla="*/ 27 h 65"/>
                  <a:gd name="T42" fmla="*/ 123 w 139"/>
                  <a:gd name="T43" fmla="*/ 27 h 65"/>
                  <a:gd name="T44" fmla="*/ 123 w 139"/>
                  <a:gd name="T45" fmla="*/ 0 h 65"/>
                  <a:gd name="T46" fmla="*/ 18 w 139"/>
                  <a:gd name="T47" fmla="*/ 0 h 65"/>
                  <a:gd name="T48" fmla="*/ 18 w 139"/>
                  <a:gd name="T49" fmla="*/ 27 h 65"/>
                  <a:gd name="T50" fmla="*/ 57 w 139"/>
                  <a:gd name="T51" fmla="*/ 27 h 65"/>
                  <a:gd name="T52" fmla="*/ 57 w 139"/>
                  <a:gd name="T53" fmla="*/ 45 h 65"/>
                  <a:gd name="T54" fmla="*/ 33 w 139"/>
                  <a:gd name="T55" fmla="*/ 47 h 65"/>
                  <a:gd name="T56" fmla="*/ 15 w 139"/>
                  <a:gd name="T57" fmla="*/ 50 h 65"/>
                  <a:gd name="T58" fmla="*/ 6 w 139"/>
                  <a:gd name="T59" fmla="*/ 53 h 65"/>
                  <a:gd name="T60" fmla="*/ 2 w 139"/>
                  <a:gd name="T61" fmla="*/ 55 h 65"/>
                  <a:gd name="T62" fmla="*/ 0 w 139"/>
                  <a:gd name="T63" fmla="*/ 59 h 65"/>
                  <a:gd name="T64" fmla="*/ 3 w 139"/>
                  <a:gd name="T65" fmla="*/ 5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65">
                    <a:moveTo>
                      <a:pt x="3" y="55"/>
                    </a:moveTo>
                    <a:cubicBezTo>
                      <a:pt x="4" y="55"/>
                      <a:pt x="5" y="54"/>
                      <a:pt x="7" y="53"/>
                    </a:cubicBezTo>
                    <a:cubicBezTo>
                      <a:pt x="9" y="52"/>
                      <a:pt x="12" y="52"/>
                      <a:pt x="15" y="51"/>
                    </a:cubicBezTo>
                    <a:cubicBezTo>
                      <a:pt x="21" y="50"/>
                      <a:pt x="27" y="49"/>
                      <a:pt x="33" y="48"/>
                    </a:cubicBezTo>
                    <a:cubicBezTo>
                      <a:pt x="41" y="48"/>
                      <a:pt x="49" y="47"/>
                      <a:pt x="57" y="47"/>
                    </a:cubicBezTo>
                    <a:cubicBezTo>
                      <a:pt x="57" y="65"/>
                      <a:pt x="57" y="65"/>
                      <a:pt x="57" y="65"/>
                    </a:cubicBezTo>
                    <a:cubicBezTo>
                      <a:pt x="61" y="65"/>
                      <a:pt x="65" y="65"/>
                      <a:pt x="69" y="65"/>
                    </a:cubicBezTo>
                    <a:cubicBezTo>
                      <a:pt x="70" y="65"/>
                      <a:pt x="70" y="65"/>
                      <a:pt x="70" y="65"/>
                    </a:cubicBezTo>
                    <a:cubicBezTo>
                      <a:pt x="75" y="65"/>
                      <a:pt x="79" y="65"/>
                      <a:pt x="84" y="65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91" y="47"/>
                      <a:pt x="98" y="48"/>
                      <a:pt x="105" y="48"/>
                    </a:cubicBezTo>
                    <a:cubicBezTo>
                      <a:pt x="111" y="49"/>
                      <a:pt x="117" y="50"/>
                      <a:pt x="123" y="51"/>
                    </a:cubicBezTo>
                    <a:cubicBezTo>
                      <a:pt x="126" y="52"/>
                      <a:pt x="129" y="52"/>
                      <a:pt x="132" y="53"/>
                    </a:cubicBezTo>
                    <a:cubicBezTo>
                      <a:pt x="133" y="54"/>
                      <a:pt x="135" y="55"/>
                      <a:pt x="136" y="55"/>
                    </a:cubicBezTo>
                    <a:cubicBezTo>
                      <a:pt x="137" y="56"/>
                      <a:pt x="139" y="57"/>
                      <a:pt x="139" y="59"/>
                    </a:cubicBezTo>
                    <a:cubicBezTo>
                      <a:pt x="139" y="57"/>
                      <a:pt x="137" y="56"/>
                      <a:pt x="136" y="55"/>
                    </a:cubicBezTo>
                    <a:cubicBezTo>
                      <a:pt x="135" y="54"/>
                      <a:pt x="134" y="54"/>
                      <a:pt x="132" y="53"/>
                    </a:cubicBezTo>
                    <a:cubicBezTo>
                      <a:pt x="129" y="52"/>
                      <a:pt x="126" y="51"/>
                      <a:pt x="124" y="50"/>
                    </a:cubicBezTo>
                    <a:cubicBezTo>
                      <a:pt x="118" y="48"/>
                      <a:pt x="112" y="47"/>
                      <a:pt x="106" y="47"/>
                    </a:cubicBezTo>
                    <a:cubicBezTo>
                      <a:pt x="98" y="46"/>
                      <a:pt x="91" y="45"/>
                      <a:pt x="84" y="45"/>
                    </a:cubicBezTo>
                    <a:cubicBezTo>
                      <a:pt x="84" y="27"/>
                      <a:pt x="84" y="27"/>
                      <a:pt x="84" y="27"/>
                    </a:cubicBezTo>
                    <a:cubicBezTo>
                      <a:pt x="123" y="27"/>
                      <a:pt x="123" y="27"/>
                      <a:pt x="123" y="27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57" y="27"/>
                      <a:pt x="57" y="27"/>
                      <a:pt x="57" y="27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49" y="45"/>
                      <a:pt x="41" y="46"/>
                      <a:pt x="33" y="47"/>
                    </a:cubicBezTo>
                    <a:cubicBezTo>
                      <a:pt x="27" y="47"/>
                      <a:pt x="21" y="48"/>
                      <a:pt x="15" y="50"/>
                    </a:cubicBezTo>
                    <a:cubicBezTo>
                      <a:pt x="12" y="51"/>
                      <a:pt x="9" y="52"/>
                      <a:pt x="6" y="53"/>
                    </a:cubicBezTo>
                    <a:cubicBezTo>
                      <a:pt x="5" y="54"/>
                      <a:pt x="4" y="54"/>
                      <a:pt x="2" y="55"/>
                    </a:cubicBezTo>
                    <a:cubicBezTo>
                      <a:pt x="1" y="56"/>
                      <a:pt x="0" y="57"/>
                      <a:pt x="0" y="59"/>
                    </a:cubicBezTo>
                    <a:cubicBezTo>
                      <a:pt x="0" y="57"/>
                      <a:pt x="1" y="56"/>
                      <a:pt x="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15">
                <a:extLst>
                  <a:ext uri="{FF2B5EF4-FFF2-40B4-BE49-F238E27FC236}">
                    <a16:creationId xmlns:a16="http://schemas.microsoft.com/office/drawing/2014/main" id="{4C6F49F7-0F18-4172-9925-82B588AA61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0888" y="3409951"/>
                <a:ext cx="533400" cy="265113"/>
              </a:xfrm>
              <a:custGeom>
                <a:avLst/>
                <a:gdLst>
                  <a:gd name="T0" fmla="*/ 136 w 139"/>
                  <a:gd name="T1" fmla="*/ 3 h 69"/>
                  <a:gd name="T2" fmla="*/ 132 w 139"/>
                  <a:gd name="T3" fmla="*/ 5 h 69"/>
                  <a:gd name="T4" fmla="*/ 123 w 139"/>
                  <a:gd name="T5" fmla="*/ 7 h 69"/>
                  <a:gd name="T6" fmla="*/ 105 w 139"/>
                  <a:gd name="T7" fmla="*/ 9 h 69"/>
                  <a:gd name="T8" fmla="*/ 69 w 139"/>
                  <a:gd name="T9" fmla="*/ 11 h 69"/>
                  <a:gd name="T10" fmla="*/ 33 w 139"/>
                  <a:gd name="T11" fmla="*/ 9 h 69"/>
                  <a:gd name="T12" fmla="*/ 15 w 139"/>
                  <a:gd name="T13" fmla="*/ 7 h 69"/>
                  <a:gd name="T14" fmla="*/ 7 w 139"/>
                  <a:gd name="T15" fmla="*/ 5 h 69"/>
                  <a:gd name="T16" fmla="*/ 3 w 139"/>
                  <a:gd name="T17" fmla="*/ 3 h 69"/>
                  <a:gd name="T18" fmla="*/ 0 w 139"/>
                  <a:gd name="T19" fmla="*/ 0 h 69"/>
                  <a:gd name="T20" fmla="*/ 2 w 139"/>
                  <a:gd name="T21" fmla="*/ 4 h 69"/>
                  <a:gd name="T22" fmla="*/ 6 w 139"/>
                  <a:gd name="T23" fmla="*/ 6 h 69"/>
                  <a:gd name="T24" fmla="*/ 15 w 139"/>
                  <a:gd name="T25" fmla="*/ 9 h 69"/>
                  <a:gd name="T26" fmla="*/ 33 w 139"/>
                  <a:gd name="T27" fmla="*/ 13 h 69"/>
                  <a:gd name="T28" fmla="*/ 57 w 139"/>
                  <a:gd name="T29" fmla="*/ 15 h 69"/>
                  <a:gd name="T30" fmla="*/ 57 w 139"/>
                  <a:gd name="T31" fmla="*/ 69 h 69"/>
                  <a:gd name="T32" fmla="*/ 84 w 139"/>
                  <a:gd name="T33" fmla="*/ 69 h 69"/>
                  <a:gd name="T34" fmla="*/ 84 w 139"/>
                  <a:gd name="T35" fmla="*/ 15 h 69"/>
                  <a:gd name="T36" fmla="*/ 106 w 139"/>
                  <a:gd name="T37" fmla="*/ 13 h 69"/>
                  <a:gd name="T38" fmla="*/ 124 w 139"/>
                  <a:gd name="T39" fmla="*/ 9 h 69"/>
                  <a:gd name="T40" fmla="*/ 132 w 139"/>
                  <a:gd name="T41" fmla="*/ 6 h 69"/>
                  <a:gd name="T42" fmla="*/ 136 w 139"/>
                  <a:gd name="T43" fmla="*/ 4 h 69"/>
                  <a:gd name="T44" fmla="*/ 139 w 139"/>
                  <a:gd name="T45" fmla="*/ 0 h 69"/>
                  <a:gd name="T46" fmla="*/ 136 w 139"/>
                  <a:gd name="T47" fmla="*/ 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39" h="69">
                    <a:moveTo>
                      <a:pt x="136" y="3"/>
                    </a:moveTo>
                    <a:cubicBezTo>
                      <a:pt x="135" y="4"/>
                      <a:pt x="133" y="4"/>
                      <a:pt x="132" y="5"/>
                    </a:cubicBezTo>
                    <a:cubicBezTo>
                      <a:pt x="129" y="6"/>
                      <a:pt x="126" y="7"/>
                      <a:pt x="123" y="7"/>
                    </a:cubicBezTo>
                    <a:cubicBezTo>
                      <a:pt x="117" y="8"/>
                      <a:pt x="111" y="9"/>
                      <a:pt x="105" y="9"/>
                    </a:cubicBezTo>
                    <a:cubicBezTo>
                      <a:pt x="93" y="10"/>
                      <a:pt x="81" y="11"/>
                      <a:pt x="69" y="11"/>
                    </a:cubicBezTo>
                    <a:cubicBezTo>
                      <a:pt x="57" y="11"/>
                      <a:pt x="45" y="10"/>
                      <a:pt x="33" y="9"/>
                    </a:cubicBezTo>
                    <a:cubicBezTo>
                      <a:pt x="27" y="9"/>
                      <a:pt x="21" y="8"/>
                      <a:pt x="15" y="7"/>
                    </a:cubicBezTo>
                    <a:cubicBezTo>
                      <a:pt x="13" y="7"/>
                      <a:pt x="10" y="6"/>
                      <a:pt x="7" y="5"/>
                    </a:cubicBezTo>
                    <a:cubicBezTo>
                      <a:pt x="5" y="4"/>
                      <a:pt x="4" y="4"/>
                      <a:pt x="3" y="3"/>
                    </a:cubicBezTo>
                    <a:cubicBezTo>
                      <a:pt x="2" y="2"/>
                      <a:pt x="0" y="1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4" y="5"/>
                      <a:pt x="5" y="5"/>
                      <a:pt x="6" y="6"/>
                    </a:cubicBezTo>
                    <a:cubicBezTo>
                      <a:pt x="9" y="7"/>
                      <a:pt x="12" y="8"/>
                      <a:pt x="15" y="9"/>
                    </a:cubicBezTo>
                    <a:cubicBezTo>
                      <a:pt x="21" y="11"/>
                      <a:pt x="27" y="12"/>
                      <a:pt x="33" y="13"/>
                    </a:cubicBezTo>
                    <a:cubicBezTo>
                      <a:pt x="41" y="14"/>
                      <a:pt x="49" y="15"/>
                      <a:pt x="57" y="15"/>
                    </a:cubicBezTo>
                    <a:cubicBezTo>
                      <a:pt x="57" y="69"/>
                      <a:pt x="57" y="69"/>
                      <a:pt x="57" y="69"/>
                    </a:cubicBezTo>
                    <a:cubicBezTo>
                      <a:pt x="84" y="69"/>
                      <a:pt x="84" y="69"/>
                      <a:pt x="84" y="69"/>
                    </a:cubicBezTo>
                    <a:cubicBezTo>
                      <a:pt x="84" y="15"/>
                      <a:pt x="84" y="15"/>
                      <a:pt x="84" y="15"/>
                    </a:cubicBezTo>
                    <a:cubicBezTo>
                      <a:pt x="91" y="15"/>
                      <a:pt x="98" y="14"/>
                      <a:pt x="106" y="13"/>
                    </a:cubicBezTo>
                    <a:cubicBezTo>
                      <a:pt x="112" y="12"/>
                      <a:pt x="118" y="11"/>
                      <a:pt x="124" y="9"/>
                    </a:cubicBezTo>
                    <a:cubicBezTo>
                      <a:pt x="127" y="8"/>
                      <a:pt x="130" y="7"/>
                      <a:pt x="132" y="6"/>
                    </a:cubicBezTo>
                    <a:cubicBezTo>
                      <a:pt x="134" y="5"/>
                      <a:pt x="135" y="5"/>
                      <a:pt x="136" y="4"/>
                    </a:cubicBezTo>
                    <a:cubicBezTo>
                      <a:pt x="137" y="3"/>
                      <a:pt x="139" y="1"/>
                      <a:pt x="139" y="0"/>
                    </a:cubicBezTo>
                    <a:cubicBezTo>
                      <a:pt x="138" y="1"/>
                      <a:pt x="137" y="2"/>
                      <a:pt x="13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CCAA11B-79FA-4786-878C-9AF49D91B45C}"/>
              </a:ext>
            </a:extLst>
          </p:cNvPr>
          <p:cNvGrpSpPr/>
          <p:nvPr/>
        </p:nvGrpSpPr>
        <p:grpSpPr>
          <a:xfrm>
            <a:off x="3046015" y="2910926"/>
            <a:ext cx="1352227" cy="216623"/>
            <a:chOff x="3046015" y="2910926"/>
            <a:chExt cx="1352227" cy="21662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F863C76-F1F2-4D2D-B456-21F92320AD2B}"/>
                </a:ext>
              </a:extLst>
            </p:cNvPr>
            <p:cNvSpPr txBox="1"/>
            <p:nvPr/>
          </p:nvSpPr>
          <p:spPr>
            <a:xfrm>
              <a:off x="3367557" y="2910926"/>
              <a:ext cx="1030685" cy="202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en-US" sz="1200" dirty="0">
                  <a:latin typeface="+mj-lt"/>
                </a:rPr>
                <a:t>Bitcoin</a:t>
              </a: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E88F1AA1-296C-41E2-AC28-22480FF2C9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6015" y="2925120"/>
              <a:ext cx="160547" cy="202429"/>
            </a:xfrm>
            <a:custGeom>
              <a:avLst/>
              <a:gdLst>
                <a:gd name="T0" fmla="*/ 110 w 113"/>
                <a:gd name="T1" fmla="*/ 73 h 144"/>
                <a:gd name="T2" fmla="*/ 98 w 113"/>
                <a:gd name="T3" fmla="*/ 61 h 144"/>
                <a:gd name="T4" fmla="*/ 89 w 113"/>
                <a:gd name="T5" fmla="*/ 59 h 144"/>
                <a:gd name="T6" fmla="*/ 90 w 113"/>
                <a:gd name="T7" fmla="*/ 59 h 144"/>
                <a:gd name="T8" fmla="*/ 85 w 113"/>
                <a:gd name="T9" fmla="*/ 24 h 144"/>
                <a:gd name="T10" fmla="*/ 71 w 113"/>
                <a:gd name="T11" fmla="*/ 21 h 144"/>
                <a:gd name="T12" fmla="*/ 60 w 113"/>
                <a:gd name="T13" fmla="*/ 21 h 144"/>
                <a:gd name="T14" fmla="*/ 56 w 113"/>
                <a:gd name="T15" fmla="*/ 0 h 144"/>
                <a:gd name="T16" fmla="*/ 44 w 113"/>
                <a:gd name="T17" fmla="*/ 3 h 144"/>
                <a:gd name="T18" fmla="*/ 48 w 113"/>
                <a:gd name="T19" fmla="*/ 23 h 144"/>
                <a:gd name="T20" fmla="*/ 38 w 113"/>
                <a:gd name="T21" fmla="*/ 25 h 144"/>
                <a:gd name="T22" fmla="*/ 34 w 113"/>
                <a:gd name="T23" fmla="*/ 5 h 144"/>
                <a:gd name="T24" fmla="*/ 21 w 113"/>
                <a:gd name="T25" fmla="*/ 7 h 144"/>
                <a:gd name="T26" fmla="*/ 25 w 113"/>
                <a:gd name="T27" fmla="*/ 28 h 144"/>
                <a:gd name="T28" fmla="*/ 0 w 113"/>
                <a:gd name="T29" fmla="*/ 33 h 144"/>
                <a:gd name="T30" fmla="*/ 3 w 113"/>
                <a:gd name="T31" fmla="*/ 47 h 144"/>
                <a:gd name="T32" fmla="*/ 8 w 113"/>
                <a:gd name="T33" fmla="*/ 46 h 144"/>
                <a:gd name="T34" fmla="*/ 12 w 113"/>
                <a:gd name="T35" fmla="*/ 45 h 144"/>
                <a:gd name="T36" fmla="*/ 20 w 113"/>
                <a:gd name="T37" fmla="*/ 50 h 144"/>
                <a:gd name="T38" fmla="*/ 31 w 113"/>
                <a:gd name="T39" fmla="*/ 104 h 144"/>
                <a:gd name="T40" fmla="*/ 27 w 113"/>
                <a:gd name="T41" fmla="*/ 111 h 144"/>
                <a:gd name="T42" fmla="*/ 18 w 113"/>
                <a:gd name="T43" fmla="*/ 112 h 144"/>
                <a:gd name="T44" fmla="*/ 19 w 113"/>
                <a:gd name="T45" fmla="*/ 128 h 144"/>
                <a:gd name="T46" fmla="*/ 44 w 113"/>
                <a:gd name="T47" fmla="*/ 123 h 144"/>
                <a:gd name="T48" fmla="*/ 48 w 113"/>
                <a:gd name="T49" fmla="*/ 144 h 144"/>
                <a:gd name="T50" fmla="*/ 61 w 113"/>
                <a:gd name="T51" fmla="*/ 141 h 144"/>
                <a:gd name="T52" fmla="*/ 57 w 113"/>
                <a:gd name="T53" fmla="*/ 121 h 144"/>
                <a:gd name="T54" fmla="*/ 67 w 113"/>
                <a:gd name="T55" fmla="*/ 119 h 144"/>
                <a:gd name="T56" fmla="*/ 71 w 113"/>
                <a:gd name="T57" fmla="*/ 139 h 144"/>
                <a:gd name="T58" fmla="*/ 84 w 113"/>
                <a:gd name="T59" fmla="*/ 137 h 144"/>
                <a:gd name="T60" fmla="*/ 79 w 113"/>
                <a:gd name="T61" fmla="*/ 116 h 144"/>
                <a:gd name="T62" fmla="*/ 80 w 113"/>
                <a:gd name="T63" fmla="*/ 116 h 144"/>
                <a:gd name="T64" fmla="*/ 98 w 113"/>
                <a:gd name="T65" fmla="*/ 109 h 144"/>
                <a:gd name="T66" fmla="*/ 112 w 113"/>
                <a:gd name="T67" fmla="*/ 92 h 144"/>
                <a:gd name="T68" fmla="*/ 110 w 113"/>
                <a:gd name="T69" fmla="*/ 73 h 144"/>
                <a:gd name="T70" fmla="*/ 41 w 113"/>
                <a:gd name="T71" fmla="*/ 40 h 144"/>
                <a:gd name="T72" fmla="*/ 64 w 113"/>
                <a:gd name="T73" fmla="*/ 38 h 144"/>
                <a:gd name="T74" fmla="*/ 73 w 113"/>
                <a:gd name="T75" fmla="*/ 47 h 144"/>
                <a:gd name="T76" fmla="*/ 67 w 113"/>
                <a:gd name="T77" fmla="*/ 59 h 144"/>
                <a:gd name="T78" fmla="*/ 46 w 113"/>
                <a:gd name="T79" fmla="*/ 65 h 144"/>
                <a:gd name="T80" fmla="*/ 41 w 113"/>
                <a:gd name="T81" fmla="*/ 40 h 144"/>
                <a:gd name="T82" fmla="*/ 81 w 113"/>
                <a:gd name="T83" fmla="*/ 97 h 144"/>
                <a:gd name="T84" fmla="*/ 60 w 113"/>
                <a:gd name="T85" fmla="*/ 104 h 144"/>
                <a:gd name="T86" fmla="*/ 54 w 113"/>
                <a:gd name="T87" fmla="*/ 105 h 144"/>
                <a:gd name="T88" fmla="*/ 49 w 113"/>
                <a:gd name="T89" fmla="*/ 78 h 144"/>
                <a:gd name="T90" fmla="*/ 77 w 113"/>
                <a:gd name="T91" fmla="*/ 75 h 144"/>
                <a:gd name="T92" fmla="*/ 86 w 113"/>
                <a:gd name="T93" fmla="*/ 84 h 144"/>
                <a:gd name="T94" fmla="*/ 81 w 113"/>
                <a:gd name="T95" fmla="*/ 97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3" h="144">
                  <a:moveTo>
                    <a:pt x="110" y="73"/>
                  </a:moveTo>
                  <a:cubicBezTo>
                    <a:pt x="108" y="67"/>
                    <a:pt x="104" y="63"/>
                    <a:pt x="98" y="61"/>
                  </a:cubicBezTo>
                  <a:cubicBezTo>
                    <a:pt x="95" y="60"/>
                    <a:pt x="92" y="60"/>
                    <a:pt x="89" y="59"/>
                  </a:cubicBezTo>
                  <a:cubicBezTo>
                    <a:pt x="89" y="59"/>
                    <a:pt x="89" y="59"/>
                    <a:pt x="90" y="59"/>
                  </a:cubicBezTo>
                  <a:cubicBezTo>
                    <a:pt x="102" y="49"/>
                    <a:pt x="96" y="29"/>
                    <a:pt x="85" y="24"/>
                  </a:cubicBezTo>
                  <a:cubicBezTo>
                    <a:pt x="80" y="22"/>
                    <a:pt x="76" y="21"/>
                    <a:pt x="71" y="21"/>
                  </a:cubicBezTo>
                  <a:cubicBezTo>
                    <a:pt x="67" y="21"/>
                    <a:pt x="64" y="21"/>
                    <a:pt x="60" y="21"/>
                  </a:cubicBezTo>
                  <a:cubicBezTo>
                    <a:pt x="59" y="15"/>
                    <a:pt x="58" y="7"/>
                    <a:pt x="56" y="0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5" y="9"/>
                    <a:pt x="47" y="17"/>
                    <a:pt x="48" y="23"/>
                  </a:cubicBezTo>
                  <a:cubicBezTo>
                    <a:pt x="44" y="24"/>
                    <a:pt x="41" y="24"/>
                    <a:pt x="38" y="25"/>
                  </a:cubicBezTo>
                  <a:cubicBezTo>
                    <a:pt x="36" y="19"/>
                    <a:pt x="35" y="11"/>
                    <a:pt x="34" y="5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2" y="14"/>
                    <a:pt x="24" y="22"/>
                    <a:pt x="25" y="28"/>
                  </a:cubicBezTo>
                  <a:cubicBezTo>
                    <a:pt x="17" y="30"/>
                    <a:pt x="8" y="31"/>
                    <a:pt x="0" y="33"/>
                  </a:cubicBezTo>
                  <a:cubicBezTo>
                    <a:pt x="1" y="38"/>
                    <a:pt x="2" y="42"/>
                    <a:pt x="3" y="47"/>
                  </a:cubicBezTo>
                  <a:cubicBezTo>
                    <a:pt x="4" y="46"/>
                    <a:pt x="6" y="46"/>
                    <a:pt x="8" y="46"/>
                  </a:cubicBezTo>
                  <a:cubicBezTo>
                    <a:pt x="9" y="45"/>
                    <a:pt x="11" y="45"/>
                    <a:pt x="12" y="45"/>
                  </a:cubicBezTo>
                  <a:cubicBezTo>
                    <a:pt x="17" y="44"/>
                    <a:pt x="19" y="46"/>
                    <a:pt x="20" y="50"/>
                  </a:cubicBezTo>
                  <a:cubicBezTo>
                    <a:pt x="24" y="68"/>
                    <a:pt x="27" y="86"/>
                    <a:pt x="31" y="104"/>
                  </a:cubicBezTo>
                  <a:cubicBezTo>
                    <a:pt x="32" y="108"/>
                    <a:pt x="30" y="110"/>
                    <a:pt x="27" y="111"/>
                  </a:cubicBezTo>
                  <a:cubicBezTo>
                    <a:pt x="24" y="111"/>
                    <a:pt x="21" y="112"/>
                    <a:pt x="18" y="112"/>
                  </a:cubicBezTo>
                  <a:cubicBezTo>
                    <a:pt x="18" y="118"/>
                    <a:pt x="19" y="123"/>
                    <a:pt x="19" y="128"/>
                  </a:cubicBezTo>
                  <a:cubicBezTo>
                    <a:pt x="27" y="126"/>
                    <a:pt x="36" y="124"/>
                    <a:pt x="44" y="123"/>
                  </a:cubicBezTo>
                  <a:cubicBezTo>
                    <a:pt x="45" y="129"/>
                    <a:pt x="47" y="137"/>
                    <a:pt x="48" y="144"/>
                  </a:cubicBezTo>
                  <a:cubicBezTo>
                    <a:pt x="61" y="141"/>
                    <a:pt x="61" y="141"/>
                    <a:pt x="61" y="141"/>
                  </a:cubicBezTo>
                  <a:cubicBezTo>
                    <a:pt x="60" y="135"/>
                    <a:pt x="58" y="127"/>
                    <a:pt x="57" y="121"/>
                  </a:cubicBezTo>
                  <a:cubicBezTo>
                    <a:pt x="60" y="120"/>
                    <a:pt x="64" y="119"/>
                    <a:pt x="67" y="119"/>
                  </a:cubicBezTo>
                  <a:cubicBezTo>
                    <a:pt x="68" y="125"/>
                    <a:pt x="70" y="133"/>
                    <a:pt x="71" y="139"/>
                  </a:cubicBezTo>
                  <a:cubicBezTo>
                    <a:pt x="84" y="137"/>
                    <a:pt x="84" y="137"/>
                    <a:pt x="84" y="137"/>
                  </a:cubicBezTo>
                  <a:cubicBezTo>
                    <a:pt x="82" y="130"/>
                    <a:pt x="81" y="122"/>
                    <a:pt x="79" y="116"/>
                  </a:cubicBezTo>
                  <a:cubicBezTo>
                    <a:pt x="80" y="116"/>
                    <a:pt x="80" y="116"/>
                    <a:pt x="80" y="116"/>
                  </a:cubicBezTo>
                  <a:cubicBezTo>
                    <a:pt x="86" y="113"/>
                    <a:pt x="92" y="112"/>
                    <a:pt x="98" y="109"/>
                  </a:cubicBezTo>
                  <a:cubicBezTo>
                    <a:pt x="105" y="106"/>
                    <a:pt x="110" y="100"/>
                    <a:pt x="112" y="92"/>
                  </a:cubicBezTo>
                  <a:cubicBezTo>
                    <a:pt x="113" y="86"/>
                    <a:pt x="112" y="79"/>
                    <a:pt x="110" y="73"/>
                  </a:cubicBezTo>
                  <a:close/>
                  <a:moveTo>
                    <a:pt x="41" y="40"/>
                  </a:moveTo>
                  <a:cubicBezTo>
                    <a:pt x="49" y="38"/>
                    <a:pt x="56" y="36"/>
                    <a:pt x="64" y="38"/>
                  </a:cubicBezTo>
                  <a:cubicBezTo>
                    <a:pt x="69" y="39"/>
                    <a:pt x="72" y="42"/>
                    <a:pt x="73" y="47"/>
                  </a:cubicBezTo>
                  <a:cubicBezTo>
                    <a:pt x="74" y="52"/>
                    <a:pt x="71" y="56"/>
                    <a:pt x="67" y="59"/>
                  </a:cubicBezTo>
                  <a:cubicBezTo>
                    <a:pt x="60" y="62"/>
                    <a:pt x="53" y="64"/>
                    <a:pt x="46" y="65"/>
                  </a:cubicBezTo>
                  <a:cubicBezTo>
                    <a:pt x="44" y="57"/>
                    <a:pt x="43" y="49"/>
                    <a:pt x="41" y="40"/>
                  </a:cubicBezTo>
                  <a:close/>
                  <a:moveTo>
                    <a:pt x="81" y="97"/>
                  </a:moveTo>
                  <a:cubicBezTo>
                    <a:pt x="75" y="101"/>
                    <a:pt x="68" y="103"/>
                    <a:pt x="60" y="104"/>
                  </a:cubicBezTo>
                  <a:cubicBezTo>
                    <a:pt x="58" y="105"/>
                    <a:pt x="56" y="105"/>
                    <a:pt x="54" y="105"/>
                  </a:cubicBezTo>
                  <a:cubicBezTo>
                    <a:pt x="52" y="96"/>
                    <a:pt x="50" y="87"/>
                    <a:pt x="49" y="78"/>
                  </a:cubicBezTo>
                  <a:cubicBezTo>
                    <a:pt x="58" y="76"/>
                    <a:pt x="67" y="73"/>
                    <a:pt x="77" y="75"/>
                  </a:cubicBezTo>
                  <a:cubicBezTo>
                    <a:pt x="82" y="76"/>
                    <a:pt x="85" y="79"/>
                    <a:pt x="86" y="84"/>
                  </a:cubicBezTo>
                  <a:cubicBezTo>
                    <a:pt x="87" y="90"/>
                    <a:pt x="85" y="94"/>
                    <a:pt x="81" y="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82129D8-0AD8-42E2-BB6C-EB70D3506574}"/>
              </a:ext>
            </a:extLst>
          </p:cNvPr>
          <p:cNvGrpSpPr/>
          <p:nvPr/>
        </p:nvGrpSpPr>
        <p:grpSpPr>
          <a:xfrm>
            <a:off x="3046015" y="4303981"/>
            <a:ext cx="1352227" cy="204804"/>
            <a:chOff x="3046015" y="4159160"/>
            <a:chExt cx="1352227" cy="20480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FF5C16F-E10E-4D6E-B984-8495D2085DDC}"/>
                </a:ext>
              </a:extLst>
            </p:cNvPr>
            <p:cNvSpPr txBox="1"/>
            <p:nvPr/>
          </p:nvSpPr>
          <p:spPr>
            <a:xfrm>
              <a:off x="3367557" y="4159160"/>
              <a:ext cx="1030685" cy="202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en-US" sz="1200" dirty="0" err="1">
                  <a:latin typeface="+mj-lt"/>
                </a:rPr>
                <a:t>Lisk</a:t>
              </a:r>
              <a:endParaRPr lang="en-US" sz="1200" dirty="0">
                <a:latin typeface="+mj-lt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9E1540E-6906-421A-9BE5-80F7598F62D6}"/>
                </a:ext>
              </a:extLst>
            </p:cNvPr>
            <p:cNvGrpSpPr/>
            <p:nvPr/>
          </p:nvGrpSpPr>
          <p:grpSpPr>
            <a:xfrm>
              <a:off x="3046015" y="4168678"/>
              <a:ext cx="167788" cy="195286"/>
              <a:chOff x="7383463" y="2978150"/>
              <a:chExt cx="474662" cy="552450"/>
            </a:xfrm>
            <a:solidFill>
              <a:schemeClr val="accent4"/>
            </a:solidFill>
          </p:grpSpPr>
          <p:sp>
            <p:nvSpPr>
              <p:cNvPr id="55" name="Freeform 23">
                <a:extLst>
                  <a:ext uri="{FF2B5EF4-FFF2-40B4-BE49-F238E27FC236}">
                    <a16:creationId xmlns:a16="http://schemas.microsoft.com/office/drawing/2014/main" id="{840BC918-7BFB-4609-AF70-D9B5D78FF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3463" y="3089275"/>
                <a:ext cx="254000" cy="441325"/>
              </a:xfrm>
              <a:custGeom>
                <a:avLst/>
                <a:gdLst>
                  <a:gd name="T0" fmla="*/ 138 w 160"/>
                  <a:gd name="T1" fmla="*/ 54 h 278"/>
                  <a:gd name="T2" fmla="*/ 107 w 160"/>
                  <a:gd name="T3" fmla="*/ 0 h 278"/>
                  <a:gd name="T4" fmla="*/ 0 w 160"/>
                  <a:gd name="T5" fmla="*/ 184 h 278"/>
                  <a:gd name="T6" fmla="*/ 87 w 160"/>
                  <a:gd name="T7" fmla="*/ 278 h 278"/>
                  <a:gd name="T8" fmla="*/ 114 w 160"/>
                  <a:gd name="T9" fmla="*/ 278 h 278"/>
                  <a:gd name="T10" fmla="*/ 160 w 160"/>
                  <a:gd name="T11" fmla="*/ 228 h 278"/>
                  <a:gd name="T12" fmla="*/ 107 w 160"/>
                  <a:gd name="T13" fmla="*/ 228 h 278"/>
                  <a:gd name="T14" fmla="*/ 65 w 160"/>
                  <a:gd name="T15" fmla="*/ 174 h 278"/>
                  <a:gd name="T16" fmla="*/ 138 w 160"/>
                  <a:gd name="T17" fmla="*/ 54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0" h="278">
                    <a:moveTo>
                      <a:pt x="138" y="54"/>
                    </a:moveTo>
                    <a:lnTo>
                      <a:pt x="107" y="0"/>
                    </a:lnTo>
                    <a:lnTo>
                      <a:pt x="0" y="184"/>
                    </a:lnTo>
                    <a:lnTo>
                      <a:pt x="87" y="278"/>
                    </a:lnTo>
                    <a:lnTo>
                      <a:pt x="114" y="278"/>
                    </a:lnTo>
                    <a:lnTo>
                      <a:pt x="160" y="228"/>
                    </a:lnTo>
                    <a:lnTo>
                      <a:pt x="107" y="228"/>
                    </a:lnTo>
                    <a:lnTo>
                      <a:pt x="65" y="174"/>
                    </a:lnTo>
                    <a:lnTo>
                      <a:pt x="138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24">
                <a:extLst>
                  <a:ext uri="{FF2B5EF4-FFF2-40B4-BE49-F238E27FC236}">
                    <a16:creationId xmlns:a16="http://schemas.microsoft.com/office/drawing/2014/main" id="{3B54FDF7-301A-4EAF-833A-126A1625F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2375" y="2978150"/>
                <a:ext cx="285750" cy="552450"/>
              </a:xfrm>
              <a:custGeom>
                <a:avLst/>
                <a:gdLst>
                  <a:gd name="T0" fmla="*/ 0 w 180"/>
                  <a:gd name="T1" fmla="*/ 53 h 348"/>
                  <a:gd name="T2" fmla="*/ 29 w 180"/>
                  <a:gd name="T3" fmla="*/ 0 h 348"/>
                  <a:gd name="T4" fmla="*/ 180 w 180"/>
                  <a:gd name="T5" fmla="*/ 254 h 348"/>
                  <a:gd name="T6" fmla="*/ 94 w 180"/>
                  <a:gd name="T7" fmla="*/ 348 h 348"/>
                  <a:gd name="T8" fmla="*/ 24 w 180"/>
                  <a:gd name="T9" fmla="*/ 348 h 348"/>
                  <a:gd name="T10" fmla="*/ 114 w 180"/>
                  <a:gd name="T11" fmla="*/ 244 h 348"/>
                  <a:gd name="T12" fmla="*/ 0 w 180"/>
                  <a:gd name="T13" fmla="*/ 53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0" h="348">
                    <a:moveTo>
                      <a:pt x="0" y="53"/>
                    </a:moveTo>
                    <a:lnTo>
                      <a:pt x="29" y="0"/>
                    </a:lnTo>
                    <a:lnTo>
                      <a:pt x="180" y="254"/>
                    </a:lnTo>
                    <a:lnTo>
                      <a:pt x="94" y="348"/>
                    </a:lnTo>
                    <a:lnTo>
                      <a:pt x="24" y="348"/>
                    </a:lnTo>
                    <a:lnTo>
                      <a:pt x="114" y="244"/>
                    </a:lnTo>
                    <a:lnTo>
                      <a:pt x="0" y="5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2F0CB0A-3463-46F6-80CC-3F2E142DD042}"/>
              </a:ext>
            </a:extLst>
          </p:cNvPr>
          <p:cNvGrpSpPr/>
          <p:nvPr/>
        </p:nvGrpSpPr>
        <p:grpSpPr>
          <a:xfrm>
            <a:off x="3046015" y="5199383"/>
            <a:ext cx="1352227" cy="202428"/>
            <a:chOff x="3046015" y="5199383"/>
            <a:chExt cx="1352227" cy="20242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E172172-5BE5-45CA-B769-993CEC94C220}"/>
                </a:ext>
              </a:extLst>
            </p:cNvPr>
            <p:cNvSpPr txBox="1"/>
            <p:nvPr/>
          </p:nvSpPr>
          <p:spPr>
            <a:xfrm>
              <a:off x="3367557" y="5199383"/>
              <a:ext cx="1030685" cy="202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en-US" sz="1200" dirty="0">
                  <a:latin typeface="+mj-lt"/>
                </a:rPr>
                <a:t>Dash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D925425-B56D-4818-B2EC-FFC4B3E739DE}"/>
                </a:ext>
              </a:extLst>
            </p:cNvPr>
            <p:cNvGrpSpPr/>
            <p:nvPr/>
          </p:nvGrpSpPr>
          <p:grpSpPr>
            <a:xfrm>
              <a:off x="3046015" y="5258667"/>
              <a:ext cx="208636" cy="115016"/>
              <a:chOff x="8847137" y="3128963"/>
              <a:chExt cx="619127" cy="341312"/>
            </a:xfrm>
            <a:solidFill>
              <a:schemeClr val="accent6"/>
            </a:solidFill>
          </p:grpSpPr>
          <p:sp>
            <p:nvSpPr>
              <p:cNvPr id="58" name="Freeform 28">
                <a:extLst>
                  <a:ext uri="{FF2B5EF4-FFF2-40B4-BE49-F238E27FC236}">
                    <a16:creationId xmlns:a16="http://schemas.microsoft.com/office/drawing/2014/main" id="{2C49E36C-2073-4CD8-8B85-C735A9124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63013" y="3128963"/>
                <a:ext cx="603251" cy="341312"/>
              </a:xfrm>
              <a:custGeom>
                <a:avLst/>
                <a:gdLst>
                  <a:gd name="T0" fmla="*/ 0 w 157"/>
                  <a:gd name="T1" fmla="*/ 88 h 88"/>
                  <a:gd name="T2" fmla="*/ 7 w 157"/>
                  <a:gd name="T3" fmla="*/ 67 h 88"/>
                  <a:gd name="T4" fmla="*/ 9 w 157"/>
                  <a:gd name="T5" fmla="*/ 66 h 88"/>
                  <a:gd name="T6" fmla="*/ 21 w 157"/>
                  <a:gd name="T7" fmla="*/ 66 h 88"/>
                  <a:gd name="T8" fmla="*/ 101 w 157"/>
                  <a:gd name="T9" fmla="*/ 66 h 88"/>
                  <a:gd name="T10" fmla="*/ 104 w 157"/>
                  <a:gd name="T11" fmla="*/ 63 h 88"/>
                  <a:gd name="T12" fmla="*/ 118 w 157"/>
                  <a:gd name="T13" fmla="*/ 24 h 88"/>
                  <a:gd name="T14" fmla="*/ 119 w 157"/>
                  <a:gd name="T15" fmla="*/ 22 h 88"/>
                  <a:gd name="T16" fmla="*/ 22 w 157"/>
                  <a:gd name="T17" fmla="*/ 22 h 88"/>
                  <a:gd name="T18" fmla="*/ 30 w 157"/>
                  <a:gd name="T19" fmla="*/ 1 h 88"/>
                  <a:gd name="T20" fmla="*/ 31 w 157"/>
                  <a:gd name="T21" fmla="*/ 0 h 88"/>
                  <a:gd name="T22" fmla="*/ 39 w 157"/>
                  <a:gd name="T23" fmla="*/ 0 h 88"/>
                  <a:gd name="T24" fmla="*/ 137 w 157"/>
                  <a:gd name="T25" fmla="*/ 0 h 88"/>
                  <a:gd name="T26" fmla="*/ 152 w 157"/>
                  <a:gd name="T27" fmla="*/ 21 h 88"/>
                  <a:gd name="T28" fmla="*/ 142 w 157"/>
                  <a:gd name="T29" fmla="*/ 53 h 88"/>
                  <a:gd name="T30" fmla="*/ 138 w 157"/>
                  <a:gd name="T31" fmla="*/ 64 h 88"/>
                  <a:gd name="T32" fmla="*/ 112 w 157"/>
                  <a:gd name="T33" fmla="*/ 87 h 88"/>
                  <a:gd name="T34" fmla="*/ 108 w 157"/>
                  <a:gd name="T35" fmla="*/ 88 h 88"/>
                  <a:gd name="T36" fmla="*/ 2 w 157"/>
                  <a:gd name="T37" fmla="*/ 88 h 88"/>
                  <a:gd name="T38" fmla="*/ 0 w 157"/>
                  <a:gd name="T3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7" h="88">
                    <a:moveTo>
                      <a:pt x="0" y="88"/>
                    </a:moveTo>
                    <a:cubicBezTo>
                      <a:pt x="2" y="81"/>
                      <a:pt x="4" y="74"/>
                      <a:pt x="7" y="67"/>
                    </a:cubicBezTo>
                    <a:cubicBezTo>
                      <a:pt x="7" y="67"/>
                      <a:pt x="8" y="66"/>
                      <a:pt x="9" y="66"/>
                    </a:cubicBezTo>
                    <a:cubicBezTo>
                      <a:pt x="13" y="66"/>
                      <a:pt x="17" y="66"/>
                      <a:pt x="21" y="66"/>
                    </a:cubicBezTo>
                    <a:cubicBezTo>
                      <a:pt x="48" y="66"/>
                      <a:pt x="74" y="66"/>
                      <a:pt x="101" y="66"/>
                    </a:cubicBezTo>
                    <a:cubicBezTo>
                      <a:pt x="103" y="66"/>
                      <a:pt x="104" y="65"/>
                      <a:pt x="104" y="63"/>
                    </a:cubicBezTo>
                    <a:cubicBezTo>
                      <a:pt x="109" y="50"/>
                      <a:pt x="113" y="37"/>
                      <a:pt x="118" y="24"/>
                    </a:cubicBezTo>
                    <a:cubicBezTo>
                      <a:pt x="118" y="23"/>
                      <a:pt x="118" y="23"/>
                      <a:pt x="119" y="22"/>
                    </a:cubicBezTo>
                    <a:cubicBezTo>
                      <a:pt x="86" y="22"/>
                      <a:pt x="54" y="22"/>
                      <a:pt x="22" y="22"/>
                    </a:cubicBezTo>
                    <a:cubicBezTo>
                      <a:pt x="25" y="14"/>
                      <a:pt x="27" y="8"/>
                      <a:pt x="30" y="1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4" y="0"/>
                      <a:pt x="36" y="0"/>
                      <a:pt x="39" y="0"/>
                    </a:cubicBezTo>
                    <a:cubicBezTo>
                      <a:pt x="71" y="0"/>
                      <a:pt x="104" y="0"/>
                      <a:pt x="137" y="0"/>
                    </a:cubicBezTo>
                    <a:cubicBezTo>
                      <a:pt x="146" y="0"/>
                      <a:pt x="157" y="7"/>
                      <a:pt x="152" y="21"/>
                    </a:cubicBezTo>
                    <a:cubicBezTo>
                      <a:pt x="149" y="32"/>
                      <a:pt x="145" y="42"/>
                      <a:pt x="142" y="53"/>
                    </a:cubicBezTo>
                    <a:cubicBezTo>
                      <a:pt x="141" y="56"/>
                      <a:pt x="139" y="60"/>
                      <a:pt x="138" y="64"/>
                    </a:cubicBezTo>
                    <a:cubicBezTo>
                      <a:pt x="133" y="76"/>
                      <a:pt x="124" y="84"/>
                      <a:pt x="112" y="87"/>
                    </a:cubicBezTo>
                    <a:cubicBezTo>
                      <a:pt x="110" y="88"/>
                      <a:pt x="109" y="88"/>
                      <a:pt x="108" y="88"/>
                    </a:cubicBezTo>
                    <a:cubicBezTo>
                      <a:pt x="73" y="88"/>
                      <a:pt x="37" y="88"/>
                      <a:pt x="2" y="88"/>
                    </a:cubicBezTo>
                    <a:cubicBezTo>
                      <a:pt x="2" y="88"/>
                      <a:pt x="1" y="88"/>
                      <a:pt x="0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29">
                <a:extLst>
                  <a:ext uri="{FF2B5EF4-FFF2-40B4-BE49-F238E27FC236}">
                    <a16:creationId xmlns:a16="http://schemas.microsoft.com/office/drawing/2014/main" id="{14C563F5-42BF-46FA-9A99-70020CC42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7137" y="3255963"/>
                <a:ext cx="250825" cy="82550"/>
              </a:xfrm>
              <a:custGeom>
                <a:avLst/>
                <a:gdLst>
                  <a:gd name="T0" fmla="*/ 65 w 65"/>
                  <a:gd name="T1" fmla="*/ 0 h 21"/>
                  <a:gd name="T2" fmla="*/ 57 w 65"/>
                  <a:gd name="T3" fmla="*/ 20 h 21"/>
                  <a:gd name="T4" fmla="*/ 56 w 65"/>
                  <a:gd name="T5" fmla="*/ 21 h 21"/>
                  <a:gd name="T6" fmla="*/ 1 w 65"/>
                  <a:gd name="T7" fmla="*/ 21 h 21"/>
                  <a:gd name="T8" fmla="*/ 0 w 65"/>
                  <a:gd name="T9" fmla="*/ 20 h 21"/>
                  <a:gd name="T10" fmla="*/ 7 w 65"/>
                  <a:gd name="T11" fmla="*/ 2 h 21"/>
                  <a:gd name="T12" fmla="*/ 9 w 65"/>
                  <a:gd name="T13" fmla="*/ 0 h 21"/>
                  <a:gd name="T14" fmla="*/ 65 w 65"/>
                  <a:gd name="T1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21">
                    <a:moveTo>
                      <a:pt x="65" y="0"/>
                    </a:moveTo>
                    <a:cubicBezTo>
                      <a:pt x="62" y="7"/>
                      <a:pt x="60" y="14"/>
                      <a:pt x="57" y="20"/>
                    </a:cubicBezTo>
                    <a:cubicBezTo>
                      <a:pt x="57" y="20"/>
                      <a:pt x="56" y="21"/>
                      <a:pt x="56" y="21"/>
                    </a:cubicBezTo>
                    <a:cubicBezTo>
                      <a:pt x="37" y="21"/>
                      <a:pt x="19" y="21"/>
                      <a:pt x="1" y="21"/>
                    </a:cubicBezTo>
                    <a:cubicBezTo>
                      <a:pt x="1" y="21"/>
                      <a:pt x="0" y="21"/>
                      <a:pt x="0" y="20"/>
                    </a:cubicBezTo>
                    <a:cubicBezTo>
                      <a:pt x="2" y="14"/>
                      <a:pt x="4" y="8"/>
                      <a:pt x="7" y="2"/>
                    </a:cubicBezTo>
                    <a:cubicBezTo>
                      <a:pt x="7" y="1"/>
                      <a:pt x="8" y="0"/>
                      <a:pt x="9" y="0"/>
                    </a:cubicBezTo>
                    <a:cubicBezTo>
                      <a:pt x="27" y="0"/>
                      <a:pt x="46" y="0"/>
                      <a:pt x="6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1097A3D-F135-4403-A1D4-C1A086F3EFD2}"/>
              </a:ext>
            </a:extLst>
          </p:cNvPr>
          <p:cNvGrpSpPr/>
          <p:nvPr/>
        </p:nvGrpSpPr>
        <p:grpSpPr>
          <a:xfrm>
            <a:off x="3061255" y="3371633"/>
            <a:ext cx="1336987" cy="218216"/>
            <a:chOff x="3061255" y="3327004"/>
            <a:chExt cx="1336987" cy="21821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9E81BF-C114-466E-BF53-0DE9D0C50F9C}"/>
                </a:ext>
              </a:extLst>
            </p:cNvPr>
            <p:cNvSpPr txBox="1"/>
            <p:nvPr/>
          </p:nvSpPr>
          <p:spPr>
            <a:xfrm>
              <a:off x="3367557" y="3327004"/>
              <a:ext cx="1030685" cy="202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en-US" sz="1200" dirty="0" err="1">
                  <a:latin typeface="+mj-lt"/>
                </a:rPr>
                <a:t>Zcash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BF712B5-E583-4EAC-B708-457DB56E4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255" y="3352966"/>
              <a:ext cx="119330" cy="192254"/>
            </a:xfrm>
            <a:custGeom>
              <a:avLst/>
              <a:gdLst>
                <a:gd name="T0" fmla="*/ 32 w 88"/>
                <a:gd name="T1" fmla="*/ 19 h 144"/>
                <a:gd name="T2" fmla="*/ 32 w 88"/>
                <a:gd name="T3" fmla="*/ 0 h 144"/>
                <a:gd name="T4" fmla="*/ 56 w 88"/>
                <a:gd name="T5" fmla="*/ 0 h 144"/>
                <a:gd name="T6" fmla="*/ 56 w 88"/>
                <a:gd name="T7" fmla="*/ 19 h 144"/>
                <a:gd name="T8" fmla="*/ 85 w 88"/>
                <a:gd name="T9" fmla="*/ 19 h 144"/>
                <a:gd name="T10" fmla="*/ 81 w 88"/>
                <a:gd name="T11" fmla="*/ 46 h 144"/>
                <a:gd name="T12" fmla="*/ 41 w 88"/>
                <a:gd name="T13" fmla="*/ 98 h 144"/>
                <a:gd name="T14" fmla="*/ 41 w 88"/>
                <a:gd name="T15" fmla="*/ 99 h 144"/>
                <a:gd name="T16" fmla="*/ 87 w 88"/>
                <a:gd name="T17" fmla="*/ 99 h 144"/>
                <a:gd name="T18" fmla="*/ 87 w 88"/>
                <a:gd name="T19" fmla="*/ 126 h 144"/>
                <a:gd name="T20" fmla="*/ 56 w 88"/>
                <a:gd name="T21" fmla="*/ 126 h 144"/>
                <a:gd name="T22" fmla="*/ 56 w 88"/>
                <a:gd name="T23" fmla="*/ 144 h 144"/>
                <a:gd name="T24" fmla="*/ 32 w 88"/>
                <a:gd name="T25" fmla="*/ 144 h 144"/>
                <a:gd name="T26" fmla="*/ 32 w 88"/>
                <a:gd name="T27" fmla="*/ 126 h 144"/>
                <a:gd name="T28" fmla="*/ 2 w 88"/>
                <a:gd name="T29" fmla="*/ 126 h 144"/>
                <a:gd name="T30" fmla="*/ 7 w 88"/>
                <a:gd name="T31" fmla="*/ 99 h 144"/>
                <a:gd name="T32" fmla="*/ 48 w 88"/>
                <a:gd name="T33" fmla="*/ 47 h 144"/>
                <a:gd name="T34" fmla="*/ 48 w 88"/>
                <a:gd name="T35" fmla="*/ 46 h 144"/>
                <a:gd name="T36" fmla="*/ 6 w 88"/>
                <a:gd name="T37" fmla="*/ 46 h 144"/>
                <a:gd name="T38" fmla="*/ 6 w 88"/>
                <a:gd name="T39" fmla="*/ 20 h 144"/>
                <a:gd name="T40" fmla="*/ 32 w 88"/>
                <a:gd name="T41" fmla="*/ 1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144">
                  <a:moveTo>
                    <a:pt x="32" y="19"/>
                  </a:moveTo>
                  <a:cubicBezTo>
                    <a:pt x="32" y="13"/>
                    <a:pt x="32" y="7"/>
                    <a:pt x="32" y="0"/>
                  </a:cubicBezTo>
                  <a:cubicBezTo>
                    <a:pt x="40" y="0"/>
                    <a:pt x="48" y="0"/>
                    <a:pt x="56" y="0"/>
                  </a:cubicBezTo>
                  <a:cubicBezTo>
                    <a:pt x="56" y="6"/>
                    <a:pt x="56" y="13"/>
                    <a:pt x="56" y="19"/>
                  </a:cubicBezTo>
                  <a:cubicBezTo>
                    <a:pt x="66" y="19"/>
                    <a:pt x="75" y="19"/>
                    <a:pt x="85" y="19"/>
                  </a:cubicBezTo>
                  <a:cubicBezTo>
                    <a:pt x="84" y="28"/>
                    <a:pt x="88" y="37"/>
                    <a:pt x="81" y="46"/>
                  </a:cubicBezTo>
                  <a:cubicBezTo>
                    <a:pt x="67" y="63"/>
                    <a:pt x="54" y="80"/>
                    <a:pt x="41" y="98"/>
                  </a:cubicBezTo>
                  <a:cubicBezTo>
                    <a:pt x="41" y="98"/>
                    <a:pt x="41" y="98"/>
                    <a:pt x="41" y="99"/>
                  </a:cubicBezTo>
                  <a:cubicBezTo>
                    <a:pt x="56" y="99"/>
                    <a:pt x="71" y="99"/>
                    <a:pt x="87" y="99"/>
                  </a:cubicBezTo>
                  <a:cubicBezTo>
                    <a:pt x="87" y="108"/>
                    <a:pt x="87" y="117"/>
                    <a:pt x="87" y="126"/>
                  </a:cubicBezTo>
                  <a:cubicBezTo>
                    <a:pt x="77" y="126"/>
                    <a:pt x="67" y="126"/>
                    <a:pt x="56" y="126"/>
                  </a:cubicBezTo>
                  <a:cubicBezTo>
                    <a:pt x="56" y="132"/>
                    <a:pt x="56" y="138"/>
                    <a:pt x="56" y="144"/>
                  </a:cubicBezTo>
                  <a:cubicBezTo>
                    <a:pt x="48" y="144"/>
                    <a:pt x="41" y="144"/>
                    <a:pt x="32" y="144"/>
                  </a:cubicBezTo>
                  <a:cubicBezTo>
                    <a:pt x="32" y="138"/>
                    <a:pt x="32" y="132"/>
                    <a:pt x="32" y="126"/>
                  </a:cubicBezTo>
                  <a:cubicBezTo>
                    <a:pt x="22" y="126"/>
                    <a:pt x="12" y="126"/>
                    <a:pt x="2" y="126"/>
                  </a:cubicBezTo>
                  <a:cubicBezTo>
                    <a:pt x="3" y="116"/>
                    <a:pt x="0" y="108"/>
                    <a:pt x="7" y="99"/>
                  </a:cubicBezTo>
                  <a:cubicBezTo>
                    <a:pt x="21" y="82"/>
                    <a:pt x="34" y="65"/>
                    <a:pt x="48" y="47"/>
                  </a:cubicBezTo>
                  <a:cubicBezTo>
                    <a:pt x="48" y="47"/>
                    <a:pt x="48" y="46"/>
                    <a:pt x="48" y="46"/>
                  </a:cubicBezTo>
                  <a:cubicBezTo>
                    <a:pt x="34" y="46"/>
                    <a:pt x="20" y="46"/>
                    <a:pt x="6" y="46"/>
                  </a:cubicBezTo>
                  <a:cubicBezTo>
                    <a:pt x="6" y="37"/>
                    <a:pt x="6" y="28"/>
                    <a:pt x="6" y="20"/>
                  </a:cubicBezTo>
                  <a:cubicBezTo>
                    <a:pt x="15" y="19"/>
                    <a:pt x="23" y="19"/>
                    <a:pt x="32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A6388F3-8868-4F04-AA4E-7B9429EFFE17}"/>
              </a:ext>
            </a:extLst>
          </p:cNvPr>
          <p:cNvGrpSpPr/>
          <p:nvPr/>
        </p:nvGrpSpPr>
        <p:grpSpPr>
          <a:xfrm>
            <a:off x="1523999" y="765175"/>
            <a:ext cx="826133" cy="294190"/>
            <a:chOff x="1523999" y="765175"/>
            <a:chExt cx="826133" cy="29419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0B5F365-F275-4CB6-9DF2-C9A5ECF0025D}"/>
                </a:ext>
              </a:extLst>
            </p:cNvPr>
            <p:cNvSpPr/>
            <p:nvPr/>
          </p:nvSpPr>
          <p:spPr>
            <a:xfrm>
              <a:off x="1523999" y="765175"/>
              <a:ext cx="826133" cy="2220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900" b="0" dirty="0">
                  <a:solidFill>
                    <a:srgbClr val="FFFFFF"/>
                  </a:solidFill>
                  <a:latin typeface="Open Sans" panose="020B0706030804020204" pitchFamily="34" charset="0"/>
                  <a:ea typeface="Open Sans" panose="020B0706030804020204" pitchFamily="34" charset="0"/>
                  <a:cs typeface="Open Sans" panose="020B0706030804020204" pitchFamily="34" charset="0"/>
                </a:rPr>
                <a:t>Инфографик</a:t>
              </a:r>
            </a:p>
          </p:txBody>
        </p:sp>
        <p:sp>
          <p:nvSpPr>
            <p:cNvPr id="62" name="Right Triangle 61">
              <a:extLst>
                <a:ext uri="{FF2B5EF4-FFF2-40B4-BE49-F238E27FC236}">
                  <a16:creationId xmlns:a16="http://schemas.microsoft.com/office/drawing/2014/main" id="{694779D8-B86B-4C1D-AFF4-3C0BFA373E54}"/>
                </a:ext>
              </a:extLst>
            </p:cNvPr>
            <p:cNvSpPr/>
            <p:nvPr/>
          </p:nvSpPr>
          <p:spPr>
            <a:xfrm flipV="1">
              <a:off x="1524000" y="987188"/>
              <a:ext cx="72580" cy="7217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283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9D90C690-C8D8-482D-9618-0D4AD49C6A2C}"/>
              </a:ext>
            </a:extLst>
          </p:cNvPr>
          <p:cNvSpPr/>
          <p:nvPr/>
        </p:nvSpPr>
        <p:spPr>
          <a:xfrm>
            <a:off x="2521433" y="2621063"/>
            <a:ext cx="1045029" cy="104502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A7A31CF-89B5-45DC-A786-D71D8079A180}"/>
              </a:ext>
            </a:extLst>
          </p:cNvPr>
          <p:cNvCxnSpPr/>
          <p:nvPr/>
        </p:nvCxnSpPr>
        <p:spPr>
          <a:xfrm flipV="1">
            <a:off x="3043947" y="2225627"/>
            <a:ext cx="4070" cy="391304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EDDFFB7-A7EE-4925-947C-CEAF03510AB2}"/>
              </a:ext>
            </a:extLst>
          </p:cNvPr>
          <p:cNvSpPr/>
          <p:nvPr/>
        </p:nvSpPr>
        <p:spPr>
          <a:xfrm>
            <a:off x="5586185" y="2621063"/>
            <a:ext cx="1045029" cy="104502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37FB21-8B63-4167-A7A2-B6CDDDFC4180}"/>
              </a:ext>
            </a:extLst>
          </p:cNvPr>
          <p:cNvCxnSpPr/>
          <p:nvPr/>
        </p:nvCxnSpPr>
        <p:spPr>
          <a:xfrm flipV="1">
            <a:off x="6104629" y="2225627"/>
            <a:ext cx="4070" cy="391304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E0B863F-628C-41D5-A944-82CFF5E2887D}"/>
              </a:ext>
            </a:extLst>
          </p:cNvPr>
          <p:cNvSpPr/>
          <p:nvPr/>
        </p:nvSpPr>
        <p:spPr>
          <a:xfrm>
            <a:off x="8630302" y="2621063"/>
            <a:ext cx="1045029" cy="104502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C96BBA2-812E-493D-B5FA-DE0615711F2E}"/>
              </a:ext>
            </a:extLst>
          </p:cNvPr>
          <p:cNvCxnSpPr/>
          <p:nvPr/>
        </p:nvCxnSpPr>
        <p:spPr>
          <a:xfrm flipV="1">
            <a:off x="9147189" y="2225627"/>
            <a:ext cx="4070" cy="391304"/>
          </a:xfrm>
          <a:prstGeom prst="line">
            <a:avLst/>
          </a:prstGeom>
          <a:ln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AC7FDE2-A2F8-4DA6-A560-DF01FB55D4CD}"/>
              </a:ext>
            </a:extLst>
          </p:cNvPr>
          <p:cNvSpPr/>
          <p:nvPr/>
        </p:nvSpPr>
        <p:spPr>
          <a:xfrm>
            <a:off x="4038679" y="3230320"/>
            <a:ext cx="1045029" cy="104502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AF02496-0D5D-4665-B86D-4620B696D9AB}"/>
              </a:ext>
            </a:extLst>
          </p:cNvPr>
          <p:cNvCxnSpPr/>
          <p:nvPr/>
        </p:nvCxnSpPr>
        <p:spPr>
          <a:xfrm flipV="1">
            <a:off x="4572659" y="4275349"/>
            <a:ext cx="4070" cy="391304"/>
          </a:xfrm>
          <a:prstGeom prst="line">
            <a:avLst/>
          </a:prstGeom>
          <a:ln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A6B49DF4-CC2C-46A2-AD93-E631ECE579E9}"/>
              </a:ext>
            </a:extLst>
          </p:cNvPr>
          <p:cNvSpPr/>
          <p:nvPr/>
        </p:nvSpPr>
        <p:spPr>
          <a:xfrm>
            <a:off x="7106653" y="3230320"/>
            <a:ext cx="1045029" cy="104502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B9D440-4771-4987-831E-97CCA9BEA539}"/>
              </a:ext>
            </a:extLst>
          </p:cNvPr>
          <p:cNvCxnSpPr/>
          <p:nvPr/>
        </p:nvCxnSpPr>
        <p:spPr>
          <a:xfrm flipV="1">
            <a:off x="7619118" y="4275349"/>
            <a:ext cx="4070" cy="391304"/>
          </a:xfrm>
          <a:prstGeom prst="line">
            <a:avLst/>
          </a:prstGeom>
          <a:ln>
            <a:solidFill>
              <a:schemeClr val="accent4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2101">
            <a:extLst>
              <a:ext uri="{FF2B5EF4-FFF2-40B4-BE49-F238E27FC236}">
                <a16:creationId xmlns:a16="http://schemas.microsoft.com/office/drawing/2014/main" id="{15C09585-DEDD-4BE6-BA5B-3CEB1BF411F7}"/>
              </a:ext>
            </a:extLst>
          </p:cNvPr>
          <p:cNvSpPr>
            <a:spLocks noEditPoints="1"/>
          </p:cNvSpPr>
          <p:nvPr/>
        </p:nvSpPr>
        <p:spPr bwMode="auto">
          <a:xfrm>
            <a:off x="4393210" y="3574235"/>
            <a:ext cx="358898" cy="376247"/>
          </a:xfrm>
          <a:custGeom>
            <a:avLst/>
            <a:gdLst>
              <a:gd name="T0" fmla="*/ 154 w 154"/>
              <a:gd name="T1" fmla="*/ 22 h 160"/>
              <a:gd name="T2" fmla="*/ 77 w 154"/>
              <a:gd name="T3" fmla="*/ 0 h 160"/>
              <a:gd name="T4" fmla="*/ 0 w 154"/>
              <a:gd name="T5" fmla="*/ 22 h 160"/>
              <a:gd name="T6" fmla="*/ 6 w 154"/>
              <a:gd name="T7" fmla="*/ 30 h 160"/>
              <a:gd name="T8" fmla="*/ 58 w 154"/>
              <a:gd name="T9" fmla="*/ 102 h 160"/>
              <a:gd name="T10" fmla="*/ 58 w 154"/>
              <a:gd name="T11" fmla="*/ 156 h 160"/>
              <a:gd name="T12" fmla="*/ 60 w 154"/>
              <a:gd name="T13" fmla="*/ 159 h 160"/>
              <a:gd name="T14" fmla="*/ 62 w 154"/>
              <a:gd name="T15" fmla="*/ 160 h 160"/>
              <a:gd name="T16" fmla="*/ 95 w 154"/>
              <a:gd name="T17" fmla="*/ 127 h 160"/>
              <a:gd name="T18" fmla="*/ 95 w 154"/>
              <a:gd name="T19" fmla="*/ 102 h 160"/>
              <a:gd name="T20" fmla="*/ 148 w 154"/>
              <a:gd name="T21" fmla="*/ 30 h 160"/>
              <a:gd name="T22" fmla="*/ 148 w 154"/>
              <a:gd name="T23" fmla="*/ 30 h 160"/>
              <a:gd name="T24" fmla="*/ 154 w 154"/>
              <a:gd name="T25" fmla="*/ 22 h 160"/>
              <a:gd name="T26" fmla="*/ 77 w 154"/>
              <a:gd name="T27" fmla="*/ 6 h 160"/>
              <a:gd name="T28" fmla="*/ 147 w 154"/>
              <a:gd name="T29" fmla="*/ 22 h 160"/>
              <a:gd name="T30" fmla="*/ 144 w 154"/>
              <a:gd name="T31" fmla="*/ 26 h 160"/>
              <a:gd name="T32" fmla="*/ 144 w 154"/>
              <a:gd name="T33" fmla="*/ 26 h 160"/>
              <a:gd name="T34" fmla="*/ 144 w 154"/>
              <a:gd name="T35" fmla="*/ 26 h 160"/>
              <a:gd name="T36" fmla="*/ 77 w 154"/>
              <a:gd name="T37" fmla="*/ 37 h 160"/>
              <a:gd name="T38" fmla="*/ 10 w 154"/>
              <a:gd name="T39" fmla="*/ 26 h 160"/>
              <a:gd name="T40" fmla="*/ 10 w 154"/>
              <a:gd name="T41" fmla="*/ 26 h 160"/>
              <a:gd name="T42" fmla="*/ 8 w 154"/>
              <a:gd name="T43" fmla="*/ 25 h 160"/>
              <a:gd name="T44" fmla="*/ 6 w 154"/>
              <a:gd name="T45" fmla="*/ 22 h 160"/>
              <a:gd name="T46" fmla="*/ 77 w 154"/>
              <a:gd name="T47" fmla="*/ 6 h 160"/>
              <a:gd name="T48" fmla="*/ 89 w 154"/>
              <a:gd name="T49" fmla="*/ 125 h 160"/>
              <a:gd name="T50" fmla="*/ 65 w 154"/>
              <a:gd name="T51" fmla="*/ 149 h 160"/>
              <a:gd name="T52" fmla="*/ 65 w 154"/>
              <a:gd name="T53" fmla="*/ 104 h 160"/>
              <a:gd name="T54" fmla="*/ 89 w 154"/>
              <a:gd name="T55" fmla="*/ 104 h 160"/>
              <a:gd name="T56" fmla="*/ 89 w 154"/>
              <a:gd name="T57" fmla="*/ 125 h 160"/>
              <a:gd name="T58" fmla="*/ 91 w 154"/>
              <a:gd name="T59" fmla="*/ 98 h 160"/>
              <a:gd name="T60" fmla="*/ 63 w 154"/>
              <a:gd name="T61" fmla="*/ 98 h 160"/>
              <a:gd name="T62" fmla="*/ 17 w 154"/>
              <a:gd name="T63" fmla="*/ 36 h 160"/>
              <a:gd name="T64" fmla="*/ 77 w 154"/>
              <a:gd name="T65" fmla="*/ 43 h 160"/>
              <a:gd name="T66" fmla="*/ 136 w 154"/>
              <a:gd name="T67" fmla="*/ 36 h 160"/>
              <a:gd name="T68" fmla="*/ 91 w 154"/>
              <a:gd name="T69" fmla="*/ 98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54" h="160">
                <a:moveTo>
                  <a:pt x="154" y="22"/>
                </a:moveTo>
                <a:cubicBezTo>
                  <a:pt x="154" y="7"/>
                  <a:pt x="115" y="0"/>
                  <a:pt x="77" y="0"/>
                </a:cubicBezTo>
                <a:cubicBezTo>
                  <a:pt x="39" y="0"/>
                  <a:pt x="0" y="7"/>
                  <a:pt x="0" y="22"/>
                </a:cubicBezTo>
                <a:cubicBezTo>
                  <a:pt x="0" y="25"/>
                  <a:pt x="2" y="28"/>
                  <a:pt x="6" y="30"/>
                </a:cubicBezTo>
                <a:cubicBezTo>
                  <a:pt x="58" y="102"/>
                  <a:pt x="58" y="102"/>
                  <a:pt x="58" y="102"/>
                </a:cubicBezTo>
                <a:cubicBezTo>
                  <a:pt x="58" y="156"/>
                  <a:pt x="58" y="156"/>
                  <a:pt x="58" y="156"/>
                </a:cubicBezTo>
                <a:cubicBezTo>
                  <a:pt x="58" y="158"/>
                  <a:pt x="59" y="159"/>
                  <a:pt x="60" y="159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95" y="127"/>
                  <a:pt x="95" y="127"/>
                  <a:pt x="95" y="127"/>
                </a:cubicBezTo>
                <a:cubicBezTo>
                  <a:pt x="95" y="102"/>
                  <a:pt x="95" y="102"/>
                  <a:pt x="95" y="102"/>
                </a:cubicBezTo>
                <a:cubicBezTo>
                  <a:pt x="148" y="30"/>
                  <a:pt x="148" y="30"/>
                  <a:pt x="148" y="30"/>
                </a:cubicBezTo>
                <a:cubicBezTo>
                  <a:pt x="148" y="30"/>
                  <a:pt x="148" y="30"/>
                  <a:pt x="148" y="30"/>
                </a:cubicBezTo>
                <a:cubicBezTo>
                  <a:pt x="152" y="28"/>
                  <a:pt x="154" y="25"/>
                  <a:pt x="154" y="22"/>
                </a:cubicBezTo>
                <a:close/>
                <a:moveTo>
                  <a:pt x="77" y="6"/>
                </a:moveTo>
                <a:cubicBezTo>
                  <a:pt x="120" y="6"/>
                  <a:pt x="147" y="15"/>
                  <a:pt x="147" y="22"/>
                </a:cubicBezTo>
                <a:cubicBezTo>
                  <a:pt x="147" y="23"/>
                  <a:pt x="146" y="24"/>
                  <a:pt x="144" y="26"/>
                </a:cubicBezTo>
                <a:cubicBezTo>
                  <a:pt x="144" y="26"/>
                  <a:pt x="144" y="26"/>
                  <a:pt x="144" y="26"/>
                </a:cubicBezTo>
                <a:cubicBezTo>
                  <a:pt x="144" y="26"/>
                  <a:pt x="144" y="26"/>
                  <a:pt x="144" y="26"/>
                </a:cubicBezTo>
                <a:cubicBezTo>
                  <a:pt x="135" y="31"/>
                  <a:pt x="111" y="37"/>
                  <a:pt x="77" y="37"/>
                </a:cubicBezTo>
                <a:cubicBezTo>
                  <a:pt x="43" y="37"/>
                  <a:pt x="18" y="31"/>
                  <a:pt x="10" y="26"/>
                </a:cubicBezTo>
                <a:cubicBezTo>
                  <a:pt x="10" y="26"/>
                  <a:pt x="10" y="26"/>
                  <a:pt x="10" y="26"/>
                </a:cubicBezTo>
                <a:cubicBezTo>
                  <a:pt x="8" y="25"/>
                  <a:pt x="8" y="25"/>
                  <a:pt x="8" y="25"/>
                </a:cubicBezTo>
                <a:cubicBezTo>
                  <a:pt x="7" y="24"/>
                  <a:pt x="6" y="23"/>
                  <a:pt x="6" y="22"/>
                </a:cubicBezTo>
                <a:cubicBezTo>
                  <a:pt x="6" y="15"/>
                  <a:pt x="34" y="6"/>
                  <a:pt x="77" y="6"/>
                </a:cubicBezTo>
                <a:close/>
                <a:moveTo>
                  <a:pt x="89" y="125"/>
                </a:moveTo>
                <a:cubicBezTo>
                  <a:pt x="65" y="149"/>
                  <a:pt x="65" y="149"/>
                  <a:pt x="65" y="149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89" y="104"/>
                  <a:pt x="89" y="104"/>
                  <a:pt x="89" y="104"/>
                </a:cubicBezTo>
                <a:lnTo>
                  <a:pt x="89" y="125"/>
                </a:lnTo>
                <a:close/>
                <a:moveTo>
                  <a:pt x="91" y="98"/>
                </a:moveTo>
                <a:cubicBezTo>
                  <a:pt x="63" y="98"/>
                  <a:pt x="63" y="98"/>
                  <a:pt x="63" y="98"/>
                </a:cubicBezTo>
                <a:cubicBezTo>
                  <a:pt x="17" y="36"/>
                  <a:pt x="17" y="36"/>
                  <a:pt x="17" y="36"/>
                </a:cubicBezTo>
                <a:cubicBezTo>
                  <a:pt x="32" y="40"/>
                  <a:pt x="54" y="43"/>
                  <a:pt x="77" y="43"/>
                </a:cubicBezTo>
                <a:cubicBezTo>
                  <a:pt x="99" y="43"/>
                  <a:pt x="122" y="40"/>
                  <a:pt x="136" y="36"/>
                </a:cubicBezTo>
                <a:lnTo>
                  <a:pt x="91" y="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2112">
            <a:extLst>
              <a:ext uri="{FF2B5EF4-FFF2-40B4-BE49-F238E27FC236}">
                <a16:creationId xmlns:a16="http://schemas.microsoft.com/office/drawing/2014/main" id="{84060DA3-1908-41E0-A5F1-09E1D8F8666A}"/>
              </a:ext>
            </a:extLst>
          </p:cNvPr>
          <p:cNvSpPr>
            <a:spLocks noEditPoints="1"/>
          </p:cNvSpPr>
          <p:nvPr/>
        </p:nvSpPr>
        <p:spPr bwMode="auto">
          <a:xfrm>
            <a:off x="7468136" y="3583760"/>
            <a:ext cx="310105" cy="376247"/>
          </a:xfrm>
          <a:custGeom>
            <a:avLst/>
            <a:gdLst>
              <a:gd name="T0" fmla="*/ 123 w 133"/>
              <a:gd name="T1" fmla="*/ 155 h 160"/>
              <a:gd name="T2" fmla="*/ 109 w 133"/>
              <a:gd name="T3" fmla="*/ 144 h 160"/>
              <a:gd name="T4" fmla="*/ 100 w 133"/>
              <a:gd name="T5" fmla="*/ 99 h 160"/>
              <a:gd name="T6" fmla="*/ 100 w 133"/>
              <a:gd name="T7" fmla="*/ 61 h 160"/>
              <a:gd name="T8" fmla="*/ 109 w 133"/>
              <a:gd name="T9" fmla="*/ 16 h 160"/>
              <a:gd name="T10" fmla="*/ 123 w 133"/>
              <a:gd name="T11" fmla="*/ 5 h 160"/>
              <a:gd name="T12" fmla="*/ 133 w 133"/>
              <a:gd name="T13" fmla="*/ 3 h 160"/>
              <a:gd name="T14" fmla="*/ 123 w 133"/>
              <a:gd name="T15" fmla="*/ 0 h 160"/>
              <a:gd name="T16" fmla="*/ 13 w 133"/>
              <a:gd name="T17" fmla="*/ 0 h 160"/>
              <a:gd name="T18" fmla="*/ 3 w 133"/>
              <a:gd name="T19" fmla="*/ 0 h 160"/>
              <a:gd name="T20" fmla="*/ 3 w 133"/>
              <a:gd name="T21" fmla="*/ 5 h 160"/>
              <a:gd name="T22" fmla="*/ 11 w 133"/>
              <a:gd name="T23" fmla="*/ 16 h 160"/>
              <a:gd name="T24" fmla="*/ 24 w 133"/>
              <a:gd name="T25" fmla="*/ 43 h 160"/>
              <a:gd name="T26" fmla="*/ 62 w 133"/>
              <a:gd name="T27" fmla="*/ 80 h 160"/>
              <a:gd name="T28" fmla="*/ 24 w 133"/>
              <a:gd name="T29" fmla="*/ 117 h 160"/>
              <a:gd name="T30" fmla="*/ 11 w 133"/>
              <a:gd name="T31" fmla="*/ 144 h 160"/>
              <a:gd name="T32" fmla="*/ 3 w 133"/>
              <a:gd name="T33" fmla="*/ 155 h 160"/>
              <a:gd name="T34" fmla="*/ 3 w 133"/>
              <a:gd name="T35" fmla="*/ 160 h 160"/>
              <a:gd name="T36" fmla="*/ 13 w 133"/>
              <a:gd name="T37" fmla="*/ 160 h 160"/>
              <a:gd name="T38" fmla="*/ 123 w 133"/>
              <a:gd name="T39" fmla="*/ 160 h 160"/>
              <a:gd name="T40" fmla="*/ 133 w 133"/>
              <a:gd name="T41" fmla="*/ 157 h 160"/>
              <a:gd name="T42" fmla="*/ 16 w 133"/>
              <a:gd name="T43" fmla="*/ 11 h 160"/>
              <a:gd name="T44" fmla="*/ 117 w 133"/>
              <a:gd name="T45" fmla="*/ 5 h 160"/>
              <a:gd name="T46" fmla="*/ 109 w 133"/>
              <a:gd name="T47" fmla="*/ 11 h 160"/>
              <a:gd name="T48" fmla="*/ 16 w 133"/>
              <a:gd name="T49" fmla="*/ 11 h 160"/>
              <a:gd name="T50" fmla="*/ 29 w 133"/>
              <a:gd name="T51" fmla="*/ 43 h 160"/>
              <a:gd name="T52" fmla="*/ 104 w 133"/>
              <a:gd name="T53" fmla="*/ 16 h 160"/>
              <a:gd name="T54" fmla="*/ 97 w 133"/>
              <a:gd name="T55" fmla="*/ 57 h 160"/>
              <a:gd name="T56" fmla="*/ 37 w 133"/>
              <a:gd name="T57" fmla="*/ 57 h 160"/>
              <a:gd name="T58" fmla="*/ 37 w 133"/>
              <a:gd name="T59" fmla="*/ 103 h 160"/>
              <a:gd name="T60" fmla="*/ 97 w 133"/>
              <a:gd name="T61" fmla="*/ 103 h 160"/>
              <a:gd name="T62" fmla="*/ 104 w 133"/>
              <a:gd name="T63" fmla="*/ 144 h 160"/>
              <a:gd name="T64" fmla="*/ 29 w 133"/>
              <a:gd name="T65" fmla="*/ 117 h 160"/>
              <a:gd name="T66" fmla="*/ 24 w 133"/>
              <a:gd name="T67" fmla="*/ 149 h 160"/>
              <a:gd name="T68" fmla="*/ 117 w 133"/>
              <a:gd name="T69" fmla="*/ 149 h 160"/>
              <a:gd name="T70" fmla="*/ 16 w 133"/>
              <a:gd name="T71" fmla="*/ 155 h 160"/>
              <a:gd name="T72" fmla="*/ 55 w 133"/>
              <a:gd name="T73" fmla="*/ 56 h 160"/>
              <a:gd name="T74" fmla="*/ 53 w 133"/>
              <a:gd name="T75" fmla="*/ 61 h 160"/>
              <a:gd name="T76" fmla="*/ 39 w 133"/>
              <a:gd name="T77" fmla="*/ 52 h 160"/>
              <a:gd name="T78" fmla="*/ 35 w 133"/>
              <a:gd name="T79" fmla="*/ 37 h 160"/>
              <a:gd name="T80" fmla="*/ 40 w 133"/>
              <a:gd name="T81" fmla="*/ 37 h 160"/>
              <a:gd name="T82" fmla="*/ 42 w 133"/>
              <a:gd name="T83" fmla="*/ 48 h 160"/>
              <a:gd name="T84" fmla="*/ 99 w 133"/>
              <a:gd name="T85" fmla="*/ 119 h 160"/>
              <a:gd name="T86" fmla="*/ 96 w 133"/>
              <a:gd name="T87" fmla="*/ 128 h 160"/>
              <a:gd name="T88" fmla="*/ 93 w 133"/>
              <a:gd name="T89" fmla="*/ 119 h 160"/>
              <a:gd name="T90" fmla="*/ 79 w 133"/>
              <a:gd name="T91" fmla="*/ 106 h 160"/>
              <a:gd name="T92" fmla="*/ 81 w 133"/>
              <a:gd name="T93" fmla="*/ 102 h 160"/>
              <a:gd name="T94" fmla="*/ 99 w 133"/>
              <a:gd name="T95" fmla="*/ 11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33" h="160">
                <a:moveTo>
                  <a:pt x="131" y="155"/>
                </a:moveTo>
                <a:cubicBezTo>
                  <a:pt x="123" y="155"/>
                  <a:pt x="123" y="155"/>
                  <a:pt x="123" y="155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09" y="144"/>
                  <a:pt x="109" y="144"/>
                  <a:pt x="109" y="144"/>
                </a:cubicBezTo>
                <a:cubicBezTo>
                  <a:pt x="109" y="117"/>
                  <a:pt x="109" y="117"/>
                  <a:pt x="109" y="117"/>
                </a:cubicBezTo>
                <a:cubicBezTo>
                  <a:pt x="109" y="110"/>
                  <a:pt x="106" y="103"/>
                  <a:pt x="100" y="99"/>
                </a:cubicBezTo>
                <a:cubicBezTo>
                  <a:pt x="71" y="80"/>
                  <a:pt x="71" y="80"/>
                  <a:pt x="71" y="80"/>
                </a:cubicBezTo>
                <a:cubicBezTo>
                  <a:pt x="100" y="61"/>
                  <a:pt x="100" y="61"/>
                  <a:pt x="100" y="61"/>
                </a:cubicBezTo>
                <a:cubicBezTo>
                  <a:pt x="106" y="57"/>
                  <a:pt x="109" y="50"/>
                  <a:pt x="109" y="43"/>
                </a:cubicBezTo>
                <a:cubicBezTo>
                  <a:pt x="109" y="16"/>
                  <a:pt x="109" y="16"/>
                  <a:pt x="109" y="16"/>
                </a:cubicBezTo>
                <a:cubicBezTo>
                  <a:pt x="123" y="16"/>
                  <a:pt x="123" y="16"/>
                  <a:pt x="123" y="16"/>
                </a:cubicBezTo>
                <a:cubicBezTo>
                  <a:pt x="123" y="5"/>
                  <a:pt x="123" y="5"/>
                  <a:pt x="123" y="5"/>
                </a:cubicBezTo>
                <a:cubicBezTo>
                  <a:pt x="131" y="5"/>
                  <a:pt x="131" y="5"/>
                  <a:pt x="131" y="5"/>
                </a:cubicBezTo>
                <a:cubicBezTo>
                  <a:pt x="132" y="5"/>
                  <a:pt x="133" y="4"/>
                  <a:pt x="133" y="3"/>
                </a:cubicBezTo>
                <a:cubicBezTo>
                  <a:pt x="133" y="1"/>
                  <a:pt x="132" y="0"/>
                  <a:pt x="131" y="0"/>
                </a:cubicBezTo>
                <a:cubicBezTo>
                  <a:pt x="123" y="0"/>
                  <a:pt x="123" y="0"/>
                  <a:pt x="123" y="0"/>
                </a:cubicBezTo>
                <a:cubicBezTo>
                  <a:pt x="120" y="0"/>
                  <a:pt x="120" y="0"/>
                  <a:pt x="120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16"/>
                  <a:pt x="11" y="16"/>
                  <a:pt x="11" y="16"/>
                </a:cubicBezTo>
                <a:cubicBezTo>
                  <a:pt x="24" y="16"/>
                  <a:pt x="24" y="16"/>
                  <a:pt x="24" y="16"/>
                </a:cubicBezTo>
                <a:cubicBezTo>
                  <a:pt x="24" y="43"/>
                  <a:pt x="24" y="43"/>
                  <a:pt x="24" y="43"/>
                </a:cubicBezTo>
                <a:cubicBezTo>
                  <a:pt x="24" y="50"/>
                  <a:pt x="28" y="57"/>
                  <a:pt x="34" y="61"/>
                </a:cubicBezTo>
                <a:cubicBezTo>
                  <a:pt x="62" y="80"/>
                  <a:pt x="62" y="80"/>
                  <a:pt x="62" y="80"/>
                </a:cubicBezTo>
                <a:cubicBezTo>
                  <a:pt x="34" y="99"/>
                  <a:pt x="34" y="99"/>
                  <a:pt x="34" y="99"/>
                </a:cubicBezTo>
                <a:cubicBezTo>
                  <a:pt x="28" y="103"/>
                  <a:pt x="24" y="110"/>
                  <a:pt x="24" y="117"/>
                </a:cubicBezTo>
                <a:cubicBezTo>
                  <a:pt x="24" y="144"/>
                  <a:pt x="24" y="144"/>
                  <a:pt x="24" y="144"/>
                </a:cubicBezTo>
                <a:cubicBezTo>
                  <a:pt x="11" y="144"/>
                  <a:pt x="11" y="144"/>
                  <a:pt x="11" y="144"/>
                </a:cubicBezTo>
                <a:cubicBezTo>
                  <a:pt x="11" y="155"/>
                  <a:pt x="11" y="155"/>
                  <a:pt x="11" y="155"/>
                </a:cubicBezTo>
                <a:cubicBezTo>
                  <a:pt x="3" y="155"/>
                  <a:pt x="3" y="155"/>
                  <a:pt x="3" y="155"/>
                </a:cubicBezTo>
                <a:cubicBezTo>
                  <a:pt x="1" y="155"/>
                  <a:pt x="0" y="156"/>
                  <a:pt x="0" y="157"/>
                </a:cubicBezTo>
                <a:cubicBezTo>
                  <a:pt x="0" y="159"/>
                  <a:pt x="1" y="160"/>
                  <a:pt x="3" y="160"/>
                </a:cubicBezTo>
                <a:cubicBezTo>
                  <a:pt x="11" y="160"/>
                  <a:pt x="11" y="160"/>
                  <a:pt x="11" y="160"/>
                </a:cubicBezTo>
                <a:cubicBezTo>
                  <a:pt x="13" y="160"/>
                  <a:pt x="13" y="160"/>
                  <a:pt x="13" y="160"/>
                </a:cubicBezTo>
                <a:cubicBezTo>
                  <a:pt x="120" y="160"/>
                  <a:pt x="120" y="160"/>
                  <a:pt x="120" y="160"/>
                </a:cubicBezTo>
                <a:cubicBezTo>
                  <a:pt x="123" y="160"/>
                  <a:pt x="123" y="160"/>
                  <a:pt x="123" y="160"/>
                </a:cubicBezTo>
                <a:cubicBezTo>
                  <a:pt x="131" y="160"/>
                  <a:pt x="131" y="160"/>
                  <a:pt x="131" y="160"/>
                </a:cubicBezTo>
                <a:cubicBezTo>
                  <a:pt x="132" y="160"/>
                  <a:pt x="133" y="159"/>
                  <a:pt x="133" y="157"/>
                </a:cubicBezTo>
                <a:cubicBezTo>
                  <a:pt x="133" y="156"/>
                  <a:pt x="132" y="155"/>
                  <a:pt x="131" y="155"/>
                </a:cubicBezTo>
                <a:close/>
                <a:moveTo>
                  <a:pt x="16" y="11"/>
                </a:moveTo>
                <a:cubicBezTo>
                  <a:pt x="16" y="5"/>
                  <a:pt x="16" y="5"/>
                  <a:pt x="16" y="5"/>
                </a:cubicBezTo>
                <a:cubicBezTo>
                  <a:pt x="117" y="5"/>
                  <a:pt x="117" y="5"/>
                  <a:pt x="117" y="5"/>
                </a:cubicBezTo>
                <a:cubicBezTo>
                  <a:pt x="117" y="11"/>
                  <a:pt x="117" y="11"/>
                  <a:pt x="117" y="11"/>
                </a:cubicBezTo>
                <a:cubicBezTo>
                  <a:pt x="109" y="11"/>
                  <a:pt x="109" y="11"/>
                  <a:pt x="109" y="11"/>
                </a:cubicBezTo>
                <a:cubicBezTo>
                  <a:pt x="24" y="11"/>
                  <a:pt x="24" y="11"/>
                  <a:pt x="24" y="11"/>
                </a:cubicBezTo>
                <a:lnTo>
                  <a:pt x="16" y="11"/>
                </a:lnTo>
                <a:close/>
                <a:moveTo>
                  <a:pt x="37" y="57"/>
                </a:moveTo>
                <a:cubicBezTo>
                  <a:pt x="32" y="54"/>
                  <a:pt x="29" y="49"/>
                  <a:pt x="29" y="43"/>
                </a:cubicBezTo>
                <a:cubicBezTo>
                  <a:pt x="29" y="16"/>
                  <a:pt x="29" y="16"/>
                  <a:pt x="29" y="16"/>
                </a:cubicBezTo>
                <a:cubicBezTo>
                  <a:pt x="104" y="16"/>
                  <a:pt x="104" y="16"/>
                  <a:pt x="104" y="16"/>
                </a:cubicBezTo>
                <a:cubicBezTo>
                  <a:pt x="104" y="43"/>
                  <a:pt x="104" y="43"/>
                  <a:pt x="104" y="43"/>
                </a:cubicBezTo>
                <a:cubicBezTo>
                  <a:pt x="104" y="49"/>
                  <a:pt x="101" y="54"/>
                  <a:pt x="97" y="57"/>
                </a:cubicBezTo>
                <a:cubicBezTo>
                  <a:pt x="67" y="77"/>
                  <a:pt x="67" y="77"/>
                  <a:pt x="67" y="77"/>
                </a:cubicBezTo>
                <a:lnTo>
                  <a:pt x="37" y="57"/>
                </a:lnTo>
                <a:close/>
                <a:moveTo>
                  <a:pt x="29" y="117"/>
                </a:moveTo>
                <a:cubicBezTo>
                  <a:pt x="29" y="111"/>
                  <a:pt x="32" y="106"/>
                  <a:pt x="37" y="103"/>
                </a:cubicBezTo>
                <a:cubicBezTo>
                  <a:pt x="67" y="83"/>
                  <a:pt x="67" y="83"/>
                  <a:pt x="67" y="83"/>
                </a:cubicBezTo>
                <a:cubicBezTo>
                  <a:pt x="97" y="103"/>
                  <a:pt x="97" y="103"/>
                  <a:pt x="97" y="103"/>
                </a:cubicBezTo>
                <a:cubicBezTo>
                  <a:pt x="101" y="106"/>
                  <a:pt x="104" y="111"/>
                  <a:pt x="104" y="117"/>
                </a:cubicBezTo>
                <a:cubicBezTo>
                  <a:pt x="104" y="144"/>
                  <a:pt x="104" y="144"/>
                  <a:pt x="104" y="144"/>
                </a:cubicBezTo>
                <a:cubicBezTo>
                  <a:pt x="29" y="144"/>
                  <a:pt x="29" y="144"/>
                  <a:pt x="29" y="144"/>
                </a:cubicBezTo>
                <a:lnTo>
                  <a:pt x="29" y="117"/>
                </a:lnTo>
                <a:close/>
                <a:moveTo>
                  <a:pt x="16" y="149"/>
                </a:moveTo>
                <a:cubicBezTo>
                  <a:pt x="24" y="149"/>
                  <a:pt x="24" y="149"/>
                  <a:pt x="24" y="149"/>
                </a:cubicBezTo>
                <a:cubicBezTo>
                  <a:pt x="109" y="149"/>
                  <a:pt x="109" y="149"/>
                  <a:pt x="109" y="149"/>
                </a:cubicBezTo>
                <a:cubicBezTo>
                  <a:pt x="117" y="149"/>
                  <a:pt x="117" y="149"/>
                  <a:pt x="117" y="149"/>
                </a:cubicBezTo>
                <a:cubicBezTo>
                  <a:pt x="117" y="155"/>
                  <a:pt x="117" y="155"/>
                  <a:pt x="117" y="155"/>
                </a:cubicBezTo>
                <a:cubicBezTo>
                  <a:pt x="16" y="155"/>
                  <a:pt x="16" y="155"/>
                  <a:pt x="16" y="155"/>
                </a:cubicBezTo>
                <a:lnTo>
                  <a:pt x="16" y="149"/>
                </a:lnTo>
                <a:close/>
                <a:moveTo>
                  <a:pt x="55" y="56"/>
                </a:moveTo>
                <a:cubicBezTo>
                  <a:pt x="56" y="57"/>
                  <a:pt x="56" y="59"/>
                  <a:pt x="56" y="60"/>
                </a:cubicBezTo>
                <a:cubicBezTo>
                  <a:pt x="55" y="61"/>
                  <a:pt x="54" y="61"/>
                  <a:pt x="53" y="61"/>
                </a:cubicBezTo>
                <a:cubicBezTo>
                  <a:pt x="53" y="61"/>
                  <a:pt x="52" y="61"/>
                  <a:pt x="52" y="61"/>
                </a:cubicBezTo>
                <a:cubicBezTo>
                  <a:pt x="39" y="52"/>
                  <a:pt x="39" y="52"/>
                  <a:pt x="39" y="52"/>
                </a:cubicBezTo>
                <a:cubicBezTo>
                  <a:pt x="36" y="50"/>
                  <a:pt x="35" y="47"/>
                  <a:pt x="35" y="43"/>
                </a:cubicBezTo>
                <a:cubicBezTo>
                  <a:pt x="35" y="37"/>
                  <a:pt x="35" y="37"/>
                  <a:pt x="35" y="37"/>
                </a:cubicBezTo>
                <a:cubicBezTo>
                  <a:pt x="35" y="36"/>
                  <a:pt x="36" y="35"/>
                  <a:pt x="37" y="35"/>
                </a:cubicBezTo>
                <a:cubicBezTo>
                  <a:pt x="39" y="35"/>
                  <a:pt x="40" y="36"/>
                  <a:pt x="40" y="37"/>
                </a:cubicBezTo>
                <a:cubicBezTo>
                  <a:pt x="40" y="43"/>
                  <a:pt x="40" y="43"/>
                  <a:pt x="40" y="43"/>
                </a:cubicBezTo>
                <a:cubicBezTo>
                  <a:pt x="40" y="45"/>
                  <a:pt x="41" y="47"/>
                  <a:pt x="42" y="48"/>
                </a:cubicBezTo>
                <a:lnTo>
                  <a:pt x="55" y="56"/>
                </a:lnTo>
                <a:close/>
                <a:moveTo>
                  <a:pt x="99" y="119"/>
                </a:moveTo>
                <a:cubicBezTo>
                  <a:pt x="99" y="125"/>
                  <a:pt x="99" y="125"/>
                  <a:pt x="99" y="125"/>
                </a:cubicBezTo>
                <a:cubicBezTo>
                  <a:pt x="99" y="126"/>
                  <a:pt x="97" y="128"/>
                  <a:pt x="96" y="128"/>
                </a:cubicBezTo>
                <a:cubicBezTo>
                  <a:pt x="95" y="128"/>
                  <a:pt x="93" y="126"/>
                  <a:pt x="93" y="125"/>
                </a:cubicBezTo>
                <a:cubicBezTo>
                  <a:pt x="93" y="119"/>
                  <a:pt x="93" y="119"/>
                  <a:pt x="93" y="119"/>
                </a:cubicBezTo>
                <a:cubicBezTo>
                  <a:pt x="93" y="117"/>
                  <a:pt x="92" y="115"/>
                  <a:pt x="91" y="114"/>
                </a:cubicBezTo>
                <a:cubicBezTo>
                  <a:pt x="79" y="106"/>
                  <a:pt x="79" y="106"/>
                  <a:pt x="79" y="106"/>
                </a:cubicBezTo>
                <a:cubicBezTo>
                  <a:pt x="77" y="105"/>
                  <a:pt x="77" y="104"/>
                  <a:pt x="78" y="103"/>
                </a:cubicBezTo>
                <a:cubicBezTo>
                  <a:pt x="79" y="101"/>
                  <a:pt x="80" y="101"/>
                  <a:pt x="81" y="102"/>
                </a:cubicBezTo>
                <a:cubicBezTo>
                  <a:pt x="94" y="110"/>
                  <a:pt x="94" y="110"/>
                  <a:pt x="94" y="110"/>
                </a:cubicBezTo>
                <a:cubicBezTo>
                  <a:pt x="97" y="112"/>
                  <a:pt x="99" y="115"/>
                  <a:pt x="99" y="11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2073">
            <a:extLst>
              <a:ext uri="{FF2B5EF4-FFF2-40B4-BE49-F238E27FC236}">
                <a16:creationId xmlns:a16="http://schemas.microsoft.com/office/drawing/2014/main" id="{31C1471E-97A7-4A62-B994-6EBC073E31E2}"/>
              </a:ext>
            </a:extLst>
          </p:cNvPr>
          <p:cNvSpPr>
            <a:spLocks noEditPoints="1"/>
          </p:cNvSpPr>
          <p:nvPr/>
        </p:nvSpPr>
        <p:spPr bwMode="auto">
          <a:xfrm>
            <a:off x="8962268" y="2944121"/>
            <a:ext cx="370825" cy="375162"/>
          </a:xfrm>
          <a:custGeom>
            <a:avLst/>
            <a:gdLst>
              <a:gd name="T0" fmla="*/ 91 w 159"/>
              <a:gd name="T1" fmla="*/ 157 h 160"/>
              <a:gd name="T2" fmla="*/ 88 w 159"/>
              <a:gd name="T3" fmla="*/ 160 h 160"/>
              <a:gd name="T4" fmla="*/ 80 w 159"/>
              <a:gd name="T5" fmla="*/ 74 h 160"/>
              <a:gd name="T6" fmla="*/ 86 w 159"/>
              <a:gd name="T7" fmla="*/ 72 h 160"/>
              <a:gd name="T8" fmla="*/ 83 w 159"/>
              <a:gd name="T9" fmla="*/ 0 h 160"/>
              <a:gd name="T10" fmla="*/ 41 w 159"/>
              <a:gd name="T11" fmla="*/ 13 h 160"/>
              <a:gd name="T12" fmla="*/ 44 w 159"/>
              <a:gd name="T13" fmla="*/ 18 h 160"/>
              <a:gd name="T14" fmla="*/ 83 w 159"/>
              <a:gd name="T15" fmla="*/ 5 h 160"/>
              <a:gd name="T16" fmla="*/ 153 w 159"/>
              <a:gd name="T17" fmla="*/ 87 h 160"/>
              <a:gd name="T18" fmla="*/ 156 w 159"/>
              <a:gd name="T19" fmla="*/ 89 h 160"/>
              <a:gd name="T20" fmla="*/ 150 w 159"/>
              <a:gd name="T21" fmla="*/ 45 h 160"/>
              <a:gd name="T22" fmla="*/ 33 w 159"/>
              <a:gd name="T23" fmla="*/ 23 h 160"/>
              <a:gd name="T24" fmla="*/ 13 w 159"/>
              <a:gd name="T25" fmla="*/ 109 h 160"/>
              <a:gd name="T26" fmla="*/ 17 w 159"/>
              <a:gd name="T27" fmla="*/ 111 h 160"/>
              <a:gd name="T28" fmla="*/ 33 w 159"/>
              <a:gd name="T29" fmla="*/ 26 h 160"/>
              <a:gd name="T30" fmla="*/ 61 w 159"/>
              <a:gd name="T31" fmla="*/ 21 h 160"/>
              <a:gd name="T32" fmla="*/ 30 w 159"/>
              <a:gd name="T33" fmla="*/ 97 h 160"/>
              <a:gd name="T34" fmla="*/ 34 w 159"/>
              <a:gd name="T35" fmla="*/ 138 h 160"/>
              <a:gd name="T36" fmla="*/ 36 w 159"/>
              <a:gd name="T37" fmla="*/ 97 h 160"/>
              <a:gd name="T38" fmla="*/ 63 w 159"/>
              <a:gd name="T39" fmla="*/ 26 h 160"/>
              <a:gd name="T40" fmla="*/ 133 w 159"/>
              <a:gd name="T41" fmla="*/ 59 h 160"/>
              <a:gd name="T42" fmla="*/ 140 w 159"/>
              <a:gd name="T43" fmla="*/ 133 h 160"/>
              <a:gd name="T44" fmla="*/ 138 w 159"/>
              <a:gd name="T45" fmla="*/ 57 h 160"/>
              <a:gd name="T46" fmla="*/ 83 w 159"/>
              <a:gd name="T47" fmla="*/ 33 h 160"/>
              <a:gd name="T48" fmla="*/ 72 w 159"/>
              <a:gd name="T49" fmla="*/ 37 h 160"/>
              <a:gd name="T50" fmla="*/ 83 w 159"/>
              <a:gd name="T51" fmla="*/ 38 h 160"/>
              <a:gd name="T52" fmla="*/ 121 w 159"/>
              <a:gd name="T53" fmla="*/ 144 h 160"/>
              <a:gd name="T54" fmla="*/ 124 w 159"/>
              <a:gd name="T55" fmla="*/ 146 h 160"/>
              <a:gd name="T56" fmla="*/ 120 w 159"/>
              <a:gd name="T57" fmla="*/ 57 h 160"/>
              <a:gd name="T58" fmla="*/ 63 w 159"/>
              <a:gd name="T59" fmla="*/ 44 h 160"/>
              <a:gd name="T60" fmla="*/ 60 w 159"/>
              <a:gd name="T61" fmla="*/ 40 h 160"/>
              <a:gd name="T62" fmla="*/ 50 w 159"/>
              <a:gd name="T63" fmla="*/ 138 h 160"/>
              <a:gd name="T64" fmla="*/ 56 w 159"/>
              <a:gd name="T65" fmla="*/ 138 h 160"/>
              <a:gd name="T66" fmla="*/ 63 w 159"/>
              <a:gd name="T67" fmla="*/ 44 h 160"/>
              <a:gd name="T68" fmla="*/ 107 w 159"/>
              <a:gd name="T69" fmla="*/ 127 h 160"/>
              <a:gd name="T70" fmla="*/ 104 w 159"/>
              <a:gd name="T71" fmla="*/ 130 h 160"/>
              <a:gd name="T72" fmla="*/ 105 w 159"/>
              <a:gd name="T73" fmla="*/ 152 h 160"/>
              <a:gd name="T74" fmla="*/ 107 w 159"/>
              <a:gd name="T75" fmla="*/ 155 h 160"/>
              <a:gd name="T76" fmla="*/ 110 w 159"/>
              <a:gd name="T77" fmla="*/ 138 h 160"/>
              <a:gd name="T78" fmla="*/ 83 w 159"/>
              <a:gd name="T79" fmla="*/ 52 h 160"/>
              <a:gd name="T80" fmla="*/ 63 w 159"/>
              <a:gd name="T81" fmla="*/ 81 h 160"/>
              <a:gd name="T82" fmla="*/ 69 w 159"/>
              <a:gd name="T83" fmla="*/ 155 h 160"/>
              <a:gd name="T84" fmla="*/ 68 w 159"/>
              <a:gd name="T85" fmla="*/ 79 h 160"/>
              <a:gd name="T86" fmla="*/ 83 w 159"/>
              <a:gd name="T87" fmla="*/ 57 h 160"/>
              <a:gd name="T88" fmla="*/ 105 w 159"/>
              <a:gd name="T89" fmla="*/ 117 h 160"/>
              <a:gd name="T90" fmla="*/ 108 w 159"/>
              <a:gd name="T91" fmla="*/ 119 h 160"/>
              <a:gd name="T92" fmla="*/ 103 w 159"/>
              <a:gd name="T93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9" h="160">
                <a:moveTo>
                  <a:pt x="86" y="72"/>
                </a:moveTo>
                <a:cubicBezTo>
                  <a:pt x="86" y="74"/>
                  <a:pt x="93" y="99"/>
                  <a:pt x="91" y="157"/>
                </a:cubicBezTo>
                <a:cubicBezTo>
                  <a:pt x="91" y="159"/>
                  <a:pt x="90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7" y="160"/>
                  <a:pt x="86" y="159"/>
                  <a:pt x="86" y="157"/>
                </a:cubicBezTo>
                <a:cubicBezTo>
                  <a:pt x="88" y="100"/>
                  <a:pt x="80" y="74"/>
                  <a:pt x="80" y="74"/>
                </a:cubicBezTo>
                <a:cubicBezTo>
                  <a:pt x="80" y="73"/>
                  <a:pt x="81" y="71"/>
                  <a:pt x="82" y="71"/>
                </a:cubicBezTo>
                <a:cubicBezTo>
                  <a:pt x="84" y="70"/>
                  <a:pt x="85" y="71"/>
                  <a:pt x="86" y="72"/>
                </a:cubicBezTo>
                <a:close/>
                <a:moveTo>
                  <a:pt x="150" y="45"/>
                </a:moveTo>
                <a:cubicBezTo>
                  <a:pt x="139" y="18"/>
                  <a:pt x="112" y="0"/>
                  <a:pt x="83" y="0"/>
                </a:cubicBezTo>
                <a:cubicBezTo>
                  <a:pt x="73" y="0"/>
                  <a:pt x="64" y="2"/>
                  <a:pt x="55" y="6"/>
                </a:cubicBezTo>
                <a:cubicBezTo>
                  <a:pt x="50" y="8"/>
                  <a:pt x="45" y="10"/>
                  <a:pt x="41" y="13"/>
                </a:cubicBezTo>
                <a:cubicBezTo>
                  <a:pt x="40" y="14"/>
                  <a:pt x="39" y="15"/>
                  <a:pt x="40" y="17"/>
                </a:cubicBezTo>
                <a:cubicBezTo>
                  <a:pt x="41" y="18"/>
                  <a:pt x="42" y="18"/>
                  <a:pt x="44" y="18"/>
                </a:cubicBezTo>
                <a:cubicBezTo>
                  <a:pt x="48" y="15"/>
                  <a:pt x="52" y="13"/>
                  <a:pt x="57" y="11"/>
                </a:cubicBezTo>
                <a:cubicBezTo>
                  <a:pt x="65" y="7"/>
                  <a:pt x="74" y="5"/>
                  <a:pt x="83" y="5"/>
                </a:cubicBezTo>
                <a:cubicBezTo>
                  <a:pt x="110" y="5"/>
                  <a:pt x="135" y="22"/>
                  <a:pt x="145" y="47"/>
                </a:cubicBezTo>
                <a:cubicBezTo>
                  <a:pt x="150" y="57"/>
                  <a:pt x="152" y="77"/>
                  <a:pt x="153" y="87"/>
                </a:cubicBezTo>
                <a:cubicBezTo>
                  <a:pt x="153" y="88"/>
                  <a:pt x="155" y="89"/>
                  <a:pt x="156" y="89"/>
                </a:cubicBezTo>
                <a:cubicBezTo>
                  <a:pt x="156" y="89"/>
                  <a:pt x="156" y="89"/>
                  <a:pt x="156" y="89"/>
                </a:cubicBezTo>
                <a:cubicBezTo>
                  <a:pt x="158" y="89"/>
                  <a:pt x="159" y="88"/>
                  <a:pt x="159" y="87"/>
                </a:cubicBezTo>
                <a:cubicBezTo>
                  <a:pt x="157" y="73"/>
                  <a:pt x="155" y="55"/>
                  <a:pt x="150" y="45"/>
                </a:cubicBezTo>
                <a:close/>
                <a:moveTo>
                  <a:pt x="33" y="26"/>
                </a:moveTo>
                <a:cubicBezTo>
                  <a:pt x="34" y="25"/>
                  <a:pt x="34" y="24"/>
                  <a:pt x="33" y="23"/>
                </a:cubicBezTo>
                <a:cubicBezTo>
                  <a:pt x="32" y="21"/>
                  <a:pt x="30" y="21"/>
                  <a:pt x="29" y="22"/>
                </a:cubicBezTo>
                <a:cubicBezTo>
                  <a:pt x="14" y="37"/>
                  <a:pt x="0" y="64"/>
                  <a:pt x="13" y="109"/>
                </a:cubicBezTo>
                <a:cubicBezTo>
                  <a:pt x="14" y="110"/>
                  <a:pt x="15" y="111"/>
                  <a:pt x="16" y="111"/>
                </a:cubicBezTo>
                <a:cubicBezTo>
                  <a:pt x="16" y="111"/>
                  <a:pt x="17" y="111"/>
                  <a:pt x="17" y="111"/>
                </a:cubicBezTo>
                <a:cubicBezTo>
                  <a:pt x="18" y="111"/>
                  <a:pt x="19" y="109"/>
                  <a:pt x="19" y="108"/>
                </a:cubicBezTo>
                <a:cubicBezTo>
                  <a:pt x="8" y="74"/>
                  <a:pt x="13" y="45"/>
                  <a:pt x="33" y="26"/>
                </a:cubicBezTo>
                <a:close/>
                <a:moveTo>
                  <a:pt x="85" y="16"/>
                </a:moveTo>
                <a:cubicBezTo>
                  <a:pt x="77" y="16"/>
                  <a:pt x="69" y="17"/>
                  <a:pt x="61" y="21"/>
                </a:cubicBezTo>
                <a:cubicBezTo>
                  <a:pt x="34" y="32"/>
                  <a:pt x="20" y="61"/>
                  <a:pt x="28" y="89"/>
                </a:cubicBezTo>
                <a:cubicBezTo>
                  <a:pt x="29" y="91"/>
                  <a:pt x="30" y="94"/>
                  <a:pt x="30" y="97"/>
                </a:cubicBezTo>
                <a:cubicBezTo>
                  <a:pt x="31" y="104"/>
                  <a:pt x="31" y="116"/>
                  <a:pt x="31" y="136"/>
                </a:cubicBezTo>
                <a:cubicBezTo>
                  <a:pt x="31" y="137"/>
                  <a:pt x="32" y="138"/>
                  <a:pt x="34" y="138"/>
                </a:cubicBezTo>
                <a:cubicBezTo>
                  <a:pt x="35" y="138"/>
                  <a:pt x="37" y="137"/>
                  <a:pt x="37" y="136"/>
                </a:cubicBezTo>
                <a:cubicBezTo>
                  <a:pt x="37" y="115"/>
                  <a:pt x="37" y="104"/>
                  <a:pt x="36" y="97"/>
                </a:cubicBezTo>
                <a:cubicBezTo>
                  <a:pt x="35" y="93"/>
                  <a:pt x="34" y="90"/>
                  <a:pt x="33" y="87"/>
                </a:cubicBezTo>
                <a:cubicBezTo>
                  <a:pt x="26" y="62"/>
                  <a:pt x="39" y="36"/>
                  <a:pt x="63" y="26"/>
                </a:cubicBezTo>
                <a:cubicBezTo>
                  <a:pt x="70" y="23"/>
                  <a:pt x="77" y="21"/>
                  <a:pt x="85" y="22"/>
                </a:cubicBezTo>
                <a:cubicBezTo>
                  <a:pt x="104" y="22"/>
                  <a:pt x="126" y="39"/>
                  <a:pt x="133" y="59"/>
                </a:cubicBezTo>
                <a:cubicBezTo>
                  <a:pt x="138" y="76"/>
                  <a:pt x="138" y="104"/>
                  <a:pt x="138" y="130"/>
                </a:cubicBezTo>
                <a:cubicBezTo>
                  <a:pt x="138" y="132"/>
                  <a:pt x="139" y="133"/>
                  <a:pt x="140" y="133"/>
                </a:cubicBezTo>
                <a:cubicBezTo>
                  <a:pt x="142" y="133"/>
                  <a:pt x="143" y="132"/>
                  <a:pt x="143" y="130"/>
                </a:cubicBezTo>
                <a:cubicBezTo>
                  <a:pt x="144" y="104"/>
                  <a:pt x="144" y="75"/>
                  <a:pt x="138" y="57"/>
                </a:cubicBezTo>
                <a:cubicBezTo>
                  <a:pt x="130" y="35"/>
                  <a:pt x="107" y="17"/>
                  <a:pt x="85" y="16"/>
                </a:cubicBezTo>
                <a:close/>
                <a:moveTo>
                  <a:pt x="83" y="33"/>
                </a:moveTo>
                <a:cubicBezTo>
                  <a:pt x="80" y="33"/>
                  <a:pt x="77" y="33"/>
                  <a:pt x="74" y="33"/>
                </a:cubicBezTo>
                <a:cubicBezTo>
                  <a:pt x="73" y="34"/>
                  <a:pt x="72" y="35"/>
                  <a:pt x="72" y="37"/>
                </a:cubicBezTo>
                <a:cubicBezTo>
                  <a:pt x="72" y="38"/>
                  <a:pt x="74" y="39"/>
                  <a:pt x="75" y="39"/>
                </a:cubicBezTo>
                <a:cubicBezTo>
                  <a:pt x="78" y="38"/>
                  <a:pt x="80" y="38"/>
                  <a:pt x="83" y="38"/>
                </a:cubicBezTo>
                <a:cubicBezTo>
                  <a:pt x="97" y="38"/>
                  <a:pt x="110" y="46"/>
                  <a:pt x="115" y="59"/>
                </a:cubicBezTo>
                <a:cubicBezTo>
                  <a:pt x="122" y="75"/>
                  <a:pt x="122" y="100"/>
                  <a:pt x="121" y="144"/>
                </a:cubicBezTo>
                <a:cubicBezTo>
                  <a:pt x="121" y="145"/>
                  <a:pt x="122" y="146"/>
                  <a:pt x="124" y="146"/>
                </a:cubicBezTo>
                <a:cubicBezTo>
                  <a:pt x="124" y="146"/>
                  <a:pt x="124" y="146"/>
                  <a:pt x="124" y="146"/>
                </a:cubicBezTo>
                <a:cubicBezTo>
                  <a:pt x="125" y="146"/>
                  <a:pt x="126" y="145"/>
                  <a:pt x="126" y="144"/>
                </a:cubicBezTo>
                <a:cubicBezTo>
                  <a:pt x="128" y="98"/>
                  <a:pt x="127" y="74"/>
                  <a:pt x="120" y="57"/>
                </a:cubicBezTo>
                <a:cubicBezTo>
                  <a:pt x="114" y="42"/>
                  <a:pt x="99" y="33"/>
                  <a:pt x="83" y="33"/>
                </a:cubicBezTo>
                <a:close/>
                <a:moveTo>
                  <a:pt x="63" y="44"/>
                </a:moveTo>
                <a:cubicBezTo>
                  <a:pt x="64" y="43"/>
                  <a:pt x="64" y="42"/>
                  <a:pt x="63" y="41"/>
                </a:cubicBezTo>
                <a:cubicBezTo>
                  <a:pt x="63" y="39"/>
                  <a:pt x="61" y="39"/>
                  <a:pt x="60" y="40"/>
                </a:cubicBezTo>
                <a:cubicBezTo>
                  <a:pt x="46" y="50"/>
                  <a:pt x="40" y="69"/>
                  <a:pt x="45" y="87"/>
                </a:cubicBezTo>
                <a:cubicBezTo>
                  <a:pt x="45" y="87"/>
                  <a:pt x="50" y="107"/>
                  <a:pt x="50" y="138"/>
                </a:cubicBezTo>
                <a:cubicBezTo>
                  <a:pt x="50" y="140"/>
                  <a:pt x="51" y="141"/>
                  <a:pt x="53" y="141"/>
                </a:cubicBezTo>
                <a:cubicBezTo>
                  <a:pt x="54" y="141"/>
                  <a:pt x="56" y="140"/>
                  <a:pt x="56" y="138"/>
                </a:cubicBezTo>
                <a:cubicBezTo>
                  <a:pt x="56" y="106"/>
                  <a:pt x="50" y="86"/>
                  <a:pt x="50" y="85"/>
                </a:cubicBezTo>
                <a:cubicBezTo>
                  <a:pt x="45" y="69"/>
                  <a:pt x="51" y="53"/>
                  <a:pt x="63" y="44"/>
                </a:cubicBezTo>
                <a:close/>
                <a:moveTo>
                  <a:pt x="110" y="130"/>
                </a:moveTo>
                <a:cubicBezTo>
                  <a:pt x="110" y="129"/>
                  <a:pt x="109" y="127"/>
                  <a:pt x="107" y="127"/>
                </a:cubicBezTo>
                <a:cubicBezTo>
                  <a:pt x="107" y="127"/>
                  <a:pt x="107" y="127"/>
                  <a:pt x="107" y="127"/>
                </a:cubicBezTo>
                <a:cubicBezTo>
                  <a:pt x="106" y="127"/>
                  <a:pt x="104" y="129"/>
                  <a:pt x="104" y="130"/>
                </a:cubicBezTo>
                <a:cubicBezTo>
                  <a:pt x="104" y="132"/>
                  <a:pt x="104" y="135"/>
                  <a:pt x="105" y="138"/>
                </a:cubicBezTo>
                <a:cubicBezTo>
                  <a:pt x="105" y="143"/>
                  <a:pt x="105" y="148"/>
                  <a:pt x="105" y="152"/>
                </a:cubicBezTo>
                <a:cubicBezTo>
                  <a:pt x="105" y="153"/>
                  <a:pt x="106" y="155"/>
                  <a:pt x="107" y="155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09" y="155"/>
                  <a:pt x="110" y="153"/>
                  <a:pt x="110" y="152"/>
                </a:cubicBezTo>
                <a:cubicBezTo>
                  <a:pt x="110" y="148"/>
                  <a:pt x="110" y="143"/>
                  <a:pt x="110" y="138"/>
                </a:cubicBezTo>
                <a:cubicBezTo>
                  <a:pt x="110" y="135"/>
                  <a:pt x="110" y="132"/>
                  <a:pt x="110" y="130"/>
                </a:cubicBezTo>
                <a:close/>
                <a:moveTo>
                  <a:pt x="83" y="52"/>
                </a:moveTo>
                <a:cubicBezTo>
                  <a:pt x="80" y="52"/>
                  <a:pt x="77" y="52"/>
                  <a:pt x="75" y="53"/>
                </a:cubicBezTo>
                <a:cubicBezTo>
                  <a:pt x="64" y="58"/>
                  <a:pt x="59" y="70"/>
                  <a:pt x="63" y="81"/>
                </a:cubicBezTo>
                <a:cubicBezTo>
                  <a:pt x="65" y="87"/>
                  <a:pt x="66" y="120"/>
                  <a:pt x="66" y="152"/>
                </a:cubicBezTo>
                <a:cubicBezTo>
                  <a:pt x="66" y="153"/>
                  <a:pt x="68" y="155"/>
                  <a:pt x="69" y="155"/>
                </a:cubicBezTo>
                <a:cubicBezTo>
                  <a:pt x="71" y="155"/>
                  <a:pt x="72" y="153"/>
                  <a:pt x="72" y="152"/>
                </a:cubicBezTo>
                <a:cubicBezTo>
                  <a:pt x="72" y="123"/>
                  <a:pt x="70" y="87"/>
                  <a:pt x="68" y="79"/>
                </a:cubicBezTo>
                <a:cubicBezTo>
                  <a:pt x="65" y="71"/>
                  <a:pt x="69" y="62"/>
                  <a:pt x="77" y="58"/>
                </a:cubicBezTo>
                <a:cubicBezTo>
                  <a:pt x="79" y="57"/>
                  <a:pt x="81" y="57"/>
                  <a:pt x="83" y="57"/>
                </a:cubicBezTo>
                <a:cubicBezTo>
                  <a:pt x="89" y="57"/>
                  <a:pt x="95" y="61"/>
                  <a:pt x="98" y="67"/>
                </a:cubicBezTo>
                <a:cubicBezTo>
                  <a:pt x="103" y="79"/>
                  <a:pt x="105" y="101"/>
                  <a:pt x="105" y="117"/>
                </a:cubicBezTo>
                <a:cubicBezTo>
                  <a:pt x="105" y="118"/>
                  <a:pt x="106" y="119"/>
                  <a:pt x="108" y="119"/>
                </a:cubicBezTo>
                <a:cubicBezTo>
                  <a:pt x="108" y="119"/>
                  <a:pt x="108" y="119"/>
                  <a:pt x="108" y="119"/>
                </a:cubicBezTo>
                <a:cubicBezTo>
                  <a:pt x="109" y="119"/>
                  <a:pt x="110" y="118"/>
                  <a:pt x="110" y="117"/>
                </a:cubicBezTo>
                <a:cubicBezTo>
                  <a:pt x="110" y="100"/>
                  <a:pt x="108" y="78"/>
                  <a:pt x="103" y="65"/>
                </a:cubicBezTo>
                <a:cubicBezTo>
                  <a:pt x="100" y="57"/>
                  <a:pt x="92" y="52"/>
                  <a:pt x="83" y="5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2123">
            <a:extLst>
              <a:ext uri="{FF2B5EF4-FFF2-40B4-BE49-F238E27FC236}">
                <a16:creationId xmlns:a16="http://schemas.microsoft.com/office/drawing/2014/main" id="{41E33058-BC6D-4BF7-8C90-F0B848712E5E}"/>
              </a:ext>
            </a:extLst>
          </p:cNvPr>
          <p:cNvSpPr>
            <a:spLocks noEditPoints="1"/>
          </p:cNvSpPr>
          <p:nvPr/>
        </p:nvSpPr>
        <p:spPr bwMode="auto">
          <a:xfrm>
            <a:off x="5940132" y="2944121"/>
            <a:ext cx="344803" cy="375162"/>
          </a:xfrm>
          <a:custGeom>
            <a:avLst/>
            <a:gdLst>
              <a:gd name="T0" fmla="*/ 24 w 148"/>
              <a:gd name="T1" fmla="*/ 74 h 160"/>
              <a:gd name="T2" fmla="*/ 56 w 148"/>
              <a:gd name="T3" fmla="*/ 148 h 160"/>
              <a:gd name="T4" fmla="*/ 62 w 148"/>
              <a:gd name="T5" fmla="*/ 151 h 160"/>
              <a:gd name="T6" fmla="*/ 65 w 148"/>
              <a:gd name="T7" fmla="*/ 160 h 160"/>
              <a:gd name="T8" fmla="*/ 86 w 148"/>
              <a:gd name="T9" fmla="*/ 157 h 160"/>
              <a:gd name="T10" fmla="*/ 89 w 148"/>
              <a:gd name="T11" fmla="*/ 151 h 160"/>
              <a:gd name="T12" fmla="*/ 92 w 148"/>
              <a:gd name="T13" fmla="*/ 121 h 160"/>
              <a:gd name="T14" fmla="*/ 74 w 148"/>
              <a:gd name="T15" fmla="*/ 24 h 160"/>
              <a:gd name="T16" fmla="*/ 80 w 148"/>
              <a:gd name="T17" fmla="*/ 148 h 160"/>
              <a:gd name="T18" fmla="*/ 68 w 148"/>
              <a:gd name="T19" fmla="*/ 154 h 160"/>
              <a:gd name="T20" fmla="*/ 65 w 148"/>
              <a:gd name="T21" fmla="*/ 145 h 160"/>
              <a:gd name="T22" fmla="*/ 62 w 148"/>
              <a:gd name="T23" fmla="*/ 130 h 160"/>
              <a:gd name="T24" fmla="*/ 86 w 148"/>
              <a:gd name="T25" fmla="*/ 145 h 160"/>
              <a:gd name="T26" fmla="*/ 88 w 148"/>
              <a:gd name="T27" fmla="*/ 116 h 160"/>
              <a:gd name="T28" fmla="*/ 86 w 148"/>
              <a:gd name="T29" fmla="*/ 124 h 160"/>
              <a:gd name="T30" fmla="*/ 62 w 148"/>
              <a:gd name="T31" fmla="*/ 119 h 160"/>
              <a:gd name="T32" fmla="*/ 30 w 148"/>
              <a:gd name="T33" fmla="*/ 74 h 160"/>
              <a:gd name="T34" fmla="*/ 119 w 148"/>
              <a:gd name="T35" fmla="*/ 74 h 160"/>
              <a:gd name="T36" fmla="*/ 71 w 148"/>
              <a:gd name="T37" fmla="*/ 15 h 160"/>
              <a:gd name="T38" fmla="*/ 74 w 148"/>
              <a:gd name="T39" fmla="*/ 0 h 160"/>
              <a:gd name="T40" fmla="*/ 77 w 148"/>
              <a:gd name="T41" fmla="*/ 15 h 160"/>
              <a:gd name="T42" fmla="*/ 71 w 148"/>
              <a:gd name="T43" fmla="*/ 15 h 160"/>
              <a:gd name="T44" fmla="*/ 145 w 148"/>
              <a:gd name="T45" fmla="*/ 77 h 160"/>
              <a:gd name="T46" fmla="*/ 130 w 148"/>
              <a:gd name="T47" fmla="*/ 74 h 160"/>
              <a:gd name="T48" fmla="*/ 145 w 148"/>
              <a:gd name="T49" fmla="*/ 71 h 160"/>
              <a:gd name="T50" fmla="*/ 18 w 148"/>
              <a:gd name="T51" fmla="*/ 74 h 160"/>
              <a:gd name="T52" fmla="*/ 3 w 148"/>
              <a:gd name="T53" fmla="*/ 77 h 160"/>
              <a:gd name="T54" fmla="*/ 3 w 148"/>
              <a:gd name="T55" fmla="*/ 71 h 160"/>
              <a:gd name="T56" fmla="*/ 18 w 148"/>
              <a:gd name="T57" fmla="*/ 74 h 160"/>
              <a:gd name="T58" fmla="*/ 126 w 148"/>
              <a:gd name="T59" fmla="*/ 26 h 160"/>
              <a:gd name="T60" fmla="*/ 116 w 148"/>
              <a:gd name="T61" fmla="*/ 35 h 160"/>
              <a:gd name="T62" fmla="*/ 114 w 148"/>
              <a:gd name="T63" fmla="*/ 30 h 160"/>
              <a:gd name="T64" fmla="*/ 126 w 148"/>
              <a:gd name="T65" fmla="*/ 22 h 160"/>
              <a:gd name="T66" fmla="*/ 34 w 148"/>
              <a:gd name="T67" fmla="*/ 118 h 160"/>
              <a:gd name="T68" fmla="*/ 24 w 148"/>
              <a:gd name="T69" fmla="*/ 127 h 160"/>
              <a:gd name="T70" fmla="*/ 22 w 148"/>
              <a:gd name="T71" fmla="*/ 122 h 160"/>
              <a:gd name="T72" fmla="*/ 34 w 148"/>
              <a:gd name="T73" fmla="*/ 114 h 160"/>
              <a:gd name="T74" fmla="*/ 126 w 148"/>
              <a:gd name="T75" fmla="*/ 126 h 160"/>
              <a:gd name="T76" fmla="*/ 122 w 148"/>
              <a:gd name="T77" fmla="*/ 126 h 160"/>
              <a:gd name="T78" fmla="*/ 114 w 148"/>
              <a:gd name="T79" fmla="*/ 114 h 160"/>
              <a:gd name="T80" fmla="*/ 126 w 148"/>
              <a:gd name="T81" fmla="*/ 122 h 160"/>
              <a:gd name="T82" fmla="*/ 22 w 148"/>
              <a:gd name="T83" fmla="*/ 22 h 160"/>
              <a:gd name="T84" fmla="*/ 34 w 148"/>
              <a:gd name="T85" fmla="*/ 30 h 160"/>
              <a:gd name="T86" fmla="*/ 32 w 148"/>
              <a:gd name="T87" fmla="*/ 35 h 160"/>
              <a:gd name="T88" fmla="*/ 22 w 148"/>
              <a:gd name="T89" fmla="*/ 26 h 160"/>
              <a:gd name="T90" fmla="*/ 74 w 148"/>
              <a:gd name="T91" fmla="*/ 44 h 160"/>
              <a:gd name="T92" fmla="*/ 41 w 148"/>
              <a:gd name="T93" fmla="*/ 77 h 160"/>
              <a:gd name="T94" fmla="*/ 74 w 148"/>
              <a:gd name="T95" fmla="*/ 3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8" h="160">
                <a:moveTo>
                  <a:pt x="74" y="24"/>
                </a:moveTo>
                <a:cubicBezTo>
                  <a:pt x="46" y="24"/>
                  <a:pt x="24" y="46"/>
                  <a:pt x="24" y="74"/>
                </a:cubicBezTo>
                <a:cubicBezTo>
                  <a:pt x="24" y="95"/>
                  <a:pt x="37" y="114"/>
                  <a:pt x="56" y="121"/>
                </a:cubicBezTo>
                <a:cubicBezTo>
                  <a:pt x="56" y="148"/>
                  <a:pt x="56" y="148"/>
                  <a:pt x="56" y="148"/>
                </a:cubicBezTo>
                <a:cubicBezTo>
                  <a:pt x="56" y="150"/>
                  <a:pt x="58" y="151"/>
                  <a:pt x="59" y="151"/>
                </a:cubicBezTo>
                <a:cubicBezTo>
                  <a:pt x="62" y="151"/>
                  <a:pt x="62" y="151"/>
                  <a:pt x="62" y="151"/>
                </a:cubicBezTo>
                <a:cubicBezTo>
                  <a:pt x="62" y="157"/>
                  <a:pt x="62" y="157"/>
                  <a:pt x="62" y="157"/>
                </a:cubicBezTo>
                <a:cubicBezTo>
                  <a:pt x="62" y="159"/>
                  <a:pt x="64" y="160"/>
                  <a:pt x="65" y="160"/>
                </a:cubicBezTo>
                <a:cubicBezTo>
                  <a:pt x="83" y="160"/>
                  <a:pt x="83" y="160"/>
                  <a:pt x="83" y="160"/>
                </a:cubicBezTo>
                <a:cubicBezTo>
                  <a:pt x="85" y="160"/>
                  <a:pt x="86" y="159"/>
                  <a:pt x="86" y="157"/>
                </a:cubicBezTo>
                <a:cubicBezTo>
                  <a:pt x="86" y="151"/>
                  <a:pt x="86" y="151"/>
                  <a:pt x="86" y="151"/>
                </a:cubicBezTo>
                <a:cubicBezTo>
                  <a:pt x="89" y="151"/>
                  <a:pt x="89" y="151"/>
                  <a:pt x="89" y="151"/>
                </a:cubicBezTo>
                <a:cubicBezTo>
                  <a:pt x="91" y="151"/>
                  <a:pt x="92" y="150"/>
                  <a:pt x="92" y="148"/>
                </a:cubicBezTo>
                <a:cubicBezTo>
                  <a:pt x="92" y="121"/>
                  <a:pt x="92" y="121"/>
                  <a:pt x="92" y="121"/>
                </a:cubicBezTo>
                <a:cubicBezTo>
                  <a:pt x="111" y="114"/>
                  <a:pt x="124" y="95"/>
                  <a:pt x="124" y="74"/>
                </a:cubicBezTo>
                <a:cubicBezTo>
                  <a:pt x="124" y="46"/>
                  <a:pt x="102" y="24"/>
                  <a:pt x="74" y="24"/>
                </a:cubicBezTo>
                <a:close/>
                <a:moveTo>
                  <a:pt x="83" y="145"/>
                </a:moveTo>
                <a:cubicBezTo>
                  <a:pt x="81" y="145"/>
                  <a:pt x="80" y="147"/>
                  <a:pt x="80" y="148"/>
                </a:cubicBezTo>
                <a:cubicBezTo>
                  <a:pt x="80" y="154"/>
                  <a:pt x="80" y="154"/>
                  <a:pt x="80" y="154"/>
                </a:cubicBezTo>
                <a:cubicBezTo>
                  <a:pt x="68" y="154"/>
                  <a:pt x="68" y="154"/>
                  <a:pt x="68" y="154"/>
                </a:cubicBezTo>
                <a:cubicBezTo>
                  <a:pt x="68" y="148"/>
                  <a:pt x="68" y="148"/>
                  <a:pt x="68" y="148"/>
                </a:cubicBezTo>
                <a:cubicBezTo>
                  <a:pt x="68" y="147"/>
                  <a:pt x="67" y="145"/>
                  <a:pt x="65" y="145"/>
                </a:cubicBezTo>
                <a:cubicBezTo>
                  <a:pt x="62" y="145"/>
                  <a:pt x="62" y="145"/>
                  <a:pt x="62" y="145"/>
                </a:cubicBezTo>
                <a:cubicBezTo>
                  <a:pt x="62" y="130"/>
                  <a:pt x="62" y="130"/>
                  <a:pt x="62" y="130"/>
                </a:cubicBezTo>
                <a:cubicBezTo>
                  <a:pt x="86" y="130"/>
                  <a:pt x="86" y="130"/>
                  <a:pt x="86" y="130"/>
                </a:cubicBezTo>
                <a:cubicBezTo>
                  <a:pt x="86" y="145"/>
                  <a:pt x="86" y="145"/>
                  <a:pt x="86" y="145"/>
                </a:cubicBezTo>
                <a:lnTo>
                  <a:pt x="83" y="145"/>
                </a:lnTo>
                <a:close/>
                <a:moveTo>
                  <a:pt x="88" y="116"/>
                </a:moveTo>
                <a:cubicBezTo>
                  <a:pt x="87" y="117"/>
                  <a:pt x="86" y="118"/>
                  <a:pt x="86" y="119"/>
                </a:cubicBezTo>
                <a:cubicBezTo>
                  <a:pt x="86" y="124"/>
                  <a:pt x="86" y="124"/>
                  <a:pt x="86" y="124"/>
                </a:cubicBezTo>
                <a:cubicBezTo>
                  <a:pt x="62" y="124"/>
                  <a:pt x="62" y="124"/>
                  <a:pt x="62" y="124"/>
                </a:cubicBezTo>
                <a:cubicBezTo>
                  <a:pt x="62" y="119"/>
                  <a:pt x="62" y="119"/>
                  <a:pt x="62" y="119"/>
                </a:cubicBezTo>
                <a:cubicBezTo>
                  <a:pt x="62" y="118"/>
                  <a:pt x="61" y="117"/>
                  <a:pt x="60" y="116"/>
                </a:cubicBezTo>
                <a:cubicBezTo>
                  <a:pt x="42" y="110"/>
                  <a:pt x="30" y="93"/>
                  <a:pt x="30" y="74"/>
                </a:cubicBezTo>
                <a:cubicBezTo>
                  <a:pt x="30" y="50"/>
                  <a:pt x="50" y="30"/>
                  <a:pt x="74" y="30"/>
                </a:cubicBezTo>
                <a:cubicBezTo>
                  <a:pt x="99" y="30"/>
                  <a:pt x="119" y="50"/>
                  <a:pt x="119" y="74"/>
                </a:cubicBezTo>
                <a:cubicBezTo>
                  <a:pt x="119" y="93"/>
                  <a:pt x="106" y="110"/>
                  <a:pt x="88" y="116"/>
                </a:cubicBezTo>
                <a:close/>
                <a:moveTo>
                  <a:pt x="71" y="15"/>
                </a:moveTo>
                <a:cubicBezTo>
                  <a:pt x="71" y="3"/>
                  <a:pt x="71" y="3"/>
                  <a:pt x="71" y="3"/>
                </a:cubicBezTo>
                <a:cubicBezTo>
                  <a:pt x="71" y="1"/>
                  <a:pt x="72" y="0"/>
                  <a:pt x="74" y="0"/>
                </a:cubicBezTo>
                <a:cubicBezTo>
                  <a:pt x="76" y="0"/>
                  <a:pt x="77" y="1"/>
                  <a:pt x="77" y="3"/>
                </a:cubicBezTo>
                <a:cubicBezTo>
                  <a:pt x="77" y="15"/>
                  <a:pt x="77" y="15"/>
                  <a:pt x="77" y="15"/>
                </a:cubicBezTo>
                <a:cubicBezTo>
                  <a:pt x="77" y="16"/>
                  <a:pt x="76" y="18"/>
                  <a:pt x="74" y="18"/>
                </a:cubicBezTo>
                <a:cubicBezTo>
                  <a:pt x="72" y="18"/>
                  <a:pt x="71" y="16"/>
                  <a:pt x="71" y="15"/>
                </a:cubicBezTo>
                <a:close/>
                <a:moveTo>
                  <a:pt x="148" y="74"/>
                </a:moveTo>
                <a:cubicBezTo>
                  <a:pt x="148" y="76"/>
                  <a:pt x="147" y="77"/>
                  <a:pt x="145" y="77"/>
                </a:cubicBezTo>
                <a:cubicBezTo>
                  <a:pt x="133" y="77"/>
                  <a:pt x="133" y="77"/>
                  <a:pt x="133" y="77"/>
                </a:cubicBezTo>
                <a:cubicBezTo>
                  <a:pt x="132" y="77"/>
                  <a:pt x="130" y="76"/>
                  <a:pt x="130" y="74"/>
                </a:cubicBezTo>
                <a:cubicBezTo>
                  <a:pt x="130" y="72"/>
                  <a:pt x="132" y="71"/>
                  <a:pt x="133" y="71"/>
                </a:cubicBezTo>
                <a:cubicBezTo>
                  <a:pt x="145" y="71"/>
                  <a:pt x="145" y="71"/>
                  <a:pt x="145" y="71"/>
                </a:cubicBezTo>
                <a:cubicBezTo>
                  <a:pt x="147" y="71"/>
                  <a:pt x="148" y="72"/>
                  <a:pt x="148" y="74"/>
                </a:cubicBezTo>
                <a:close/>
                <a:moveTo>
                  <a:pt x="18" y="74"/>
                </a:moveTo>
                <a:cubicBezTo>
                  <a:pt x="18" y="76"/>
                  <a:pt x="16" y="77"/>
                  <a:pt x="15" y="77"/>
                </a:cubicBezTo>
                <a:cubicBezTo>
                  <a:pt x="3" y="77"/>
                  <a:pt x="3" y="77"/>
                  <a:pt x="3" y="77"/>
                </a:cubicBezTo>
                <a:cubicBezTo>
                  <a:pt x="1" y="77"/>
                  <a:pt x="0" y="76"/>
                  <a:pt x="0" y="74"/>
                </a:cubicBezTo>
                <a:cubicBezTo>
                  <a:pt x="0" y="72"/>
                  <a:pt x="1" y="71"/>
                  <a:pt x="3" y="71"/>
                </a:cubicBezTo>
                <a:cubicBezTo>
                  <a:pt x="15" y="71"/>
                  <a:pt x="15" y="71"/>
                  <a:pt x="15" y="71"/>
                </a:cubicBezTo>
                <a:cubicBezTo>
                  <a:pt x="16" y="71"/>
                  <a:pt x="18" y="72"/>
                  <a:pt x="18" y="74"/>
                </a:cubicBezTo>
                <a:close/>
                <a:moveTo>
                  <a:pt x="126" y="22"/>
                </a:moveTo>
                <a:cubicBezTo>
                  <a:pt x="128" y="23"/>
                  <a:pt x="128" y="25"/>
                  <a:pt x="126" y="26"/>
                </a:cubicBezTo>
                <a:cubicBezTo>
                  <a:pt x="118" y="34"/>
                  <a:pt x="118" y="34"/>
                  <a:pt x="118" y="34"/>
                </a:cubicBezTo>
                <a:cubicBezTo>
                  <a:pt x="117" y="35"/>
                  <a:pt x="117" y="35"/>
                  <a:pt x="116" y="35"/>
                </a:cubicBezTo>
                <a:cubicBezTo>
                  <a:pt x="115" y="35"/>
                  <a:pt x="114" y="35"/>
                  <a:pt x="114" y="34"/>
                </a:cubicBezTo>
                <a:cubicBezTo>
                  <a:pt x="113" y="33"/>
                  <a:pt x="113" y="31"/>
                  <a:pt x="114" y="30"/>
                </a:cubicBezTo>
                <a:cubicBezTo>
                  <a:pt x="122" y="22"/>
                  <a:pt x="122" y="22"/>
                  <a:pt x="122" y="22"/>
                </a:cubicBezTo>
                <a:cubicBezTo>
                  <a:pt x="123" y="21"/>
                  <a:pt x="125" y="21"/>
                  <a:pt x="126" y="22"/>
                </a:cubicBezTo>
                <a:close/>
                <a:moveTo>
                  <a:pt x="34" y="114"/>
                </a:moveTo>
                <a:cubicBezTo>
                  <a:pt x="35" y="115"/>
                  <a:pt x="35" y="117"/>
                  <a:pt x="34" y="118"/>
                </a:cubicBezTo>
                <a:cubicBezTo>
                  <a:pt x="26" y="126"/>
                  <a:pt x="26" y="126"/>
                  <a:pt x="26" y="126"/>
                </a:cubicBezTo>
                <a:cubicBezTo>
                  <a:pt x="25" y="127"/>
                  <a:pt x="25" y="127"/>
                  <a:pt x="24" y="127"/>
                </a:cubicBezTo>
                <a:cubicBezTo>
                  <a:pt x="23" y="127"/>
                  <a:pt x="22" y="127"/>
                  <a:pt x="22" y="126"/>
                </a:cubicBezTo>
                <a:cubicBezTo>
                  <a:pt x="21" y="125"/>
                  <a:pt x="21" y="123"/>
                  <a:pt x="22" y="122"/>
                </a:cubicBezTo>
                <a:cubicBezTo>
                  <a:pt x="30" y="114"/>
                  <a:pt x="30" y="114"/>
                  <a:pt x="30" y="114"/>
                </a:cubicBezTo>
                <a:cubicBezTo>
                  <a:pt x="31" y="113"/>
                  <a:pt x="33" y="113"/>
                  <a:pt x="34" y="114"/>
                </a:cubicBezTo>
                <a:close/>
                <a:moveTo>
                  <a:pt x="126" y="122"/>
                </a:moveTo>
                <a:cubicBezTo>
                  <a:pt x="128" y="123"/>
                  <a:pt x="128" y="125"/>
                  <a:pt x="126" y="126"/>
                </a:cubicBezTo>
                <a:cubicBezTo>
                  <a:pt x="126" y="127"/>
                  <a:pt x="125" y="127"/>
                  <a:pt x="124" y="127"/>
                </a:cubicBezTo>
                <a:cubicBezTo>
                  <a:pt x="124" y="127"/>
                  <a:pt x="123" y="127"/>
                  <a:pt x="122" y="126"/>
                </a:cubicBezTo>
                <a:cubicBezTo>
                  <a:pt x="114" y="118"/>
                  <a:pt x="114" y="118"/>
                  <a:pt x="114" y="118"/>
                </a:cubicBezTo>
                <a:cubicBezTo>
                  <a:pt x="113" y="117"/>
                  <a:pt x="113" y="115"/>
                  <a:pt x="114" y="114"/>
                </a:cubicBezTo>
                <a:cubicBezTo>
                  <a:pt x="115" y="113"/>
                  <a:pt x="117" y="113"/>
                  <a:pt x="118" y="114"/>
                </a:cubicBezTo>
                <a:lnTo>
                  <a:pt x="126" y="122"/>
                </a:lnTo>
                <a:close/>
                <a:moveTo>
                  <a:pt x="22" y="26"/>
                </a:moveTo>
                <a:cubicBezTo>
                  <a:pt x="21" y="25"/>
                  <a:pt x="21" y="23"/>
                  <a:pt x="22" y="22"/>
                </a:cubicBezTo>
                <a:cubicBezTo>
                  <a:pt x="23" y="21"/>
                  <a:pt x="25" y="21"/>
                  <a:pt x="26" y="22"/>
                </a:cubicBezTo>
                <a:cubicBezTo>
                  <a:pt x="34" y="30"/>
                  <a:pt x="34" y="30"/>
                  <a:pt x="34" y="30"/>
                </a:cubicBezTo>
                <a:cubicBezTo>
                  <a:pt x="35" y="31"/>
                  <a:pt x="35" y="33"/>
                  <a:pt x="34" y="34"/>
                </a:cubicBezTo>
                <a:cubicBezTo>
                  <a:pt x="34" y="35"/>
                  <a:pt x="33" y="35"/>
                  <a:pt x="32" y="35"/>
                </a:cubicBezTo>
                <a:cubicBezTo>
                  <a:pt x="31" y="35"/>
                  <a:pt x="31" y="35"/>
                  <a:pt x="30" y="34"/>
                </a:cubicBezTo>
                <a:lnTo>
                  <a:pt x="22" y="26"/>
                </a:lnTo>
                <a:close/>
                <a:moveTo>
                  <a:pt x="77" y="41"/>
                </a:moveTo>
                <a:cubicBezTo>
                  <a:pt x="77" y="43"/>
                  <a:pt x="76" y="44"/>
                  <a:pt x="74" y="44"/>
                </a:cubicBezTo>
                <a:cubicBezTo>
                  <a:pt x="58" y="44"/>
                  <a:pt x="44" y="58"/>
                  <a:pt x="44" y="74"/>
                </a:cubicBezTo>
                <a:cubicBezTo>
                  <a:pt x="44" y="76"/>
                  <a:pt x="43" y="77"/>
                  <a:pt x="41" y="77"/>
                </a:cubicBezTo>
                <a:cubicBezTo>
                  <a:pt x="40" y="77"/>
                  <a:pt x="39" y="76"/>
                  <a:pt x="39" y="74"/>
                </a:cubicBezTo>
                <a:cubicBezTo>
                  <a:pt x="39" y="54"/>
                  <a:pt x="54" y="39"/>
                  <a:pt x="74" y="39"/>
                </a:cubicBezTo>
                <a:cubicBezTo>
                  <a:pt x="76" y="39"/>
                  <a:pt x="77" y="40"/>
                  <a:pt x="77" y="4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2073">
            <a:extLst>
              <a:ext uri="{FF2B5EF4-FFF2-40B4-BE49-F238E27FC236}">
                <a16:creationId xmlns:a16="http://schemas.microsoft.com/office/drawing/2014/main" id="{26190CEF-7ADC-4534-BF17-2A636479F654}"/>
              </a:ext>
            </a:extLst>
          </p:cNvPr>
          <p:cNvSpPr>
            <a:spLocks noEditPoints="1"/>
          </p:cNvSpPr>
          <p:nvPr/>
        </p:nvSpPr>
        <p:spPr bwMode="auto">
          <a:xfrm>
            <a:off x="2831584" y="2955996"/>
            <a:ext cx="370825" cy="375162"/>
          </a:xfrm>
          <a:custGeom>
            <a:avLst/>
            <a:gdLst>
              <a:gd name="T0" fmla="*/ 91 w 159"/>
              <a:gd name="T1" fmla="*/ 157 h 160"/>
              <a:gd name="T2" fmla="*/ 88 w 159"/>
              <a:gd name="T3" fmla="*/ 160 h 160"/>
              <a:gd name="T4" fmla="*/ 80 w 159"/>
              <a:gd name="T5" fmla="*/ 74 h 160"/>
              <a:gd name="T6" fmla="*/ 86 w 159"/>
              <a:gd name="T7" fmla="*/ 72 h 160"/>
              <a:gd name="T8" fmla="*/ 83 w 159"/>
              <a:gd name="T9" fmla="*/ 0 h 160"/>
              <a:gd name="T10" fmla="*/ 41 w 159"/>
              <a:gd name="T11" fmla="*/ 13 h 160"/>
              <a:gd name="T12" fmla="*/ 44 w 159"/>
              <a:gd name="T13" fmla="*/ 18 h 160"/>
              <a:gd name="T14" fmla="*/ 83 w 159"/>
              <a:gd name="T15" fmla="*/ 5 h 160"/>
              <a:gd name="T16" fmla="*/ 153 w 159"/>
              <a:gd name="T17" fmla="*/ 87 h 160"/>
              <a:gd name="T18" fmla="*/ 156 w 159"/>
              <a:gd name="T19" fmla="*/ 89 h 160"/>
              <a:gd name="T20" fmla="*/ 150 w 159"/>
              <a:gd name="T21" fmla="*/ 45 h 160"/>
              <a:gd name="T22" fmla="*/ 33 w 159"/>
              <a:gd name="T23" fmla="*/ 23 h 160"/>
              <a:gd name="T24" fmla="*/ 13 w 159"/>
              <a:gd name="T25" fmla="*/ 109 h 160"/>
              <a:gd name="T26" fmla="*/ 17 w 159"/>
              <a:gd name="T27" fmla="*/ 111 h 160"/>
              <a:gd name="T28" fmla="*/ 33 w 159"/>
              <a:gd name="T29" fmla="*/ 26 h 160"/>
              <a:gd name="T30" fmla="*/ 61 w 159"/>
              <a:gd name="T31" fmla="*/ 21 h 160"/>
              <a:gd name="T32" fmla="*/ 30 w 159"/>
              <a:gd name="T33" fmla="*/ 97 h 160"/>
              <a:gd name="T34" fmla="*/ 34 w 159"/>
              <a:gd name="T35" fmla="*/ 138 h 160"/>
              <a:gd name="T36" fmla="*/ 36 w 159"/>
              <a:gd name="T37" fmla="*/ 97 h 160"/>
              <a:gd name="T38" fmla="*/ 63 w 159"/>
              <a:gd name="T39" fmla="*/ 26 h 160"/>
              <a:gd name="T40" fmla="*/ 133 w 159"/>
              <a:gd name="T41" fmla="*/ 59 h 160"/>
              <a:gd name="T42" fmla="*/ 140 w 159"/>
              <a:gd name="T43" fmla="*/ 133 h 160"/>
              <a:gd name="T44" fmla="*/ 138 w 159"/>
              <a:gd name="T45" fmla="*/ 57 h 160"/>
              <a:gd name="T46" fmla="*/ 83 w 159"/>
              <a:gd name="T47" fmla="*/ 33 h 160"/>
              <a:gd name="T48" fmla="*/ 72 w 159"/>
              <a:gd name="T49" fmla="*/ 37 h 160"/>
              <a:gd name="T50" fmla="*/ 83 w 159"/>
              <a:gd name="T51" fmla="*/ 38 h 160"/>
              <a:gd name="T52" fmla="*/ 121 w 159"/>
              <a:gd name="T53" fmla="*/ 144 h 160"/>
              <a:gd name="T54" fmla="*/ 124 w 159"/>
              <a:gd name="T55" fmla="*/ 146 h 160"/>
              <a:gd name="T56" fmla="*/ 120 w 159"/>
              <a:gd name="T57" fmla="*/ 57 h 160"/>
              <a:gd name="T58" fmla="*/ 63 w 159"/>
              <a:gd name="T59" fmla="*/ 44 h 160"/>
              <a:gd name="T60" fmla="*/ 60 w 159"/>
              <a:gd name="T61" fmla="*/ 40 h 160"/>
              <a:gd name="T62" fmla="*/ 50 w 159"/>
              <a:gd name="T63" fmla="*/ 138 h 160"/>
              <a:gd name="T64" fmla="*/ 56 w 159"/>
              <a:gd name="T65" fmla="*/ 138 h 160"/>
              <a:gd name="T66" fmla="*/ 63 w 159"/>
              <a:gd name="T67" fmla="*/ 44 h 160"/>
              <a:gd name="T68" fmla="*/ 107 w 159"/>
              <a:gd name="T69" fmla="*/ 127 h 160"/>
              <a:gd name="T70" fmla="*/ 104 w 159"/>
              <a:gd name="T71" fmla="*/ 130 h 160"/>
              <a:gd name="T72" fmla="*/ 105 w 159"/>
              <a:gd name="T73" fmla="*/ 152 h 160"/>
              <a:gd name="T74" fmla="*/ 107 w 159"/>
              <a:gd name="T75" fmla="*/ 155 h 160"/>
              <a:gd name="T76" fmla="*/ 110 w 159"/>
              <a:gd name="T77" fmla="*/ 138 h 160"/>
              <a:gd name="T78" fmla="*/ 83 w 159"/>
              <a:gd name="T79" fmla="*/ 52 h 160"/>
              <a:gd name="T80" fmla="*/ 63 w 159"/>
              <a:gd name="T81" fmla="*/ 81 h 160"/>
              <a:gd name="T82" fmla="*/ 69 w 159"/>
              <a:gd name="T83" fmla="*/ 155 h 160"/>
              <a:gd name="T84" fmla="*/ 68 w 159"/>
              <a:gd name="T85" fmla="*/ 79 h 160"/>
              <a:gd name="T86" fmla="*/ 83 w 159"/>
              <a:gd name="T87" fmla="*/ 57 h 160"/>
              <a:gd name="T88" fmla="*/ 105 w 159"/>
              <a:gd name="T89" fmla="*/ 117 h 160"/>
              <a:gd name="T90" fmla="*/ 108 w 159"/>
              <a:gd name="T91" fmla="*/ 119 h 160"/>
              <a:gd name="T92" fmla="*/ 103 w 159"/>
              <a:gd name="T93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9" h="160">
                <a:moveTo>
                  <a:pt x="86" y="72"/>
                </a:moveTo>
                <a:cubicBezTo>
                  <a:pt x="86" y="74"/>
                  <a:pt x="93" y="99"/>
                  <a:pt x="91" y="157"/>
                </a:cubicBezTo>
                <a:cubicBezTo>
                  <a:pt x="91" y="159"/>
                  <a:pt x="90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7" y="160"/>
                  <a:pt x="86" y="159"/>
                  <a:pt x="86" y="157"/>
                </a:cubicBezTo>
                <a:cubicBezTo>
                  <a:pt x="88" y="100"/>
                  <a:pt x="80" y="74"/>
                  <a:pt x="80" y="74"/>
                </a:cubicBezTo>
                <a:cubicBezTo>
                  <a:pt x="80" y="73"/>
                  <a:pt x="81" y="71"/>
                  <a:pt x="82" y="71"/>
                </a:cubicBezTo>
                <a:cubicBezTo>
                  <a:pt x="84" y="70"/>
                  <a:pt x="85" y="71"/>
                  <a:pt x="86" y="72"/>
                </a:cubicBezTo>
                <a:close/>
                <a:moveTo>
                  <a:pt x="150" y="45"/>
                </a:moveTo>
                <a:cubicBezTo>
                  <a:pt x="139" y="18"/>
                  <a:pt x="112" y="0"/>
                  <a:pt x="83" y="0"/>
                </a:cubicBezTo>
                <a:cubicBezTo>
                  <a:pt x="73" y="0"/>
                  <a:pt x="64" y="2"/>
                  <a:pt x="55" y="6"/>
                </a:cubicBezTo>
                <a:cubicBezTo>
                  <a:pt x="50" y="8"/>
                  <a:pt x="45" y="10"/>
                  <a:pt x="41" y="13"/>
                </a:cubicBezTo>
                <a:cubicBezTo>
                  <a:pt x="40" y="14"/>
                  <a:pt x="39" y="15"/>
                  <a:pt x="40" y="17"/>
                </a:cubicBezTo>
                <a:cubicBezTo>
                  <a:pt x="41" y="18"/>
                  <a:pt x="42" y="18"/>
                  <a:pt x="44" y="18"/>
                </a:cubicBezTo>
                <a:cubicBezTo>
                  <a:pt x="48" y="15"/>
                  <a:pt x="52" y="13"/>
                  <a:pt x="57" y="11"/>
                </a:cubicBezTo>
                <a:cubicBezTo>
                  <a:pt x="65" y="7"/>
                  <a:pt x="74" y="5"/>
                  <a:pt x="83" y="5"/>
                </a:cubicBezTo>
                <a:cubicBezTo>
                  <a:pt x="110" y="5"/>
                  <a:pt x="135" y="22"/>
                  <a:pt x="145" y="47"/>
                </a:cubicBezTo>
                <a:cubicBezTo>
                  <a:pt x="150" y="57"/>
                  <a:pt x="152" y="77"/>
                  <a:pt x="153" y="87"/>
                </a:cubicBezTo>
                <a:cubicBezTo>
                  <a:pt x="153" y="88"/>
                  <a:pt x="155" y="89"/>
                  <a:pt x="156" y="89"/>
                </a:cubicBezTo>
                <a:cubicBezTo>
                  <a:pt x="156" y="89"/>
                  <a:pt x="156" y="89"/>
                  <a:pt x="156" y="89"/>
                </a:cubicBezTo>
                <a:cubicBezTo>
                  <a:pt x="158" y="89"/>
                  <a:pt x="159" y="88"/>
                  <a:pt x="159" y="87"/>
                </a:cubicBezTo>
                <a:cubicBezTo>
                  <a:pt x="157" y="73"/>
                  <a:pt x="155" y="55"/>
                  <a:pt x="150" y="45"/>
                </a:cubicBezTo>
                <a:close/>
                <a:moveTo>
                  <a:pt x="33" y="26"/>
                </a:moveTo>
                <a:cubicBezTo>
                  <a:pt x="34" y="25"/>
                  <a:pt x="34" y="24"/>
                  <a:pt x="33" y="23"/>
                </a:cubicBezTo>
                <a:cubicBezTo>
                  <a:pt x="32" y="21"/>
                  <a:pt x="30" y="21"/>
                  <a:pt x="29" y="22"/>
                </a:cubicBezTo>
                <a:cubicBezTo>
                  <a:pt x="14" y="37"/>
                  <a:pt x="0" y="64"/>
                  <a:pt x="13" y="109"/>
                </a:cubicBezTo>
                <a:cubicBezTo>
                  <a:pt x="14" y="110"/>
                  <a:pt x="15" y="111"/>
                  <a:pt x="16" y="111"/>
                </a:cubicBezTo>
                <a:cubicBezTo>
                  <a:pt x="16" y="111"/>
                  <a:pt x="17" y="111"/>
                  <a:pt x="17" y="111"/>
                </a:cubicBezTo>
                <a:cubicBezTo>
                  <a:pt x="18" y="111"/>
                  <a:pt x="19" y="109"/>
                  <a:pt x="19" y="108"/>
                </a:cubicBezTo>
                <a:cubicBezTo>
                  <a:pt x="8" y="74"/>
                  <a:pt x="13" y="45"/>
                  <a:pt x="33" y="26"/>
                </a:cubicBezTo>
                <a:close/>
                <a:moveTo>
                  <a:pt x="85" y="16"/>
                </a:moveTo>
                <a:cubicBezTo>
                  <a:pt x="77" y="16"/>
                  <a:pt x="69" y="17"/>
                  <a:pt x="61" y="21"/>
                </a:cubicBezTo>
                <a:cubicBezTo>
                  <a:pt x="34" y="32"/>
                  <a:pt x="20" y="61"/>
                  <a:pt x="28" y="89"/>
                </a:cubicBezTo>
                <a:cubicBezTo>
                  <a:pt x="29" y="91"/>
                  <a:pt x="30" y="94"/>
                  <a:pt x="30" y="97"/>
                </a:cubicBezTo>
                <a:cubicBezTo>
                  <a:pt x="31" y="104"/>
                  <a:pt x="31" y="116"/>
                  <a:pt x="31" y="136"/>
                </a:cubicBezTo>
                <a:cubicBezTo>
                  <a:pt x="31" y="137"/>
                  <a:pt x="32" y="138"/>
                  <a:pt x="34" y="138"/>
                </a:cubicBezTo>
                <a:cubicBezTo>
                  <a:pt x="35" y="138"/>
                  <a:pt x="37" y="137"/>
                  <a:pt x="37" y="136"/>
                </a:cubicBezTo>
                <a:cubicBezTo>
                  <a:pt x="37" y="115"/>
                  <a:pt x="37" y="104"/>
                  <a:pt x="36" y="97"/>
                </a:cubicBezTo>
                <a:cubicBezTo>
                  <a:pt x="35" y="93"/>
                  <a:pt x="34" y="90"/>
                  <a:pt x="33" y="87"/>
                </a:cubicBezTo>
                <a:cubicBezTo>
                  <a:pt x="26" y="62"/>
                  <a:pt x="39" y="36"/>
                  <a:pt x="63" y="26"/>
                </a:cubicBezTo>
                <a:cubicBezTo>
                  <a:pt x="70" y="23"/>
                  <a:pt x="77" y="21"/>
                  <a:pt x="85" y="22"/>
                </a:cubicBezTo>
                <a:cubicBezTo>
                  <a:pt x="104" y="22"/>
                  <a:pt x="126" y="39"/>
                  <a:pt x="133" y="59"/>
                </a:cubicBezTo>
                <a:cubicBezTo>
                  <a:pt x="138" y="76"/>
                  <a:pt x="138" y="104"/>
                  <a:pt x="138" y="130"/>
                </a:cubicBezTo>
                <a:cubicBezTo>
                  <a:pt x="138" y="132"/>
                  <a:pt x="139" y="133"/>
                  <a:pt x="140" y="133"/>
                </a:cubicBezTo>
                <a:cubicBezTo>
                  <a:pt x="142" y="133"/>
                  <a:pt x="143" y="132"/>
                  <a:pt x="143" y="130"/>
                </a:cubicBezTo>
                <a:cubicBezTo>
                  <a:pt x="144" y="104"/>
                  <a:pt x="144" y="75"/>
                  <a:pt x="138" y="57"/>
                </a:cubicBezTo>
                <a:cubicBezTo>
                  <a:pt x="130" y="35"/>
                  <a:pt x="107" y="17"/>
                  <a:pt x="85" y="16"/>
                </a:cubicBezTo>
                <a:close/>
                <a:moveTo>
                  <a:pt x="83" y="33"/>
                </a:moveTo>
                <a:cubicBezTo>
                  <a:pt x="80" y="33"/>
                  <a:pt x="77" y="33"/>
                  <a:pt x="74" y="33"/>
                </a:cubicBezTo>
                <a:cubicBezTo>
                  <a:pt x="73" y="34"/>
                  <a:pt x="72" y="35"/>
                  <a:pt x="72" y="37"/>
                </a:cubicBezTo>
                <a:cubicBezTo>
                  <a:pt x="72" y="38"/>
                  <a:pt x="74" y="39"/>
                  <a:pt x="75" y="39"/>
                </a:cubicBezTo>
                <a:cubicBezTo>
                  <a:pt x="78" y="38"/>
                  <a:pt x="80" y="38"/>
                  <a:pt x="83" y="38"/>
                </a:cubicBezTo>
                <a:cubicBezTo>
                  <a:pt x="97" y="38"/>
                  <a:pt x="110" y="46"/>
                  <a:pt x="115" y="59"/>
                </a:cubicBezTo>
                <a:cubicBezTo>
                  <a:pt x="122" y="75"/>
                  <a:pt x="122" y="100"/>
                  <a:pt x="121" y="144"/>
                </a:cubicBezTo>
                <a:cubicBezTo>
                  <a:pt x="121" y="145"/>
                  <a:pt x="122" y="146"/>
                  <a:pt x="124" y="146"/>
                </a:cubicBezTo>
                <a:cubicBezTo>
                  <a:pt x="124" y="146"/>
                  <a:pt x="124" y="146"/>
                  <a:pt x="124" y="146"/>
                </a:cubicBezTo>
                <a:cubicBezTo>
                  <a:pt x="125" y="146"/>
                  <a:pt x="126" y="145"/>
                  <a:pt x="126" y="144"/>
                </a:cubicBezTo>
                <a:cubicBezTo>
                  <a:pt x="128" y="98"/>
                  <a:pt x="127" y="74"/>
                  <a:pt x="120" y="57"/>
                </a:cubicBezTo>
                <a:cubicBezTo>
                  <a:pt x="114" y="42"/>
                  <a:pt x="99" y="33"/>
                  <a:pt x="83" y="33"/>
                </a:cubicBezTo>
                <a:close/>
                <a:moveTo>
                  <a:pt x="63" y="44"/>
                </a:moveTo>
                <a:cubicBezTo>
                  <a:pt x="64" y="43"/>
                  <a:pt x="64" y="42"/>
                  <a:pt x="63" y="41"/>
                </a:cubicBezTo>
                <a:cubicBezTo>
                  <a:pt x="63" y="39"/>
                  <a:pt x="61" y="39"/>
                  <a:pt x="60" y="40"/>
                </a:cubicBezTo>
                <a:cubicBezTo>
                  <a:pt x="46" y="50"/>
                  <a:pt x="40" y="69"/>
                  <a:pt x="45" y="87"/>
                </a:cubicBezTo>
                <a:cubicBezTo>
                  <a:pt x="45" y="87"/>
                  <a:pt x="50" y="107"/>
                  <a:pt x="50" y="138"/>
                </a:cubicBezTo>
                <a:cubicBezTo>
                  <a:pt x="50" y="140"/>
                  <a:pt x="51" y="141"/>
                  <a:pt x="53" y="141"/>
                </a:cubicBezTo>
                <a:cubicBezTo>
                  <a:pt x="54" y="141"/>
                  <a:pt x="56" y="140"/>
                  <a:pt x="56" y="138"/>
                </a:cubicBezTo>
                <a:cubicBezTo>
                  <a:pt x="56" y="106"/>
                  <a:pt x="50" y="86"/>
                  <a:pt x="50" y="85"/>
                </a:cubicBezTo>
                <a:cubicBezTo>
                  <a:pt x="45" y="69"/>
                  <a:pt x="51" y="53"/>
                  <a:pt x="63" y="44"/>
                </a:cubicBezTo>
                <a:close/>
                <a:moveTo>
                  <a:pt x="110" y="130"/>
                </a:moveTo>
                <a:cubicBezTo>
                  <a:pt x="110" y="129"/>
                  <a:pt x="109" y="127"/>
                  <a:pt x="107" y="127"/>
                </a:cubicBezTo>
                <a:cubicBezTo>
                  <a:pt x="107" y="127"/>
                  <a:pt x="107" y="127"/>
                  <a:pt x="107" y="127"/>
                </a:cubicBezTo>
                <a:cubicBezTo>
                  <a:pt x="106" y="127"/>
                  <a:pt x="104" y="129"/>
                  <a:pt x="104" y="130"/>
                </a:cubicBezTo>
                <a:cubicBezTo>
                  <a:pt x="104" y="132"/>
                  <a:pt x="104" y="135"/>
                  <a:pt x="105" y="138"/>
                </a:cubicBezTo>
                <a:cubicBezTo>
                  <a:pt x="105" y="143"/>
                  <a:pt x="105" y="148"/>
                  <a:pt x="105" y="152"/>
                </a:cubicBezTo>
                <a:cubicBezTo>
                  <a:pt x="105" y="153"/>
                  <a:pt x="106" y="155"/>
                  <a:pt x="107" y="155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09" y="155"/>
                  <a:pt x="110" y="153"/>
                  <a:pt x="110" y="152"/>
                </a:cubicBezTo>
                <a:cubicBezTo>
                  <a:pt x="110" y="148"/>
                  <a:pt x="110" y="143"/>
                  <a:pt x="110" y="138"/>
                </a:cubicBezTo>
                <a:cubicBezTo>
                  <a:pt x="110" y="135"/>
                  <a:pt x="110" y="132"/>
                  <a:pt x="110" y="130"/>
                </a:cubicBezTo>
                <a:close/>
                <a:moveTo>
                  <a:pt x="83" y="52"/>
                </a:moveTo>
                <a:cubicBezTo>
                  <a:pt x="80" y="52"/>
                  <a:pt x="77" y="52"/>
                  <a:pt x="75" y="53"/>
                </a:cubicBezTo>
                <a:cubicBezTo>
                  <a:pt x="64" y="58"/>
                  <a:pt x="59" y="70"/>
                  <a:pt x="63" y="81"/>
                </a:cubicBezTo>
                <a:cubicBezTo>
                  <a:pt x="65" y="87"/>
                  <a:pt x="66" y="120"/>
                  <a:pt x="66" y="152"/>
                </a:cubicBezTo>
                <a:cubicBezTo>
                  <a:pt x="66" y="153"/>
                  <a:pt x="68" y="155"/>
                  <a:pt x="69" y="155"/>
                </a:cubicBezTo>
                <a:cubicBezTo>
                  <a:pt x="71" y="155"/>
                  <a:pt x="72" y="153"/>
                  <a:pt x="72" y="152"/>
                </a:cubicBezTo>
                <a:cubicBezTo>
                  <a:pt x="72" y="123"/>
                  <a:pt x="70" y="87"/>
                  <a:pt x="68" y="79"/>
                </a:cubicBezTo>
                <a:cubicBezTo>
                  <a:pt x="65" y="71"/>
                  <a:pt x="69" y="62"/>
                  <a:pt x="77" y="58"/>
                </a:cubicBezTo>
                <a:cubicBezTo>
                  <a:pt x="79" y="57"/>
                  <a:pt x="81" y="57"/>
                  <a:pt x="83" y="57"/>
                </a:cubicBezTo>
                <a:cubicBezTo>
                  <a:pt x="89" y="57"/>
                  <a:pt x="95" y="61"/>
                  <a:pt x="98" y="67"/>
                </a:cubicBezTo>
                <a:cubicBezTo>
                  <a:pt x="103" y="79"/>
                  <a:pt x="105" y="101"/>
                  <a:pt x="105" y="117"/>
                </a:cubicBezTo>
                <a:cubicBezTo>
                  <a:pt x="105" y="118"/>
                  <a:pt x="106" y="119"/>
                  <a:pt x="108" y="119"/>
                </a:cubicBezTo>
                <a:cubicBezTo>
                  <a:pt x="108" y="119"/>
                  <a:pt x="108" y="119"/>
                  <a:pt x="108" y="119"/>
                </a:cubicBezTo>
                <a:cubicBezTo>
                  <a:pt x="109" y="119"/>
                  <a:pt x="110" y="118"/>
                  <a:pt x="110" y="117"/>
                </a:cubicBezTo>
                <a:cubicBezTo>
                  <a:pt x="110" y="100"/>
                  <a:pt x="108" y="78"/>
                  <a:pt x="103" y="65"/>
                </a:cubicBezTo>
                <a:cubicBezTo>
                  <a:pt x="100" y="57"/>
                  <a:pt x="92" y="52"/>
                  <a:pt x="83" y="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38C575-4C0A-46E8-9BBB-9303D01C277E}"/>
              </a:ext>
            </a:extLst>
          </p:cNvPr>
          <p:cNvSpPr txBox="1"/>
          <p:nvPr/>
        </p:nvSpPr>
        <p:spPr>
          <a:xfrm flipH="1">
            <a:off x="3637105" y="4838265"/>
            <a:ext cx="1874551" cy="90927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200" b="1" dirty="0">
                <a:solidFill>
                  <a:schemeClr val="accent2"/>
                </a:solidFill>
                <a:latin typeface="+mj-lt"/>
              </a:rPr>
              <a:t>Өсөлт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chemeClr val="tx1">
                    <a:alpha val="60000"/>
                  </a:schemeClr>
                </a:solidFill>
              </a:rPr>
              <a:t>Дараагийн алхамд төлөвлөгөөгөө нарийвчилж гаргана.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4BB46D-660A-4DDC-883C-33151038A423}"/>
              </a:ext>
            </a:extLst>
          </p:cNvPr>
          <p:cNvSpPr txBox="1"/>
          <p:nvPr/>
        </p:nvSpPr>
        <p:spPr>
          <a:xfrm flipH="1">
            <a:off x="6687661" y="4838265"/>
            <a:ext cx="1874551" cy="90927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200" b="1" dirty="0">
                <a:solidFill>
                  <a:schemeClr val="accent4"/>
                </a:solidFill>
                <a:latin typeface="+mj-lt"/>
              </a:rPr>
              <a:t>Органик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chemeClr val="tx1">
                    <a:alpha val="60000"/>
                  </a:schemeClr>
                </a:solidFill>
              </a:rPr>
              <a:t>Дараагийн алхамд төлөвлөгөөгөө нарийвчилж гаргана.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2CC344-E251-4932-A99B-A84E264E7953}"/>
              </a:ext>
            </a:extLst>
          </p:cNvPr>
          <p:cNvSpPr txBox="1"/>
          <p:nvPr/>
        </p:nvSpPr>
        <p:spPr>
          <a:xfrm flipH="1">
            <a:off x="5163486" y="1062990"/>
            <a:ext cx="1874551" cy="90927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200" b="1" dirty="0">
                <a:solidFill>
                  <a:schemeClr val="accent3"/>
                </a:solidFill>
                <a:latin typeface="+mj-lt"/>
              </a:rPr>
              <a:t>Хөрөнгө оруулалт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chemeClr val="tx1">
                    <a:alpha val="60000"/>
                  </a:schemeClr>
                </a:solidFill>
              </a:rPr>
              <a:t>Дараагийн алхамд төлөвлөгөөгөө нарийвчилж гаргана.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3757CC-097F-453B-964D-D81B8857061F}"/>
              </a:ext>
            </a:extLst>
          </p:cNvPr>
          <p:cNvSpPr txBox="1"/>
          <p:nvPr/>
        </p:nvSpPr>
        <p:spPr>
          <a:xfrm flipH="1">
            <a:off x="2114690" y="1062990"/>
            <a:ext cx="1874551" cy="90927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200" b="1" dirty="0">
                <a:solidFill>
                  <a:schemeClr val="accent1"/>
                </a:solidFill>
                <a:latin typeface="+mj-lt"/>
              </a:rPr>
              <a:t>Эрхэм зорилго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chemeClr val="tx1">
                    <a:alpha val="60000"/>
                  </a:schemeClr>
                </a:solidFill>
              </a:rPr>
              <a:t>Дараагийн алхамд төлөвлөгөөгөө нарийвчилж гаргана.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41C09A-1DDB-472F-8A31-892DCFB485FE}"/>
              </a:ext>
            </a:extLst>
          </p:cNvPr>
          <p:cNvSpPr txBox="1"/>
          <p:nvPr/>
        </p:nvSpPr>
        <p:spPr>
          <a:xfrm flipH="1">
            <a:off x="8209902" y="1062990"/>
            <a:ext cx="1874551" cy="90927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200" b="1" dirty="0">
                <a:solidFill>
                  <a:schemeClr val="accent5"/>
                </a:solidFill>
                <a:latin typeface="+mj-lt"/>
              </a:rPr>
              <a:t>Хөрөнгө оруулалт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mn-MN" sz="1000" dirty="0">
                <a:solidFill>
                  <a:schemeClr val="tx1">
                    <a:alpha val="60000"/>
                  </a:schemeClr>
                </a:solidFill>
              </a:rPr>
              <a:t>Дараагийн алхамд төлөвлөгөөгөө нарийвчилж гаргана.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AB7E31-3844-436A-9F97-2F886D4450AE}"/>
              </a:ext>
            </a:extLst>
          </p:cNvPr>
          <p:cNvGrpSpPr/>
          <p:nvPr/>
        </p:nvGrpSpPr>
        <p:grpSpPr>
          <a:xfrm>
            <a:off x="0" y="2985897"/>
            <a:ext cx="12201525" cy="890838"/>
            <a:chOff x="0" y="2985897"/>
            <a:chExt cx="12201525" cy="89083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89CF5B1-FCAD-4C6A-AE56-6FF88D4E3EEA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10791596" y="2985897"/>
              <a:ext cx="1409929" cy="0"/>
            </a:xfrm>
            <a:prstGeom prst="line">
              <a:avLst/>
            </a:prstGeom>
            <a:ln w="38100">
              <a:solidFill>
                <a:schemeClr val="bg1">
                  <a:lumMod val="90000"/>
                  <a:lumOff val="1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B4665DC-6E53-4207-B1F6-87C690FD4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399" y="3397310"/>
              <a:ext cx="1622041" cy="479425"/>
            </a:xfrm>
            <a:custGeom>
              <a:avLst/>
              <a:gdLst>
                <a:gd name="T0" fmla="*/ 0 w 362"/>
                <a:gd name="T1" fmla="*/ 37 h 127"/>
                <a:gd name="T2" fmla="*/ 166 w 362"/>
                <a:gd name="T3" fmla="*/ 127 h 127"/>
                <a:gd name="T4" fmla="*/ 362 w 362"/>
                <a:gd name="T5" fmla="*/ 0 h 127"/>
                <a:gd name="connsiteX0" fmla="*/ 0 w 9956"/>
                <a:gd name="connsiteY0" fmla="*/ 3062 h 10000"/>
                <a:gd name="connsiteX1" fmla="*/ 4542 w 9956"/>
                <a:gd name="connsiteY1" fmla="*/ 10000 h 10000"/>
                <a:gd name="connsiteX2" fmla="*/ 9956 w 9956"/>
                <a:gd name="connsiteY2" fmla="*/ 0 h 10000"/>
                <a:gd name="connsiteX0" fmla="*/ 0 w 10000"/>
                <a:gd name="connsiteY0" fmla="*/ 3062 h 10000"/>
                <a:gd name="connsiteX1" fmla="*/ 4562 w 10000"/>
                <a:gd name="connsiteY1" fmla="*/ 10000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3062"/>
                  </a:moveTo>
                  <a:cubicBezTo>
                    <a:pt x="1065" y="7041"/>
                    <a:pt x="2342" y="10000"/>
                    <a:pt x="4562" y="10000"/>
                  </a:cubicBezTo>
                  <a:cubicBezTo>
                    <a:pt x="7308" y="10000"/>
                    <a:pt x="8613" y="4882"/>
                    <a:pt x="10000" y="0"/>
                  </a:cubicBezTo>
                </a:path>
              </a:pathLst>
            </a:custGeom>
            <a:noFill/>
            <a:ln w="38100" cap="rnd">
              <a:gradFill flip="none" rotWithShape="1"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68E5E21-A9F7-43CA-84FE-BC673D158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440" y="2999640"/>
              <a:ext cx="1425104" cy="501650"/>
            </a:xfrm>
            <a:custGeom>
              <a:avLst/>
              <a:gdLst>
                <a:gd name="T0" fmla="*/ 0 w 379"/>
                <a:gd name="T1" fmla="*/ 105 h 133"/>
                <a:gd name="T2" fmla="*/ 178 w 379"/>
                <a:gd name="T3" fmla="*/ 0 h 133"/>
                <a:gd name="T4" fmla="*/ 379 w 379"/>
                <a:gd name="T5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9" h="133">
                  <a:moveTo>
                    <a:pt x="0" y="105"/>
                  </a:moveTo>
                  <a:cubicBezTo>
                    <a:pt x="44" y="51"/>
                    <a:pt x="90" y="0"/>
                    <a:pt x="178" y="0"/>
                  </a:cubicBezTo>
                  <a:cubicBezTo>
                    <a:pt x="281" y="0"/>
                    <a:pt x="327" y="70"/>
                    <a:pt x="379" y="133"/>
                  </a:cubicBezTo>
                </a:path>
              </a:pathLst>
            </a:custGeom>
            <a:noFill/>
            <a:ln w="38100" cap="rnd">
              <a:gradFill>
                <a:gsLst>
                  <a:gs pos="0">
                    <a:schemeClr val="accent4"/>
                  </a:gs>
                  <a:gs pos="100000">
                    <a:schemeClr val="accent5"/>
                  </a:gs>
                </a:gsLst>
                <a:lin ang="0" scaled="0"/>
              </a:gra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E9E1B2D-7F57-4E0E-8919-9FB107A07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928" y="2992196"/>
              <a:ext cx="2590800" cy="876300"/>
            </a:xfrm>
            <a:custGeom>
              <a:avLst/>
              <a:gdLst>
                <a:gd name="T0" fmla="*/ 0 w 589"/>
                <a:gd name="T1" fmla="*/ 0 h 232"/>
                <a:gd name="T2" fmla="*/ 373 w 589"/>
                <a:gd name="T3" fmla="*/ 232 h 232"/>
                <a:gd name="T4" fmla="*/ 589 w 589"/>
                <a:gd name="T5" fmla="*/ 8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9" h="232">
                  <a:moveTo>
                    <a:pt x="0" y="0"/>
                  </a:moveTo>
                  <a:cubicBezTo>
                    <a:pt x="187" y="0"/>
                    <a:pt x="187" y="232"/>
                    <a:pt x="373" y="232"/>
                  </a:cubicBezTo>
                  <a:cubicBezTo>
                    <a:pt x="486" y="232"/>
                    <a:pt x="530" y="148"/>
                    <a:pt x="589" y="81"/>
                  </a:cubicBezTo>
                </a:path>
              </a:pathLst>
            </a:custGeom>
            <a:noFill/>
            <a:ln w="38100" cap="rnd"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A267124-AEB3-4CA9-B4DA-02DE74A82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4225" y="2985897"/>
              <a:ext cx="2387371" cy="876300"/>
            </a:xfrm>
            <a:custGeom>
              <a:avLst/>
              <a:gdLst>
                <a:gd name="T0" fmla="*/ 0 w 546"/>
                <a:gd name="T1" fmla="*/ 133 h 232"/>
                <a:gd name="T2" fmla="*/ 172 w 546"/>
                <a:gd name="T3" fmla="*/ 232 h 232"/>
                <a:gd name="T4" fmla="*/ 546 w 546"/>
                <a:gd name="T5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6" h="232">
                  <a:moveTo>
                    <a:pt x="0" y="133"/>
                  </a:moveTo>
                  <a:cubicBezTo>
                    <a:pt x="42" y="185"/>
                    <a:pt x="89" y="232"/>
                    <a:pt x="172" y="232"/>
                  </a:cubicBezTo>
                  <a:cubicBezTo>
                    <a:pt x="359" y="232"/>
                    <a:pt x="359" y="0"/>
                    <a:pt x="546" y="0"/>
                  </a:cubicBezTo>
                </a:path>
              </a:pathLst>
            </a:custGeom>
            <a:noFill/>
            <a:ln w="38100" cap="rnd"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03DAA66-F2C6-46DD-9466-2BC8E4BE6D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92600"/>
              <a:ext cx="1409928" cy="0"/>
            </a:xfrm>
            <a:prstGeom prst="line">
              <a:avLst/>
            </a:prstGeom>
            <a:ln w="38100">
              <a:solidFill>
                <a:schemeClr val="bg1">
                  <a:lumMod val="90000"/>
                  <a:lumOff val="1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B441053B-302E-47BC-B84F-A233E30BF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292" y="2997303"/>
              <a:ext cx="1363143" cy="534119"/>
            </a:xfrm>
            <a:custGeom>
              <a:avLst/>
              <a:gdLst>
                <a:gd name="T0" fmla="*/ 0 w 416"/>
                <a:gd name="T1" fmla="*/ 268 h 324"/>
                <a:gd name="T2" fmla="*/ 416 w 416"/>
                <a:gd name="T3" fmla="*/ 324 h 324"/>
                <a:gd name="connsiteX0" fmla="*/ 0 w 10119"/>
                <a:gd name="connsiteY0" fmla="*/ 2930 h 5080"/>
                <a:gd name="connsiteX1" fmla="*/ 10119 w 10119"/>
                <a:gd name="connsiteY1" fmla="*/ 5080 h 5080"/>
                <a:gd name="connsiteX0" fmla="*/ 0 w 10070"/>
                <a:gd name="connsiteY0" fmla="*/ 5796 h 9983"/>
                <a:gd name="connsiteX1" fmla="*/ 10070 w 10070"/>
                <a:gd name="connsiteY1" fmla="*/ 9983 h 9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70" h="9983">
                  <a:moveTo>
                    <a:pt x="0" y="5796"/>
                  </a:moveTo>
                  <a:cubicBezTo>
                    <a:pt x="0" y="5796"/>
                    <a:pt x="5034" y="-9702"/>
                    <a:pt x="10070" y="9983"/>
                  </a:cubicBezTo>
                </a:path>
              </a:pathLst>
            </a:custGeom>
            <a:noFill/>
            <a:ln w="38100" cap="rnd">
              <a:gradFill flip="none" rotWithShape="1"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213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21" grpId="0" animBg="1"/>
      <p:bldP spid="17" grpId="0" animBg="1"/>
      <p:bldP spid="19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50" grpId="0"/>
      <p:bldP spid="51" grpId="0"/>
      <p:bldP spid="53" grpId="0"/>
      <p:bldP spid="54" grpId="0"/>
      <p:bldP spid="55" grpId="0"/>
    </p:bldLst>
  </p:timing>
</p:sld>
</file>

<file path=ppt/theme/theme1.xml><?xml version="1.0" encoding="utf-8"?>
<a:theme xmlns:a="http://schemas.openxmlformats.org/drawingml/2006/main" name="Office Theme">
  <a:themeElements>
    <a:clrScheme name="Bazz">
      <a:dk1>
        <a:srgbClr val="222222"/>
      </a:dk1>
      <a:lt1>
        <a:sysClr val="window" lastClr="FFFFFF"/>
      </a:lt1>
      <a:dk2>
        <a:srgbClr val="222222"/>
      </a:dk2>
      <a:lt2>
        <a:srgbClr val="FFFFFF"/>
      </a:lt2>
      <a:accent1>
        <a:srgbClr val="FF0000"/>
      </a:accent1>
      <a:accent2>
        <a:srgbClr val="FF3333"/>
      </a:accent2>
      <a:accent3>
        <a:srgbClr val="FF4C4C"/>
      </a:accent3>
      <a:accent4>
        <a:srgbClr val="FF6666"/>
      </a:accent4>
      <a:accent5>
        <a:srgbClr val="FF7F7F"/>
      </a:accent5>
      <a:accent6>
        <a:srgbClr val="FF9999"/>
      </a:accent6>
      <a:hlink>
        <a:srgbClr val="FF0000"/>
      </a:hlink>
      <a:folHlink>
        <a:srgbClr val="954F72"/>
      </a:folHlink>
    </a:clrScheme>
    <a:fontScheme name="Bazz Fonts - Inter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5157</TotalTime>
  <Words>595</Words>
  <Application>Microsoft Office PowerPoint</Application>
  <PresentationFormat>Widescreen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Inter</vt:lpstr>
      <vt:lpstr>Inter Bold</vt:lpstr>
      <vt:lpstr>Open Sans</vt:lpstr>
      <vt:lpstr>Open Sans SemiBold</vt:lpstr>
      <vt:lpstr>Office Theme</vt:lpstr>
      <vt:lpstr>PowerPoint Presentation</vt:lpstr>
      <vt:lpstr>All their equipment and instruments.</vt:lpstr>
      <vt:lpstr>Development Schedule</vt:lpstr>
      <vt:lpstr>Project Timeline</vt:lpstr>
      <vt:lpstr>Social Media Statistics 2020</vt:lpstr>
      <vt:lpstr>Social Media Analytics</vt:lpstr>
      <vt:lpstr>Step infographic horizontal</vt:lpstr>
      <vt:lpstr>Arrow Infographic</vt:lpstr>
      <vt:lpstr>Circle Infographic</vt:lpstr>
      <vt:lpstr>Top Cryptocurrencies Report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Bazz — бараан улаан</dc:title>
  <dc:creator>Graphican</dc:creator>
  <cp:lastModifiedBy>Graphican</cp:lastModifiedBy>
  <cp:revision>315</cp:revision>
  <dcterms:created xsi:type="dcterms:W3CDTF">2020-01-28T05:25:27Z</dcterms:created>
  <dcterms:modified xsi:type="dcterms:W3CDTF">2020-05-19T06:08:45Z</dcterms:modified>
</cp:coreProperties>
</file>